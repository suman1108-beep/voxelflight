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e9ed4012fa4c18" /><Relationship Type="http://schemas.openxmlformats.org/officeDocument/2006/relationships/extended-properties" Target="/docProps/app.xml" Id="R1fbc7436cfaf4a8a" /><Relationship Type="http://schemas.openxmlformats.org/officeDocument/2006/relationships/officeDocument" Target="/ppt/presentation.xml" Id="R8fe838c306f8400a" /></Relationships>
</file>

<file path=ppt/presentation.xml><?xml version="1.0" encoding="utf-8"?>
<p:presentation xmlns:p="http://schemas.openxmlformats.org/presentationml/2006/main">
  <p:sldMasterIdLst>
    <p:sldMasterId xmlns:r="http://schemas.openxmlformats.org/officeDocument/2006/relationships" id="2147483648" r:id="R90af26955bb74d17"/>
  </p:sldMasterIdLst>
  <p:notesMasterIdLst>
    <p:notesMasterId xmlns:r="http://schemas.openxmlformats.org/officeDocument/2006/relationships" r:id="R3e7f76db3d264767"/>
  </p:notesMasterIdLst>
  <p:sldIdLst>
    <p:sldId xmlns:r="http://schemas.openxmlformats.org/officeDocument/2006/relationships" id="256" r:id="R738b8fbe141e4cf9"/>
    <p:sldId xmlns:r="http://schemas.openxmlformats.org/officeDocument/2006/relationships" id="257" r:id="Rd223924ab29d4538"/>
    <p:sldId xmlns:r="http://schemas.openxmlformats.org/officeDocument/2006/relationships" id="258" r:id="R5c7e77d0beae4e59"/>
    <p:sldId xmlns:r="http://schemas.openxmlformats.org/officeDocument/2006/relationships" id="259" r:id="R447f873548b9467f"/>
    <p:sldId xmlns:r="http://schemas.openxmlformats.org/officeDocument/2006/relationships" id="260" r:id="Rb7d8c7057c614772"/>
    <p:sldId xmlns:r="http://schemas.openxmlformats.org/officeDocument/2006/relationships" id="261" r:id="Rde201c32d3024e24"/>
  </p:sldIdLst>
  <p:sldSz cx="24384000" cy="1371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9ef2b7abb145c8" /><Relationship Type="http://schemas.openxmlformats.org/officeDocument/2006/relationships/slideMaster" Target="/ppt/slideMasters/slideMaster1.xml" Id="R90af26955bb74d17" /><Relationship Type="http://schemas.openxmlformats.org/officeDocument/2006/relationships/notesMaster" Target="/ppt/notesMasters/notesMaster1.xml" Id="R3e7f76db3d264767" /><Relationship Type="http://schemas.openxmlformats.org/officeDocument/2006/relationships/presProps" Target="/ppt/presProps.xml" Id="R4307caaf3c9a4102" /><Relationship Type="http://schemas.openxmlformats.org/officeDocument/2006/relationships/tableStyles" Target="/ppt/tableStyles.xml" Id="R3976a75c0dae4bec" /><Relationship Type="http://schemas.openxmlformats.org/officeDocument/2006/relationships/slide" Target="/ppt/slides/slide1.xml" Id="R738b8fbe141e4cf9" /><Relationship Type="http://schemas.openxmlformats.org/officeDocument/2006/relationships/slide" Target="/ppt/slides/slide2.xml" Id="Rd223924ab29d4538" /><Relationship Type="http://schemas.openxmlformats.org/officeDocument/2006/relationships/slide" Target="/ppt/slides/slide3.xml" Id="R5c7e77d0beae4e59" /><Relationship Type="http://schemas.openxmlformats.org/officeDocument/2006/relationships/slide" Target="/ppt/slides/slide4.xml" Id="R447f873548b9467f" /><Relationship Type="http://schemas.openxmlformats.org/officeDocument/2006/relationships/slide" Target="/ppt/slides/slide5.xml" Id="Rb7d8c7057c614772" /><Relationship Type="http://schemas.openxmlformats.org/officeDocument/2006/relationships/slide" Target="/ppt/slides/slide6.xml" Id="Rde201c32d3024e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9fb941b56f4c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112e039e194a82" /><Relationship Type="http://schemas.openxmlformats.org/officeDocument/2006/relationships/notesMaster" Target="/ppt/notesMasters/notesMaster1.xml" Id="R5f51bbe97c9d4e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b5ee9235324e97" /><Relationship Type="http://schemas.openxmlformats.org/officeDocument/2006/relationships/notesMaster" Target="/ppt/notesMasters/notesMaster1.xml" Id="R25a28018ae6c47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24944690bb4d64" /><Relationship Type="http://schemas.openxmlformats.org/officeDocument/2006/relationships/notesMaster" Target="/ppt/notesMasters/notesMaster1.xml" Id="R4b235bc5451341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f6ea265e9547dd" /><Relationship Type="http://schemas.openxmlformats.org/officeDocument/2006/relationships/notesMaster" Target="/ppt/notesMasters/notesMaster1.xml" Id="Rf21acec7874540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de46d27fd449f0" /><Relationship Type="http://schemas.openxmlformats.org/officeDocument/2006/relationships/notesMaster" Target="/ppt/notesMasters/notesMaster1.xml" Id="Ra828db445fdb4a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2ca93847644b80" /><Relationship Type="http://schemas.openxmlformats.org/officeDocument/2006/relationships/notesMaster" Target="/ppt/notesMasters/notesMaster1.xml" Id="Ra69b2552b70f41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VoxelFlight addresses the software challenge of generating a georeferenced scene model from one moving-drone video. A single pass still supplies multiple images of the scene, but viewing angles and overlap can be limited. Mandatory inputs are 1080p/4K video, GPS coordinates and flight metadata. Optional inputs are IMU, barometric altitude, camera intrinsics and RTK/PPK corrections. The requested scene includes terrain, structures, façades, rooftops, roads, infrastructure, vegetation and obstacles. The goal is an output suitable for visualization, measurement and analysis without extensive ground control. Manufacturing a drone is outside the proposed software scope.</a:t>
            </a:r>
          </a:p>
          <a:p xmlns:a="http://schemas.openxmlformats.org/drawingml/2006/main">
            <a:r>
              <a:t/>
            </a:r>
          </a:p>
          <a:p xmlns:a="http://schemas.openxmlformats.org/drawingml/2006/main">
            <a:r>
              <a:t>The working prototype combines pretrained geometry with visual tracking and telemetry. A browser exposes source frames, the exported mesh and point cloud, appearance comparisons and downloadable files. The current saved geometry remains partial. Independent spatial validation is necessary before operational measurement. The input image on the cover is a real observed frame, not a reconstruction. Team registration details await confirmation.</a:t>
            </a:r>
          </a:p>
          <a:p xmlns:a="http://schemas.openxmlformats.org/drawingml/2006/main">
            <a:r>
              <a:t/>
            </a:r>
          </a:p>
          <a:p xmlns:a="http://schemas.openxmlformats.org/drawingml/2006/main">
            <a:r>
              <a:t>SOURCES</a:t>
            </a:r>
          </a:p>
          <a:p xmlns:a="http://schemas.openxmlformats.org/drawingml/2006/main">
            <a:r>
              <a:t>Recorded experiment: work/sih3d-gpu/viewer/assets/evaluation.json, asset_report.json and stage_timings.json. Source flight: Zurich Urban MAV. Input duration 60 seconds, 180 keyframes, NVIDIA L40S GPU. Ground truth enters evaluation only. SIH requirements source: supplied tmp/pdfs/SIH26158.pdf, document pages 37-39. SIH emblem comes from the supplied prior-year reference PDF.</a:t>
            </a:r>
          </a:p>
          <a:p xmlns:a="http://schemas.openxmlformats.org/drawingml/2006/main">
            <a:r>
              <a:t>https://arxiv.org/abs/2412.12392</a:t>
            </a:r>
          </a:p>
          <a:p xmlns:a="http://schemas.openxmlformats.org/drawingml/2006/main">
            <a:r>
              <a:t>https://map-anything.github.io/</a:t>
            </a:r>
          </a:p>
          <a:p xmlns:a="http://schemas.openxmlformats.org/drawingml/2006/main">
            <a:r>
              <a:t>https://repo-sam.inria.fr/fungraph/3d-gaussian-splatting/</a:t>
            </a:r>
          </a:p>
          <a:p xmlns:a="http://schemas.openxmlformats.org/drawingml/2006/main">
            <a:r>
              <a:t>https://arxiv.org/abs/2105.15203</a:t>
            </a:r>
          </a:p>
          <a:p xmlns:a="http://schemas.openxmlformats.org/drawingml/2006/main">
            <a:r>
              <a:t>https://colmap.github.io/</a:t>
            </a:r>
          </a:p>
          <a:p xmlns:a="http://schemas.openxmlformats.org/drawingml/2006/main">
            <a:r>
              <a:t>https://rpg.ifi.uzh.ch/zurichmavdataset.html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produces two complementary representations. The mesh and point cloud describe estimated geometry. Optional 3D Gaussian Splatting optimises an appearance representation from local images, camera poses and points. It does not derive survey accuracy from photorealism, and it is not generated from the final mesh. The core pretrained inference path needs no foundation-model training on the evaluation flight. The optional appearance stage performs scene-specific optimisation.</a:t>
            </a:r>
          </a:p>
          <a:p xmlns:a="http://schemas.openxmlformats.org/drawingml/2006/main">
            <a:r>
              <a:t/>
            </a:r>
          </a:p>
          <a:p xmlns:a="http://schemas.openxmlformats.org/drawingml/2006/main">
            <a:r>
              <a:t>The images show a real source frame, a diagnostic rendering of the actual partial geometry and the saved Gaussian render for window W000. The rendered half is cropped from photoreal_preview_w000.png. Its held-out-view metrics are PSNR 20.41 dB, SSIM 0.631 and LPIPS 0.226. These evaluate appearance rather than surface geometry. The mesh has holes and disconnected regions; completely hidden surfaces must not be described as observed measurements.</a:t>
            </a:r>
          </a:p>
          <a:p xmlns:a="http://schemas.openxmlformats.org/drawingml/2006/main">
            <a:r>
              <a:t/>
            </a:r>
          </a:p>
          <a:p xmlns:a="http://schemas.openxmlformats.org/drawingml/2006/main">
            <a:r>
              <a:t>The stated spatial target is ≤1 m with coverage of the entire visible scene. The statement does not specify the exact error statistic, allowable alignment or reference sensor. These must be fixed in the evaluation protocol.</a:t>
            </a:r>
          </a:p>
          <a:p xmlns:a="http://schemas.openxmlformats.org/drawingml/2006/main">
            <a:r>
              <a:t/>
            </a:r>
          </a:p>
          <a:p xmlns:a="http://schemas.openxmlformats.org/drawingml/2006/main">
            <a:r>
              <a:t>SOURCES</a:t>
            </a:r>
          </a:p>
          <a:p xmlns:a="http://schemas.openxmlformats.org/drawingml/2006/main">
            <a:r>
              <a:t>Recorded experiment: work/sih3d-gpu/viewer/assets/evaluation.json, asset_report.json and stage_timings.json. Source flight: Zurich Urban MAV. Input duration 60 seconds, 180 keyframes, NVIDIA L40S GPU. Ground truth enters evaluation only. SIH requirements source: supplied tmp/pdfs/SIH26158.pdf, document pages 37-39. SIH emblem comes from the supplied prior-year reference PDF.</a:t>
            </a:r>
          </a:p>
          <a:p xmlns:a="http://schemas.openxmlformats.org/drawingml/2006/main">
            <a:r>
              <a:t>https://arxiv.org/abs/2412.12392</a:t>
            </a:r>
          </a:p>
          <a:p xmlns:a="http://schemas.openxmlformats.org/drawingml/2006/main">
            <a:r>
              <a:t>https://map-anything.github.io/</a:t>
            </a:r>
          </a:p>
          <a:p xmlns:a="http://schemas.openxmlformats.org/drawingml/2006/main">
            <a:r>
              <a:t>https://repo-sam.inria.fr/fungraph/3d-gaussian-splatting/</a:t>
            </a:r>
          </a:p>
          <a:p xmlns:a="http://schemas.openxmlformats.org/drawingml/2006/main">
            <a:r>
              <a:t>https://arxiv.org/abs/2105.15203</a:t>
            </a:r>
          </a:p>
          <a:p xmlns:a="http://schemas.openxmlformats.org/drawingml/2006/main">
            <a:r>
              <a:t>https://colmap.github.io/</a:t>
            </a:r>
          </a:p>
          <a:p xmlns:a="http://schemas.openxmlformats.org/drawingml/2006/main">
            <a:r>
              <a:t>https://rpg.ifi.uzh.ch/zurichmavdataset.html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preparation samples images, timestamps them and normalises available calibration. MASt3R-SLAM supplies camera-motion anchors. MapAnything predicts metric geometry and camera poses. SegFormer supplies semantic masks to exclude sky and potentially moving classes. Semantic masking is not a complete motion detector.</a:t>
            </a:r>
          </a:p>
          <a:p xmlns:a="http://schemas.openxmlformats.org/drawingml/2006/main">
            <a:r>
              <a:t/>
            </a:r>
          </a:p>
          <a:p xmlns:a="http://schemas.openxmlformats.org/drawingml/2006/main">
            <a:r>
              <a:t>The recorded run uses three 72-frame windows: 0-71, 54-125 and 108-179. Neighbours share 18 frames. Similarity registration uses P′k = sk Rk Pk + tk to align camera centres with a shared trajectory. A position-only weighted least-squares graph combines visual anchors, relative motion, GNSS velocity and altitude. This is not a full inertial-state estimator. Each cloud is then aligned to the solved camera centres, filtered and meshed. Raw GPS supplies the final map translation. Outputs use local ENU and UTM zone 32N metadata (EPSG:32632).</a:t>
            </a:r>
          </a:p>
          <a:p xmlns:a="http://schemas.openxmlformats.org/drawingml/2006/main">
            <a:r>
              <a:t/>
            </a:r>
          </a:p>
          <a:p xmlns:a="http://schemas.openxmlformats.org/drawingml/2006/main">
            <a:r>
              <a:t>The implementation is scripts/run_sih_pipeline.py and scripts/fuse_visual_gnss_baro.py. Cached checkpoints and bounded windows limit repeated setup and workload. Motion blur, compression, shadows, weak texture, dynamic objects, GPS noise and occlusions remain important stress-test conditions. Higher-quality depth consistency and uncertainty-aware sensor fusion are development directions.</a:t>
            </a:r>
          </a:p>
          <a:p xmlns:a="http://schemas.openxmlformats.org/drawingml/2006/main">
            <a:r>
              <a:t/>
            </a:r>
          </a:p>
          <a:p xmlns:a="http://schemas.openxmlformats.org/drawingml/2006/main">
            <a:r>
              <a:t>SOURCES</a:t>
            </a:r>
          </a:p>
          <a:p xmlns:a="http://schemas.openxmlformats.org/drawingml/2006/main">
            <a:r>
              <a:t>Recorded experiment: work/sih3d-gpu/viewer/assets/evaluation.json, asset_report.json and stage_timings.json. Source flight: Zurich Urban MAV. Input duration 60 seconds, 180 keyframes, NVIDIA L40S GPU. Ground truth enters evaluation only. SIH requirements source: supplied tmp/pdfs/SIH26158.pdf, document pages 37-39. SIH emblem comes from the supplied prior-year reference PDF.</a:t>
            </a:r>
          </a:p>
          <a:p xmlns:a="http://schemas.openxmlformats.org/drawingml/2006/main">
            <a:r>
              <a:t>https://arxiv.org/abs/2412.12392</a:t>
            </a:r>
          </a:p>
          <a:p xmlns:a="http://schemas.openxmlformats.org/drawingml/2006/main">
            <a:r>
              <a:t>https://map-anything.github.io/</a:t>
            </a:r>
          </a:p>
          <a:p xmlns:a="http://schemas.openxmlformats.org/drawingml/2006/main">
            <a:r>
              <a:t>https://repo-sam.inria.fr/fungraph/3d-gaussian-splatting/</a:t>
            </a:r>
          </a:p>
          <a:p xmlns:a="http://schemas.openxmlformats.org/drawingml/2006/main">
            <a:r>
              <a:t>https://arxiv.org/abs/2105.15203</a:t>
            </a:r>
          </a:p>
          <a:p xmlns:a="http://schemas.openxmlformats.org/drawingml/2006/main">
            <a:r>
              <a:t>https://colmap.github.io/</a:t>
            </a:r>
          </a:p>
          <a:p xmlns:a="http://schemas.openxmlformats.org/drawingml/2006/main">
            <a:r>
              <a:t>https://rpg.ifi.uzh.ch/zurichmavdataset.html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core stages total 208.670 seconds. Including optional appearance fitting yields 333.935 seconds. Both timings describe a 60-second input on NVIDIA L40S hardware, roughly 45 GB VRAM, two CPU threads and 30 GB RAM. They exclude upload and deployment queue delay. No extrapolation establishes the ≤15-minute target for a 10-minute video.</a:t>
            </a:r>
          </a:p>
          <a:p xmlns:a="http://schemas.openxmlformats.org/drawingml/2006/main">
            <a:r>
              <a:t/>
            </a:r>
          </a:p>
          <a:p xmlns:a="http://schemas.openxmlformats.org/drawingml/2006/main">
            <a:r>
              <a:t>The output contains 518,786 clean points and 450,000 mesh triangles. The trajectory shape RMSE is 0.809918395 m after one global Sim(3) alignment. Absolute unaligned trajectory RMSE is 8.797431254 m. A similarity alignment corrects global scale, orientation and translation against the reference for evaluation. Consequently the aligned score cannot demonstrate absolute georeferencing or surface accuracy. The construction_uses_ground_truth flag is false.</a:t>
            </a:r>
          </a:p>
          <a:p xmlns:a="http://schemas.openxmlformats.org/drawingml/2006/main">
            <a:r>
              <a:t/>
            </a:r>
          </a:p>
          <a:p xmlns:a="http://schemas.openxmlformats.org/drawingml/2006/main">
            <a:r>
              <a:t>Available exports are OBJ, PLY, LAS, GLB and GeoTIFF. The statement additionally lists FBX; that export is not demonstrated. The 0.25 m DSM grid spacing is a resolution setting, not an accuracy score. Current validation priorities are independent surface error, full visible-surface completeness, robustness across unseen flights and the longer-video runtime benchmark.</a:t>
            </a:r>
          </a:p>
          <a:p xmlns:a="http://schemas.openxmlformats.org/drawingml/2006/main">
            <a:r>
              <a:t/>
            </a:r>
          </a:p>
          <a:p xmlns:a="http://schemas.openxmlformats.org/drawingml/2006/main">
            <a:r>
              <a:t>SOURCES</a:t>
            </a:r>
          </a:p>
          <a:p xmlns:a="http://schemas.openxmlformats.org/drawingml/2006/main">
            <a:r>
              <a:t>Recorded experiment: work/sih3d-gpu/viewer/assets/evaluation.json, asset_report.json and stage_timings.json. Source flight: Zurich Urban MAV. Input duration 60 seconds, 180 keyframes, NVIDIA L40S GPU. Ground truth enters evaluation only. SIH requirements source: supplied tmp/pdfs/SIH26158.pdf, document pages 37-39. SIH emblem comes from the supplied prior-year reference PDF.</a:t>
            </a:r>
          </a:p>
          <a:p xmlns:a="http://schemas.openxmlformats.org/drawingml/2006/main">
            <a:r>
              <a:t>https://arxiv.org/abs/2412.12392</a:t>
            </a:r>
          </a:p>
          <a:p xmlns:a="http://schemas.openxmlformats.org/drawingml/2006/main">
            <a:r>
              <a:t>https://map-anything.github.io/</a:t>
            </a:r>
          </a:p>
          <a:p xmlns:a="http://schemas.openxmlformats.org/drawingml/2006/main">
            <a:r>
              <a:t>https://repo-sam.inria.fr/fungraph/3d-gaussian-splatting/</a:t>
            </a:r>
          </a:p>
          <a:p xmlns:a="http://schemas.openxmlformats.org/drawingml/2006/main">
            <a:r>
              <a:t>https://arxiv.org/abs/2105.15203</a:t>
            </a:r>
          </a:p>
          <a:p xmlns:a="http://schemas.openxmlformats.org/drawingml/2006/main">
            <a:r>
              <a:t>https://colmap.github.io/</a:t>
            </a:r>
          </a:p>
          <a:p xmlns:a="http://schemas.openxmlformats.org/drawingml/2006/main">
            <a:r>
              <a:t>https://rpg.ifi.uzh.ch/zurichmavdataset.html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Potential applications include infrastructure inspection, disaster damage review, planning and archaeological documentation. Source-image links help reviewers distinguish measured observations from estimated geometry. A scene record can support remote review and targeted follow-up surveys, but it cannot certify structural safety without validated geometry and qualified assessment.</a:t>
            </a:r>
          </a:p>
          <a:p xmlns:a="http://schemas.openxmlformats.org/drawingml/2006/main">
            <a:r>
              <a:t/>
            </a:r>
          </a:p>
          <a:p xmlns:a="http://schemas.openxmlformats.org/drawingml/2006/main">
            <a:r>
              <a:t>The screenshots are actual public pages captured on 10 September 2026: https://voxelflight-3d.web.app/ and https://voxelflight-3d.web.app/workspace#workspace. The entrance artwork is decorative. The workspace displays saved image comparisons; the 3D geometry is a separate interactive view. Google sign-in is offered, while GitHub was not connected in the captured interface. No complete OAuth or new-upload reliability claim follows from a screenshot. Firebase serves the web interface and identity layer. Reconstruction runs through a separate processing worker.</a:t>
            </a:r>
          </a:p>
          <a:p xmlns:a="http://schemas.openxmlformats.org/drawingml/2006/main">
            <a:r>
              <a:t/>
            </a:r>
          </a:p>
          <a:p xmlns:a="http://schemas.openxmlformats.org/drawingml/2006/main">
            <a:r>
              <a:t>Pilot validation should measure operator time, recapture frequency, export usability and verified spatial error. Economic or environmental savings have not yet been measured. Authorised acquisition, data retention and model/checkpoint licensing require review before deployment.</a:t>
            </a:r>
          </a:p>
          <a:p xmlns:a="http://schemas.openxmlformats.org/drawingml/2006/main">
            <a:r>
              <a:t/>
            </a:r>
          </a:p>
          <a:p xmlns:a="http://schemas.openxmlformats.org/drawingml/2006/main">
            <a:r>
              <a:t>SOURCES</a:t>
            </a:r>
          </a:p>
          <a:p xmlns:a="http://schemas.openxmlformats.org/drawingml/2006/main">
            <a:r>
              <a:t>Recorded experiment: work/sih3d-gpu/viewer/assets/evaluation.json, asset_report.json and stage_timings.json. Source flight: Zurich Urban MAV. Input duration 60 seconds, 180 keyframes, NVIDIA L40S GPU. Ground truth enters evaluation only. SIH requirements source: supplied tmp/pdfs/SIH26158.pdf, document pages 37-39. SIH emblem comes from the supplied prior-year reference PDF.</a:t>
            </a:r>
          </a:p>
          <a:p xmlns:a="http://schemas.openxmlformats.org/drawingml/2006/main">
            <a:r>
              <a:t>https://arxiv.org/abs/2412.12392</a:t>
            </a:r>
          </a:p>
          <a:p xmlns:a="http://schemas.openxmlformats.org/drawingml/2006/main">
            <a:r>
              <a:t>https://map-anything.github.io/</a:t>
            </a:r>
          </a:p>
          <a:p xmlns:a="http://schemas.openxmlformats.org/drawingml/2006/main">
            <a:r>
              <a:t>https://repo-sam.inria.fr/fungraph/3d-gaussian-splatting/</a:t>
            </a:r>
          </a:p>
          <a:p xmlns:a="http://schemas.openxmlformats.org/drawingml/2006/main">
            <a:r>
              <a:t>https://arxiv.org/abs/2105.15203</a:t>
            </a:r>
          </a:p>
          <a:p xmlns:a="http://schemas.openxmlformats.org/drawingml/2006/main">
            <a:r>
              <a:t>https://colmap.github.io/</a:t>
            </a:r>
          </a:p>
          <a:p xmlns:a="http://schemas.openxmlformats.org/drawingml/2006/main">
            <a:r>
              <a:t>https://rpg.ifi.uzh.ch/zurichmavdataset.html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integrates published research rather than claiming invention of its underlying models. MASt3R-SLAM provides visual tracking with dense 3D priors. MapAnything provides feed-forward metric geometry. SegFormer provides semantic segmentation. Gaussian splatting provides an optional representation for realistic rendering. COLMAP is an established classical baseline. Zurich Urban MAV supplies the recorded imagery, telemetry and reference camera positions. Its reference trajectory derives from photogrammetric reconstruction; it is not an independently surveyed surface ground truth.</a:t>
            </a:r>
          </a:p>
          <a:p xmlns:a="http://schemas.openxmlformats.org/drawingml/2006/main">
            <a:r>
              <a:t/>
            </a:r>
          </a:p>
          <a:p xmlns:a="http://schemas.openxmlformats.org/drawingml/2006/main">
            <a:r>
              <a:t>The implementation contribution is the combination of sensor-guided window alignment, separate geometry and appearance outputs, geospatial packaging and a connected inspection interface. A controlled comparison on identical inputs and hardware is needed before claiming superiority over existing methods. Reproducible experiments should separate tuning and test flights, retain fixed checkpoints, prohibit reference geometry from entering construction and report geometry completeness, surface error, trajectory error, runtime, memory and failure rate.</a:t>
            </a:r>
          </a:p>
          <a:p xmlns:a="http://schemas.openxmlformats.org/drawingml/2006/main">
            <a:r>
              <a:t/>
            </a:r>
          </a:p>
          <a:p xmlns:a="http://schemas.openxmlformats.org/drawingml/2006/main">
            <a:r>
              <a:t>MASt3R-Fusion (https://arxiv.org/abs/2509.20757) is a relevant future sensor-coupling experiment rather than a current component. Review all code and checkpoint licences for the intended use. In particular, the NVlabs SegFormer implementation states non-commercial research/evaluation terms. Open download availability does not imply unrestricted commercial rights.</a:t>
            </a:r>
          </a:p>
          <a:p xmlns:a="http://schemas.openxmlformats.org/drawingml/2006/main">
            <a:r>
              <a:t/>
            </a:r>
          </a:p>
          <a:p xmlns:a="http://schemas.openxmlformats.org/drawingml/2006/main">
            <a:r>
              <a:t>SOURCES</a:t>
            </a:r>
          </a:p>
          <a:p xmlns:a="http://schemas.openxmlformats.org/drawingml/2006/main">
            <a:r>
              <a:t>Recorded experiment: work/sih3d-gpu/viewer/assets/evaluation.json, asset_report.json and stage_timings.json. Source flight: Zurich Urban MAV. Input duration 60 seconds, 180 keyframes, NVIDIA L40S GPU. Ground truth enters evaluation only. SIH requirements source: supplied tmp/pdfs/SIH26158.pdf, document pages 37-39. SIH emblem comes from the supplied prior-year reference PDF.</a:t>
            </a:r>
          </a:p>
          <a:p xmlns:a="http://schemas.openxmlformats.org/drawingml/2006/main">
            <a:r>
              <a:t>https://arxiv.org/abs/2412.12392</a:t>
            </a:r>
          </a:p>
          <a:p xmlns:a="http://schemas.openxmlformats.org/drawingml/2006/main">
            <a:r>
              <a:t>https://map-anything.github.io/</a:t>
            </a:r>
          </a:p>
          <a:p xmlns:a="http://schemas.openxmlformats.org/drawingml/2006/main">
            <a:r>
              <a:t>https://repo-sam.inria.fr/fungraph/3d-gaussian-splatting/</a:t>
            </a:r>
          </a:p>
          <a:p xmlns:a="http://schemas.openxmlformats.org/drawingml/2006/main">
            <a:r>
              <a:t>https://arxiv.org/abs/2105.15203</a:t>
            </a:r>
          </a:p>
          <a:p xmlns:a="http://schemas.openxmlformats.org/drawingml/2006/main">
            <a:r>
              <a:t>https://colmap.github.io/</a:t>
            </a:r>
          </a:p>
          <a:p xmlns:a="http://schemas.openxmlformats.org/drawingml/2006/main">
            <a:r>
              <a:t>https://rpg.ifi.uzh.ch/zurichmavdataset.html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3d1da285d04d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87bbf0e4184e88" /><Relationship Type="http://schemas.openxmlformats.org/officeDocument/2006/relationships/slideLayout" Target="/ppt/slideLayouts/slideLayout1.xml" Id="R937960063f774f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7960063f774f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29340a3f284a4b" /><Relationship Type="http://schemas.openxmlformats.org/officeDocument/2006/relationships/image" Target="/ppt/media/image.png" Id="Rd12151e3b32b43c8" /><Relationship Type="http://schemas.openxmlformats.org/officeDocument/2006/relationships/image" Target="/ppt/media/image2.png" Id="Rec6846ba63a54326" /><Relationship Type="http://schemas.openxmlformats.org/officeDocument/2006/relationships/notesSlide" Target="/ppt/notesSlides/notesSlide1.xml" Id="Rbd91e62beb964d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92505fc5aa4119" /><Relationship Type="http://schemas.openxmlformats.org/officeDocument/2006/relationships/image" Target="/ppt/media/image3.png" Id="Ree22210c800a46c2" /><Relationship Type="http://schemas.openxmlformats.org/officeDocument/2006/relationships/image" Target="/ppt/media/image4.png" Id="R852c3c901f2e411f" /><Relationship Type="http://schemas.openxmlformats.org/officeDocument/2006/relationships/image" Target="/ppt/media/image5.png" Id="R182bb82c2adc4df6" /><Relationship Type="http://schemas.openxmlformats.org/officeDocument/2006/relationships/image" Target="/ppt/media/image6.png" Id="R4329865415b94444" /><Relationship Type="http://schemas.openxmlformats.org/officeDocument/2006/relationships/notesSlide" Target="/ppt/notesSlides/notesSlide2.xml" Id="Rfd0b9ea458aa48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5d6422bfef41b6" /><Relationship Type="http://schemas.openxmlformats.org/officeDocument/2006/relationships/image" Target="/ppt/media/image7.png" Id="Rd5140355aed44cb9" /><Relationship Type="http://schemas.openxmlformats.org/officeDocument/2006/relationships/image" Target="/ppt/media/image8.png" Id="Rff1aba5b5e3d4051" /><Relationship Type="http://schemas.openxmlformats.org/officeDocument/2006/relationships/image" Target="/ppt/media/image9.png" Id="R22bb168636264273" /><Relationship Type="http://schemas.openxmlformats.org/officeDocument/2006/relationships/image" Target="/ppt/media/image10.png" Id="R78bac033e37c4925" /><Relationship Type="http://schemas.openxmlformats.org/officeDocument/2006/relationships/notesSlide" Target="/ppt/notesSlides/notesSlide3.xml" Id="Re8c6eaab0e874c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fa424a8c8a44eb" /><Relationship Type="http://schemas.openxmlformats.org/officeDocument/2006/relationships/image" Target="/ppt/media/image11.png" Id="R7ad09ce1241c40a3" /><Relationship Type="http://schemas.openxmlformats.org/officeDocument/2006/relationships/notesSlide" Target="/ppt/notesSlides/notesSlide4.xml" Id="Rc9617ffd67394d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f0ad11a9d34a7e" /><Relationship Type="http://schemas.openxmlformats.org/officeDocument/2006/relationships/image" Target="/ppt/media/image12.png" Id="Rf9e56514dad34a2e" /><Relationship Type="http://schemas.openxmlformats.org/officeDocument/2006/relationships/image" Target="/ppt/media/image.jpeg" Id="R0ae8b1e58f1247cb" /><Relationship Type="http://schemas.openxmlformats.org/officeDocument/2006/relationships/image" Target="/ppt/media/image2.jpeg" Id="Re296ebfd8f77404f" /><Relationship Type="http://schemas.openxmlformats.org/officeDocument/2006/relationships/hyperlink" Target="https://voxelflight-3d.web.app/" TargetMode="External" Id="Rf430a8ddaac04ae4" /><Relationship Type="http://schemas.openxmlformats.org/officeDocument/2006/relationships/notesSlide" Target="/ppt/notesSlides/notesSlide5.xml" Id="R6d921656ddd84e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770ecd175a4bcd" /><Relationship Type="http://schemas.openxmlformats.org/officeDocument/2006/relationships/image" Target="/ppt/media/image13.png" Id="Rbc4cace345d04edf" /><Relationship Type="http://schemas.openxmlformats.org/officeDocument/2006/relationships/hyperlink" Target="https://arxiv.org/abs/2412.12392" TargetMode="External" Id="Re04fdac3b2994766" /><Relationship Type="http://schemas.openxmlformats.org/officeDocument/2006/relationships/hyperlink" Target="https://map-anything.github.io/" TargetMode="External" Id="Rdaa1db4172024491" /><Relationship Type="http://schemas.openxmlformats.org/officeDocument/2006/relationships/hyperlink" Target="https://repo-sam.inria.fr/fungraph/3d-gaussian-splatting/" TargetMode="External" Id="Raf752e0164c94d05" /><Relationship Type="http://schemas.openxmlformats.org/officeDocument/2006/relationships/hyperlink" Target="https://arxiv.org/abs/2105.15203" TargetMode="External" Id="Re08b43bd11a7408b" /><Relationship Type="http://schemas.openxmlformats.org/officeDocument/2006/relationships/hyperlink" Target="https://colmap.github.io/" TargetMode="External" Id="R56092dce246a41e2" /><Relationship Type="http://schemas.openxmlformats.org/officeDocument/2006/relationships/hyperlink" Target="https://rpg.ifi.uzh.ch/zurichmavdataset.html" TargetMode="External" Id="R476b483fcdec45b7" /><Relationship Type="http://schemas.openxmlformats.org/officeDocument/2006/relationships/notesSlide" Target="/ppt/notesSlides/notesSlide6.xml" Id="R0733150c661e424e" /></Relationships>
</file>

<file path=ppt/slides/slide1.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sp>
        <p:nvSpPr>
          <p:cNvPr id="19" name="shape-1">
            <a:extLst xmlns:a="http://schemas.openxmlformats.org/drawingml/2006/main">
              <a:ext uri="{FF2B5EF4-FFF2-40B4-BE49-F238E27FC236}">
                <a16:creationId xmlns:a16="http://schemas.microsoft.com/office/drawing/2014/main" id="{8BD587EF-5CED-4659-89B4-7AD1E3AA5DE8}"/>
              </a:ext>
            </a:extLst>
          </p:cNvPr>
          <p:cNvSpPr>
            <a:spLocks xmlns:a="http://schemas.openxmlformats.org/drawingml/2006/main" noGrp="1"/>
          </p:cNvSpPr>
          <p:nvPr/>
        </p:nvSpPr>
        <p:spPr>
          <a:xfrm xmlns:a="http://schemas.openxmlformats.org/drawingml/2006/main">
            <a:off x="91440" y="76200"/>
            <a:ext cx="24201120" cy="13563600"/>
          </a:xfrm>
          <a:prstGeom xmlns:a="http://schemas.openxmlformats.org/drawingml/2006/main" prst="rect">
            <a:avLst/>
          </a:prstGeom>
          <a:noFill xmlns:a="http://schemas.openxmlformats.org/drawingml/2006/main"/>
          <a:ln xmlns:a="http://schemas.openxmlformats.org/drawingml/2006/main" w="15240">
            <a:solidFill>
              <a:srgbClr val="E4E7EB"/>
            </a:solidFill>
            <a:prstDash val="solid"/>
          </a:ln>
        </p:spPr>
      </p:sp>
      <p:sp>
        <p:nvSpPr>
          <p:cNvPr id="2" name="shape-2">
            <a:extLst xmlns:a="http://schemas.openxmlformats.org/drawingml/2006/main">
              <a:ext uri="{FF2B5EF4-FFF2-40B4-BE49-F238E27FC236}">
                <a16:creationId xmlns:a16="http://schemas.microsoft.com/office/drawing/2014/main" id="{539C62B0-CB9A-4907-9626-869EE308727D}"/>
              </a:ext>
            </a:extLst>
          </p:cNvPr>
          <p:cNvSpPr>
            <a:spLocks xmlns:a="http://schemas.openxmlformats.org/drawingml/2006/main" noGrp="1"/>
          </p:cNvSpPr>
          <p:nvPr/>
        </p:nvSpPr>
        <p:spPr>
          <a:xfrm xmlns:a="http://schemas.openxmlformats.org/drawingml/2006/main">
            <a:off x="868680" y="640080"/>
            <a:ext cx="320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720" b="1">
                <a:solidFill>
                  <a:srgbClr val="087E70"/>
                </a:solidFill>
                <a:latin typeface="Arial"/>
                <a:ea typeface="Arial"/>
                <a:cs typeface="Arial"/>
              </a:defRPr>
            </a:pPr>
            <a:r>
              <a:rPr sz="3720" b="1">
                <a:solidFill>
                  <a:srgbClr val="087E70"/>
                </a:solidFill>
                <a:latin typeface="Arial"/>
                <a:ea typeface="Arial"/>
                <a:cs typeface="Arial"/>
              </a:rPr>
              <a:t>VoxelFlight</a:t>
            </a:r>
          </a:p>
        </p:txBody>
      </p:sp>
      <p:sp>
        <p:nvSpPr>
          <p:cNvPr id="3" name="shape-3">
            <a:extLst xmlns:a="http://schemas.openxmlformats.org/drawingml/2006/main">
              <a:ext uri="{FF2B5EF4-FFF2-40B4-BE49-F238E27FC236}">
                <a16:creationId xmlns:a16="http://schemas.microsoft.com/office/drawing/2014/main" id="{7DE594D8-CC60-4391-8FA8-4131824E36BA}"/>
              </a:ext>
            </a:extLst>
          </p:cNvPr>
          <p:cNvSpPr>
            <a:spLocks xmlns:a="http://schemas.openxmlformats.org/drawingml/2006/main" noGrp="1"/>
          </p:cNvSpPr>
          <p:nvPr/>
        </p:nvSpPr>
        <p:spPr>
          <a:xfrm xmlns:a="http://schemas.openxmlformats.org/drawingml/2006/main">
            <a:off x="4343400" y="533400"/>
            <a:ext cx="15240000" cy="1082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760" b="1">
                <a:solidFill>
                  <a:srgbClr val="14243B"/>
                </a:solidFill>
                <a:latin typeface="Times New Roman"/>
                <a:ea typeface="Times New Roman"/>
                <a:cs typeface="Times New Roman"/>
              </a:defRPr>
            </a:pPr>
            <a:r>
              <a:rPr sz="5760" b="1">
                <a:solidFill>
                  <a:srgbClr val="14243B"/>
                </a:solidFill>
                <a:latin typeface="Times New Roman"/>
                <a:ea typeface="Times New Roman"/>
                <a:cs typeface="Times New Roman"/>
              </a:rPr>
              <a:t>SMART INDIA HACKATHON 2026</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12151e3b32b43c8"/>
          <a:stretch xmlns:a="http://schemas.openxmlformats.org/drawingml/2006/main"/>
        </p:blipFill>
        <p:spPr>
          <a:xfrm xmlns:a="http://schemas.openxmlformats.org/drawingml/2006/main">
            <a:off x="19903440" y="220568"/>
            <a:ext cx="1219200" cy="1433384"/>
          </a:xfrm>
          <a:prstGeom xmlns:a="http://schemas.openxmlformats.org/drawingml/2006/main" prst="rect">
            <a:avLst/>
          </a:prstGeom>
        </p:spPr>
      </p:pic>
      <p:sp>
        <p:nvSpPr>
          <p:cNvPr id="5" name="shape-4">
            <a:extLst xmlns:a="http://schemas.openxmlformats.org/drawingml/2006/main">
              <a:ext uri="{FF2B5EF4-FFF2-40B4-BE49-F238E27FC236}">
                <a16:creationId xmlns:a16="http://schemas.microsoft.com/office/drawing/2014/main" id="{C25870B2-4FCA-4828-9E12-C4308B304217}"/>
              </a:ext>
            </a:extLst>
          </p:cNvPr>
          <p:cNvSpPr>
            <a:spLocks xmlns:a="http://schemas.openxmlformats.org/drawingml/2006/main" noGrp="1"/>
          </p:cNvSpPr>
          <p:nvPr/>
        </p:nvSpPr>
        <p:spPr>
          <a:xfrm xmlns:a="http://schemas.openxmlformats.org/drawingml/2006/main">
            <a:off x="21305520" y="563880"/>
            <a:ext cx="240792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SMART INDIA</a:t>
            </a:r>
          </a:p>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HACKATHON 2026</a:t>
            </a:r>
          </a:p>
        </p:txBody>
      </p:sp>
      <p:sp>
        <p:nvSpPr>
          <p:cNvPr id="6" name="shape-5">
            <a:extLst xmlns:a="http://schemas.openxmlformats.org/drawingml/2006/main">
              <a:ext uri="{FF2B5EF4-FFF2-40B4-BE49-F238E27FC236}">
                <a16:creationId xmlns:a16="http://schemas.microsoft.com/office/drawing/2014/main" id="{1DE8DFA1-47FA-48D3-95C1-7472EC2B1F10}"/>
              </a:ext>
            </a:extLst>
          </p:cNvPr>
          <p:cNvSpPr>
            <a:spLocks xmlns:a="http://schemas.openxmlformats.org/drawingml/2006/main" noGrp="1"/>
          </p:cNvSpPr>
          <p:nvPr/>
        </p:nvSpPr>
        <p:spPr>
          <a:xfrm xmlns:a="http://schemas.openxmlformats.org/drawingml/2006/main">
            <a:off x="868680" y="1905000"/>
            <a:ext cx="22768560" cy="0"/>
          </a:xfrm>
          <a:prstGeom xmlns:a="http://schemas.openxmlformats.org/drawingml/2006/main" prst="line">
            <a:avLst/>
          </a:prstGeom>
          <a:noFill xmlns:a="http://schemas.openxmlformats.org/drawingml/2006/main"/>
          <a:ln xmlns:a="http://schemas.openxmlformats.org/drawingml/2006/main" w="15240">
            <a:solidFill>
              <a:srgbClr val="087E70"/>
            </a:solidFill>
            <a:prstDash val="solid"/>
          </a:ln>
        </p:spPr>
      </p:sp>
      <p:sp>
        <p:nvSpPr>
          <p:cNvPr id="7" name="shape-6">
            <a:extLst xmlns:a="http://schemas.openxmlformats.org/drawingml/2006/main">
              <a:ext uri="{FF2B5EF4-FFF2-40B4-BE49-F238E27FC236}">
                <a16:creationId xmlns:a16="http://schemas.microsoft.com/office/drawing/2014/main" id="{31564848-B8F4-4317-AF9E-727487ED8211}"/>
              </a:ext>
            </a:extLst>
          </p:cNvPr>
          <p:cNvSpPr>
            <a:spLocks xmlns:a="http://schemas.openxmlformats.org/drawingml/2006/main" noGrp="1"/>
          </p:cNvSpPr>
          <p:nvPr/>
        </p:nvSpPr>
        <p:spPr>
          <a:xfrm xmlns:a="http://schemas.openxmlformats.org/drawingml/2006/main">
            <a:off x="868680" y="13060680"/>
            <a:ext cx="182880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20" b="0">
                <a:solidFill>
                  <a:srgbClr val="516178"/>
                </a:solidFill>
                <a:latin typeface="Arial"/>
                <a:ea typeface="Arial"/>
                <a:cs typeface="Arial"/>
              </a:defRPr>
            </a:pPr>
            <a:r>
              <a:rPr sz="1920" b="0">
                <a:solidFill>
                  <a:srgbClr val="516178"/>
                </a:solidFill>
                <a:latin typeface="Arial"/>
                <a:ea typeface="Arial"/>
                <a:cs typeface="Arial"/>
              </a:rPr>
              <a:t>SIH26158  /  SOFTWARE  /  DRONE &amp; ROBOTICS</a:t>
            </a:r>
          </a:p>
        </p:txBody>
      </p:sp>
      <p:sp>
        <p:nvSpPr>
          <p:cNvPr id="8" name="shape-7">
            <a:extLst xmlns:a="http://schemas.openxmlformats.org/drawingml/2006/main">
              <a:ext uri="{FF2B5EF4-FFF2-40B4-BE49-F238E27FC236}">
                <a16:creationId xmlns:a16="http://schemas.microsoft.com/office/drawing/2014/main" id="{FC1D4B52-8DA6-483C-A4CE-6D2E7714658E}"/>
              </a:ext>
            </a:extLst>
          </p:cNvPr>
          <p:cNvSpPr>
            <a:spLocks xmlns:a="http://schemas.openxmlformats.org/drawingml/2006/main" noGrp="1"/>
          </p:cNvSpPr>
          <p:nvPr/>
        </p:nvSpPr>
        <p:spPr>
          <a:xfrm xmlns:a="http://schemas.openxmlformats.org/drawingml/2006/main">
            <a:off x="22555200" y="13060680"/>
            <a:ext cx="109728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2040" b="0">
                <a:solidFill>
                  <a:srgbClr val="516178"/>
                </a:solidFill>
                <a:latin typeface="Arial"/>
                <a:ea typeface="Arial"/>
                <a:cs typeface="Arial"/>
              </a:defRPr>
            </a:pPr>
            <a:r>
              <a:rPr sz="2040" b="0">
                <a:solidFill>
                  <a:srgbClr val="516178"/>
                </a:solidFill>
                <a:latin typeface="Arial"/>
                <a:ea typeface="Arial"/>
                <a:cs typeface="Arial"/>
              </a:rPr>
              <a:t>01 / 06</a:t>
            </a:r>
          </a:p>
        </p:txBody>
      </p:sp>
      <p:sp>
        <p:nvSpPr>
          <p:cNvPr id="9" name="shape-8">
            <a:extLst xmlns:a="http://schemas.openxmlformats.org/drawingml/2006/main">
              <a:ext uri="{FF2B5EF4-FFF2-40B4-BE49-F238E27FC236}">
                <a16:creationId xmlns:a16="http://schemas.microsoft.com/office/drawing/2014/main" id="{1BF86A10-D126-46DA-9D0C-30F9059CD9AE}"/>
              </a:ext>
            </a:extLst>
          </p:cNvPr>
          <p:cNvSpPr>
            <a:spLocks xmlns:a="http://schemas.openxmlformats.org/drawingml/2006/main" noGrp="1"/>
          </p:cNvSpPr>
          <p:nvPr/>
        </p:nvSpPr>
        <p:spPr>
          <a:xfrm xmlns:a="http://schemas.openxmlformats.org/drawingml/2006/main">
            <a:off x="868680" y="2773680"/>
            <a:ext cx="12496800" cy="1767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040" b="1">
                <a:solidFill>
                  <a:srgbClr val="087E70"/>
                </a:solidFill>
                <a:latin typeface="Times New Roman"/>
                <a:ea typeface="Times New Roman"/>
                <a:cs typeface="Times New Roman"/>
              </a:defRPr>
            </a:pPr>
            <a:r>
              <a:rPr sz="11040" b="1">
                <a:solidFill>
                  <a:srgbClr val="087E70"/>
                </a:solidFill>
                <a:latin typeface="Times New Roman"/>
                <a:ea typeface="Times New Roman"/>
                <a:cs typeface="Times New Roman"/>
              </a:rPr>
              <a:t>VOXELFLIGHT</a:t>
            </a:r>
          </a:p>
        </p:txBody>
      </p:sp>
      <p:sp>
        <p:nvSpPr>
          <p:cNvPr id="10" name="shape-9">
            <a:extLst xmlns:a="http://schemas.openxmlformats.org/drawingml/2006/main">
              <a:ext uri="{FF2B5EF4-FFF2-40B4-BE49-F238E27FC236}">
                <a16:creationId xmlns:a16="http://schemas.microsoft.com/office/drawing/2014/main" id="{905B81D4-81D0-4BA3-B69C-2B0866028E51}"/>
              </a:ext>
            </a:extLst>
          </p:cNvPr>
          <p:cNvSpPr>
            <a:spLocks xmlns:a="http://schemas.openxmlformats.org/drawingml/2006/main" noGrp="1"/>
          </p:cNvSpPr>
          <p:nvPr/>
        </p:nvSpPr>
        <p:spPr>
          <a:xfrm xmlns:a="http://schemas.openxmlformats.org/drawingml/2006/main">
            <a:off x="929640" y="4785360"/>
            <a:ext cx="11201400" cy="1661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60" b="1">
                <a:solidFill>
                  <a:srgbClr val="14243B"/>
                </a:solidFill>
                <a:latin typeface="Arial"/>
                <a:ea typeface="Arial"/>
                <a:cs typeface="Arial"/>
              </a:defRPr>
            </a:pPr>
            <a:r>
              <a:rPr sz="5160" b="1">
                <a:solidFill>
                  <a:srgbClr val="14243B"/>
                </a:solidFill>
                <a:latin typeface="Arial"/>
                <a:ea typeface="Arial"/>
                <a:cs typeface="Arial"/>
              </a:rPr>
              <a:t>A drone video you can</a:t>
            </a:r>
          </a:p>
          <a:p xmlns:a="http://schemas.openxmlformats.org/drawingml/2006/main">
            <a:pPr algn="l">
              <a:lnSpc>
                <a:spcPct val="108000"/>
              </a:lnSpc>
              <a:buNone/>
              <a:defRPr sz="5160" b="1">
                <a:solidFill>
                  <a:srgbClr val="14243B"/>
                </a:solidFill>
                <a:latin typeface="Arial"/>
                <a:ea typeface="Arial"/>
                <a:cs typeface="Arial"/>
              </a:defRPr>
            </a:pPr>
            <a:r>
              <a:rPr sz="5160" b="1">
                <a:solidFill>
                  <a:srgbClr val="14243B"/>
                </a:solidFill>
                <a:latin typeface="Arial"/>
                <a:ea typeface="Arial"/>
                <a:cs typeface="Arial"/>
              </a:rPr>
              <a:t>explore in three dimensions.</a:t>
            </a:r>
          </a:p>
        </p:txBody>
      </p:sp>
      <p:sp>
        <p:nvSpPr>
          <p:cNvPr id="11" name="shape-10">
            <a:extLst xmlns:a="http://schemas.openxmlformats.org/drawingml/2006/main">
              <a:ext uri="{FF2B5EF4-FFF2-40B4-BE49-F238E27FC236}">
                <a16:creationId xmlns:a16="http://schemas.microsoft.com/office/drawing/2014/main" id="{60966BF1-E8B9-443E-A333-A5115F10E103}"/>
              </a:ext>
            </a:extLst>
          </p:cNvPr>
          <p:cNvSpPr>
            <a:spLocks xmlns:a="http://schemas.openxmlformats.org/drawingml/2006/main" noGrp="1"/>
          </p:cNvSpPr>
          <p:nvPr/>
        </p:nvSpPr>
        <p:spPr>
          <a:xfrm xmlns:a="http://schemas.openxmlformats.org/drawingml/2006/main">
            <a:off x="960120" y="7101840"/>
            <a:ext cx="10363200" cy="1173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0">
                <a:solidFill>
                  <a:srgbClr val="516178"/>
                </a:solidFill>
                <a:latin typeface="Arial"/>
                <a:ea typeface="Arial"/>
                <a:cs typeface="Arial"/>
              </a:defRPr>
            </a:pPr>
            <a:r>
              <a:rPr sz="3480" b="0">
                <a:solidFill>
                  <a:srgbClr val="516178"/>
                </a:solidFill>
                <a:latin typeface="Arial"/>
                <a:ea typeface="Arial"/>
                <a:cs typeface="Arial"/>
              </a:rPr>
              <a:t>For missions where another flight</a:t>
            </a:r>
          </a:p>
          <a:p xmlns:a="http://schemas.openxmlformats.org/drawingml/2006/main">
            <a:pPr algn="l">
              <a:lnSpc>
                <a:spcPct val="108000"/>
              </a:lnSpc>
              <a:buNone/>
              <a:defRPr sz="3480" b="0">
                <a:solidFill>
                  <a:srgbClr val="516178"/>
                </a:solidFill>
                <a:latin typeface="Arial"/>
                <a:ea typeface="Arial"/>
                <a:cs typeface="Arial"/>
              </a:defRPr>
            </a:pPr>
            <a:r>
              <a:rPr sz="3480" b="0">
                <a:solidFill>
                  <a:srgbClr val="516178"/>
                </a:solidFill>
                <a:latin typeface="Arial"/>
                <a:ea typeface="Arial"/>
                <a:cs typeface="Arial"/>
              </a:rPr>
              <a:t>may not be possible.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c6846ba63a54326"/>
          <a:stretch xmlns:a="http://schemas.openxmlformats.org/drawingml/2006/main"/>
        </p:blipFill>
        <p:spPr>
          <a:xfrm xmlns:a="http://schemas.openxmlformats.org/drawingml/2006/main">
            <a:off x="12808373" y="3124200"/>
            <a:ext cx="10837333" cy="6096000"/>
          </a:xfrm>
          <a:prstGeom xmlns:a="http://schemas.openxmlformats.org/drawingml/2006/main" prst="rect">
            <a:avLst/>
          </a:prstGeom>
        </p:spPr>
      </p:pic>
      <p:sp>
        <p:nvSpPr>
          <p:cNvPr id="13" name="shape-11">
            <a:extLst xmlns:a="http://schemas.openxmlformats.org/drawingml/2006/main">
              <a:ext uri="{FF2B5EF4-FFF2-40B4-BE49-F238E27FC236}">
                <a16:creationId xmlns:a16="http://schemas.microsoft.com/office/drawing/2014/main" id="{33AC6DD5-8DC6-47F4-8D34-71F8C38B7C73}"/>
              </a:ext>
            </a:extLst>
          </p:cNvPr>
          <p:cNvSpPr>
            <a:spLocks xmlns:a="http://schemas.openxmlformats.org/drawingml/2006/main" noGrp="1"/>
          </p:cNvSpPr>
          <p:nvPr/>
        </p:nvSpPr>
        <p:spPr>
          <a:xfrm xmlns:a="http://schemas.openxmlformats.org/drawingml/2006/main">
            <a:off x="12832080" y="9464040"/>
            <a:ext cx="1072896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80" b="1">
                <a:solidFill>
                  <a:srgbClr val="2464C7"/>
                </a:solidFill>
                <a:latin typeface="Arial"/>
                <a:ea typeface="Arial"/>
                <a:cs typeface="Arial"/>
              </a:defRPr>
            </a:pPr>
            <a:r>
              <a:rPr sz="2280" b="1">
                <a:solidFill>
                  <a:srgbClr val="2464C7"/>
                </a:solidFill>
                <a:latin typeface="Arial"/>
                <a:ea typeface="Arial"/>
                <a:cs typeface="Arial"/>
              </a:rPr>
              <a:t>ACTUAL INPUT FRAME</a:t>
            </a:r>
          </a:p>
        </p:txBody>
      </p:sp>
      <p:sp>
        <p:nvSpPr>
          <p:cNvPr id="14" name="shape-12">
            <a:extLst xmlns:a="http://schemas.openxmlformats.org/drawingml/2006/main">
              <a:ext uri="{FF2B5EF4-FFF2-40B4-BE49-F238E27FC236}">
                <a16:creationId xmlns:a16="http://schemas.microsoft.com/office/drawing/2014/main" id="{04678DC9-EF99-4C08-84DE-44519737125D}"/>
              </a:ext>
            </a:extLst>
          </p:cNvPr>
          <p:cNvSpPr>
            <a:spLocks xmlns:a="http://schemas.openxmlformats.org/drawingml/2006/main" noGrp="1"/>
          </p:cNvSpPr>
          <p:nvPr/>
        </p:nvSpPr>
        <p:spPr>
          <a:xfrm xmlns:a="http://schemas.openxmlformats.org/drawingml/2006/main">
            <a:off x="929640" y="9052560"/>
            <a:ext cx="11247120" cy="1264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1">
                <a:solidFill>
                  <a:srgbClr val="14243B"/>
                </a:solidFill>
                <a:latin typeface="Arial"/>
                <a:ea typeface="Arial"/>
                <a:cs typeface="Arial"/>
              </a:defRPr>
            </a:pPr>
            <a:r>
              <a:rPr sz="3480" b="1">
                <a:solidFill>
                  <a:srgbClr val="14243B"/>
                </a:solidFill>
                <a:latin typeface="Arial"/>
                <a:ea typeface="Arial"/>
                <a:cs typeface="Arial"/>
              </a:rPr>
              <a:t>Single-Pass Drone Video to Accurate 3D</a:t>
            </a:r>
          </a:p>
          <a:p xmlns:a="http://schemas.openxmlformats.org/drawingml/2006/main">
            <a:pPr algn="l">
              <a:lnSpc>
                <a:spcPct val="108000"/>
              </a:lnSpc>
              <a:buNone/>
              <a:defRPr sz="3480" b="1">
                <a:solidFill>
                  <a:srgbClr val="14243B"/>
                </a:solidFill>
                <a:latin typeface="Arial"/>
                <a:ea typeface="Arial"/>
                <a:cs typeface="Arial"/>
              </a:defRPr>
            </a:pPr>
            <a:r>
              <a:rPr sz="3480" b="1">
                <a:solidFill>
                  <a:srgbClr val="14243B"/>
                </a:solidFill>
                <a:latin typeface="Arial"/>
                <a:ea typeface="Arial"/>
                <a:cs typeface="Arial"/>
              </a:rPr>
              <a:t>Model Generation System</a:t>
            </a:r>
          </a:p>
        </p:txBody>
      </p:sp>
      <p:sp>
        <p:nvSpPr>
          <p:cNvPr id="15" name="shape-13">
            <a:extLst xmlns:a="http://schemas.openxmlformats.org/drawingml/2006/main">
              <a:ext uri="{FF2B5EF4-FFF2-40B4-BE49-F238E27FC236}">
                <a16:creationId xmlns:a16="http://schemas.microsoft.com/office/drawing/2014/main" id="{018E6125-3FB7-463D-BFA7-9CB8E18D02FB}"/>
              </a:ext>
            </a:extLst>
          </p:cNvPr>
          <p:cNvSpPr>
            <a:spLocks xmlns:a="http://schemas.openxmlformats.org/drawingml/2006/main" noGrp="1"/>
          </p:cNvSpPr>
          <p:nvPr/>
        </p:nvSpPr>
        <p:spPr>
          <a:xfrm xmlns:a="http://schemas.openxmlformats.org/drawingml/2006/main">
            <a:off x="899160" y="10728960"/>
            <a:ext cx="22722840" cy="0"/>
          </a:xfrm>
          <a:prstGeom xmlns:a="http://schemas.openxmlformats.org/drawingml/2006/main" prst="line">
            <a:avLst/>
          </a:prstGeom>
          <a:noFill xmlns:a="http://schemas.openxmlformats.org/drawingml/2006/main"/>
          <a:ln xmlns:a="http://schemas.openxmlformats.org/drawingml/2006/main" w="15240">
            <a:solidFill>
              <a:srgbClr val="D5DDE5"/>
            </a:solidFill>
            <a:prstDash val="solid"/>
          </a:ln>
        </p:spPr>
      </p:sp>
      <p:sp>
        <p:nvSpPr>
          <p:cNvPr id="16" name="shape-14">
            <a:extLst xmlns:a="http://schemas.openxmlformats.org/drawingml/2006/main">
              <a:ext uri="{FF2B5EF4-FFF2-40B4-BE49-F238E27FC236}">
                <a16:creationId xmlns:a16="http://schemas.microsoft.com/office/drawing/2014/main" id="{4544CE5D-4BAB-4FB7-B79D-F71AF775A769}"/>
              </a:ext>
            </a:extLst>
          </p:cNvPr>
          <p:cNvSpPr>
            <a:spLocks xmlns:a="http://schemas.openxmlformats.org/drawingml/2006/main" noGrp="1"/>
          </p:cNvSpPr>
          <p:nvPr/>
        </p:nvSpPr>
        <p:spPr>
          <a:xfrm xmlns:a="http://schemas.openxmlformats.org/drawingml/2006/main">
            <a:off x="929640" y="11094720"/>
            <a:ext cx="4953000" cy="563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360" b="1">
                <a:solidFill>
                  <a:srgbClr val="7544C4"/>
                </a:solidFill>
                <a:latin typeface="Arial"/>
                <a:ea typeface="Arial"/>
                <a:cs typeface="Arial"/>
              </a:defRPr>
            </a:pPr>
            <a:r>
              <a:rPr sz="3360" b="1">
                <a:solidFill>
                  <a:srgbClr val="7544C4"/>
                </a:solidFill>
                <a:latin typeface="Arial"/>
                <a:ea typeface="Arial"/>
                <a:cs typeface="Arial"/>
              </a:rPr>
              <a:t>SIH26158</a:t>
            </a:r>
          </a:p>
        </p:txBody>
      </p:sp>
      <p:sp>
        <p:nvSpPr>
          <p:cNvPr id="17" name="shape-15">
            <a:extLst xmlns:a="http://schemas.openxmlformats.org/drawingml/2006/main">
              <a:ext uri="{FF2B5EF4-FFF2-40B4-BE49-F238E27FC236}">
                <a16:creationId xmlns:a16="http://schemas.microsoft.com/office/drawing/2014/main" id="{4F0BECE9-1A8E-4C54-AB9F-D9D365CFFD29}"/>
              </a:ext>
            </a:extLst>
          </p:cNvPr>
          <p:cNvSpPr>
            <a:spLocks xmlns:a="http://schemas.openxmlformats.org/drawingml/2006/main" noGrp="1"/>
          </p:cNvSpPr>
          <p:nvPr/>
        </p:nvSpPr>
        <p:spPr>
          <a:xfrm xmlns:a="http://schemas.openxmlformats.org/drawingml/2006/main">
            <a:off x="6233160" y="11094720"/>
            <a:ext cx="173736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240" b="0">
                <a:solidFill>
                  <a:srgbClr val="14243B"/>
                </a:solidFill>
                <a:latin typeface="Arial"/>
                <a:ea typeface="Arial"/>
                <a:cs typeface="Arial"/>
              </a:defRPr>
            </a:pPr>
            <a:r>
              <a:rPr sz="3240" b="0">
                <a:solidFill>
                  <a:srgbClr val="14243B"/>
                </a:solidFill>
                <a:latin typeface="Arial"/>
                <a:ea typeface="Arial"/>
                <a:cs typeface="Arial"/>
              </a:rPr>
              <a:t>National Technical Research Organisation</a:t>
            </a:r>
          </a:p>
        </p:txBody>
      </p:sp>
      <p:sp>
        <p:nvSpPr>
          <p:cNvPr id="18" name="shape-16">
            <a:extLst xmlns:a="http://schemas.openxmlformats.org/drawingml/2006/main">
              <a:ext uri="{FF2B5EF4-FFF2-40B4-BE49-F238E27FC236}">
                <a16:creationId xmlns:a16="http://schemas.microsoft.com/office/drawing/2014/main" id="{CF1055AD-26A5-4BD0-89D5-FC04093ADBCD}"/>
              </a:ext>
            </a:extLst>
          </p:cNvPr>
          <p:cNvSpPr>
            <a:spLocks xmlns:a="http://schemas.openxmlformats.org/drawingml/2006/main" noGrp="1"/>
          </p:cNvSpPr>
          <p:nvPr/>
        </p:nvSpPr>
        <p:spPr>
          <a:xfrm xmlns:a="http://schemas.openxmlformats.org/drawingml/2006/main">
            <a:off x="929640" y="12024360"/>
            <a:ext cx="2225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Team name: [To be added]     Team ID: [To be added]</a:t>
            </a:r>
          </a:p>
        </p:txBody>
      </p:sp>
    </p:spTree>
    <p:extLst>
      <p:ext uri="{BB962C8B-B14F-4D97-AF65-F5344CB8AC3E}">
        <p14:creationId xmlns:p14="http://schemas.microsoft.com/office/powerpoint/2010/main" val="1011493081"/>
      </p:ext>
    </p:extLst>
  </p:cSld>
</p:sld>
</file>

<file path=ppt/slides/slide2.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sp>
        <p:nvSpPr>
          <p:cNvPr id="35" name="shape-17">
            <a:extLst xmlns:a="http://schemas.openxmlformats.org/drawingml/2006/main">
              <a:ext uri="{FF2B5EF4-FFF2-40B4-BE49-F238E27FC236}">
                <a16:creationId xmlns:a16="http://schemas.microsoft.com/office/drawing/2014/main" id="{DBF95A2A-737E-4A47-AD00-35D00AFF7D81}"/>
              </a:ext>
            </a:extLst>
          </p:cNvPr>
          <p:cNvSpPr>
            <a:spLocks xmlns:a="http://schemas.openxmlformats.org/drawingml/2006/main" noGrp="1"/>
          </p:cNvSpPr>
          <p:nvPr/>
        </p:nvSpPr>
        <p:spPr>
          <a:xfrm xmlns:a="http://schemas.openxmlformats.org/drawingml/2006/main">
            <a:off x="91440" y="76200"/>
            <a:ext cx="24201120" cy="13563600"/>
          </a:xfrm>
          <a:prstGeom xmlns:a="http://schemas.openxmlformats.org/drawingml/2006/main" prst="rect">
            <a:avLst/>
          </a:prstGeom>
          <a:noFill xmlns:a="http://schemas.openxmlformats.org/drawingml/2006/main"/>
          <a:ln xmlns:a="http://schemas.openxmlformats.org/drawingml/2006/main" w="15240">
            <a:solidFill>
              <a:srgbClr val="E4E7EB"/>
            </a:solidFill>
            <a:prstDash val="solid"/>
          </a:ln>
        </p:spPr>
      </p:sp>
      <p:sp>
        <p:nvSpPr>
          <p:cNvPr id="2" name="shape-18">
            <a:extLst xmlns:a="http://schemas.openxmlformats.org/drawingml/2006/main">
              <a:ext uri="{FF2B5EF4-FFF2-40B4-BE49-F238E27FC236}">
                <a16:creationId xmlns:a16="http://schemas.microsoft.com/office/drawing/2014/main" id="{1E636B22-DC1D-4692-BD6E-D08D49183D52}"/>
              </a:ext>
            </a:extLst>
          </p:cNvPr>
          <p:cNvSpPr>
            <a:spLocks xmlns:a="http://schemas.openxmlformats.org/drawingml/2006/main" noGrp="1"/>
          </p:cNvSpPr>
          <p:nvPr/>
        </p:nvSpPr>
        <p:spPr>
          <a:xfrm xmlns:a="http://schemas.openxmlformats.org/drawingml/2006/main">
            <a:off x="868680" y="640080"/>
            <a:ext cx="320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720" b="1">
                <a:solidFill>
                  <a:srgbClr val="087E70"/>
                </a:solidFill>
                <a:latin typeface="Arial"/>
                <a:ea typeface="Arial"/>
                <a:cs typeface="Arial"/>
              </a:defRPr>
            </a:pPr>
            <a:r>
              <a:rPr sz="3720" b="1">
                <a:solidFill>
                  <a:srgbClr val="087E70"/>
                </a:solidFill>
                <a:latin typeface="Arial"/>
                <a:ea typeface="Arial"/>
                <a:cs typeface="Arial"/>
              </a:rPr>
              <a:t>VoxelFlight</a:t>
            </a:r>
          </a:p>
        </p:txBody>
      </p:sp>
      <p:sp>
        <p:nvSpPr>
          <p:cNvPr id="3" name="shape-19">
            <a:extLst xmlns:a="http://schemas.openxmlformats.org/drawingml/2006/main">
              <a:ext uri="{FF2B5EF4-FFF2-40B4-BE49-F238E27FC236}">
                <a16:creationId xmlns:a16="http://schemas.microsoft.com/office/drawing/2014/main" id="{4D00E8CC-F493-4148-92AF-1F6390F12053}"/>
              </a:ext>
            </a:extLst>
          </p:cNvPr>
          <p:cNvSpPr>
            <a:spLocks xmlns:a="http://schemas.openxmlformats.org/drawingml/2006/main" noGrp="1"/>
          </p:cNvSpPr>
          <p:nvPr/>
        </p:nvSpPr>
        <p:spPr>
          <a:xfrm xmlns:a="http://schemas.openxmlformats.org/drawingml/2006/main">
            <a:off x="4343400" y="533400"/>
            <a:ext cx="15240000" cy="1082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760" b="1">
                <a:solidFill>
                  <a:srgbClr val="14243B"/>
                </a:solidFill>
                <a:latin typeface="Times New Roman"/>
                <a:ea typeface="Times New Roman"/>
                <a:cs typeface="Times New Roman"/>
              </a:defRPr>
            </a:pPr>
            <a:r>
              <a:rPr sz="5760" b="1">
                <a:solidFill>
                  <a:srgbClr val="14243B"/>
                </a:solidFill>
                <a:latin typeface="Times New Roman"/>
                <a:ea typeface="Times New Roman"/>
                <a:cs typeface="Times New Roman"/>
              </a:rPr>
              <a:t>PROPOSED SOLUTION</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e22210c800a46c2"/>
          <a:stretch xmlns:a="http://schemas.openxmlformats.org/drawingml/2006/main"/>
        </p:blipFill>
        <p:spPr>
          <a:xfrm xmlns:a="http://schemas.openxmlformats.org/drawingml/2006/main">
            <a:off x="19903440" y="220568"/>
            <a:ext cx="1219200" cy="1433384"/>
          </a:xfrm>
          <a:prstGeom xmlns:a="http://schemas.openxmlformats.org/drawingml/2006/main" prst="rect">
            <a:avLst/>
          </a:prstGeom>
        </p:spPr>
      </p:pic>
      <p:sp>
        <p:nvSpPr>
          <p:cNvPr id="5" name="shape-20">
            <a:extLst xmlns:a="http://schemas.openxmlformats.org/drawingml/2006/main">
              <a:ext uri="{FF2B5EF4-FFF2-40B4-BE49-F238E27FC236}">
                <a16:creationId xmlns:a16="http://schemas.microsoft.com/office/drawing/2014/main" id="{722238B1-FCEC-41B0-BBE3-BB0E8FA7E3D4}"/>
              </a:ext>
            </a:extLst>
          </p:cNvPr>
          <p:cNvSpPr>
            <a:spLocks xmlns:a="http://schemas.openxmlformats.org/drawingml/2006/main" noGrp="1"/>
          </p:cNvSpPr>
          <p:nvPr/>
        </p:nvSpPr>
        <p:spPr>
          <a:xfrm xmlns:a="http://schemas.openxmlformats.org/drawingml/2006/main">
            <a:off x="21305520" y="563880"/>
            <a:ext cx="240792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SMART INDIA</a:t>
            </a:r>
          </a:p>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HACKATHON 2026</a:t>
            </a:r>
          </a:p>
        </p:txBody>
      </p:sp>
      <p:sp>
        <p:nvSpPr>
          <p:cNvPr id="6" name="shape-21">
            <a:extLst xmlns:a="http://schemas.openxmlformats.org/drawingml/2006/main">
              <a:ext uri="{FF2B5EF4-FFF2-40B4-BE49-F238E27FC236}">
                <a16:creationId xmlns:a16="http://schemas.microsoft.com/office/drawing/2014/main" id="{25378D51-666B-4FEE-983B-6693B1713965}"/>
              </a:ext>
            </a:extLst>
          </p:cNvPr>
          <p:cNvSpPr>
            <a:spLocks xmlns:a="http://schemas.openxmlformats.org/drawingml/2006/main" noGrp="1"/>
          </p:cNvSpPr>
          <p:nvPr/>
        </p:nvSpPr>
        <p:spPr>
          <a:xfrm xmlns:a="http://schemas.openxmlformats.org/drawingml/2006/main">
            <a:off x="868680" y="1905000"/>
            <a:ext cx="22768560" cy="0"/>
          </a:xfrm>
          <a:prstGeom xmlns:a="http://schemas.openxmlformats.org/drawingml/2006/main" prst="line">
            <a:avLst/>
          </a:prstGeom>
          <a:noFill xmlns:a="http://schemas.openxmlformats.org/drawingml/2006/main"/>
          <a:ln xmlns:a="http://schemas.openxmlformats.org/drawingml/2006/main" w="15240">
            <a:solidFill>
              <a:srgbClr val="087E70"/>
            </a:solidFill>
            <a:prstDash val="solid"/>
          </a:ln>
        </p:spPr>
      </p:sp>
      <p:sp>
        <p:nvSpPr>
          <p:cNvPr id="7" name="shape-22">
            <a:extLst xmlns:a="http://schemas.openxmlformats.org/drawingml/2006/main">
              <a:ext uri="{FF2B5EF4-FFF2-40B4-BE49-F238E27FC236}">
                <a16:creationId xmlns:a16="http://schemas.microsoft.com/office/drawing/2014/main" id="{1161FE6C-BC09-4951-9242-6C68BF875858}"/>
              </a:ext>
            </a:extLst>
          </p:cNvPr>
          <p:cNvSpPr>
            <a:spLocks xmlns:a="http://schemas.openxmlformats.org/drawingml/2006/main" noGrp="1"/>
          </p:cNvSpPr>
          <p:nvPr/>
        </p:nvSpPr>
        <p:spPr>
          <a:xfrm xmlns:a="http://schemas.openxmlformats.org/drawingml/2006/main">
            <a:off x="868680" y="13060680"/>
            <a:ext cx="182880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20" b="0">
                <a:solidFill>
                  <a:srgbClr val="516178"/>
                </a:solidFill>
                <a:latin typeface="Arial"/>
                <a:ea typeface="Arial"/>
                <a:cs typeface="Arial"/>
              </a:defRPr>
            </a:pPr>
            <a:r>
              <a:rPr sz="1920" b="0">
                <a:solidFill>
                  <a:srgbClr val="516178"/>
                </a:solidFill>
                <a:latin typeface="Arial"/>
                <a:ea typeface="Arial"/>
                <a:cs typeface="Arial"/>
              </a:rPr>
              <a:t>SIH26158  /  SOFTWARE  /  DRONE &amp; ROBOTICS</a:t>
            </a:r>
          </a:p>
        </p:txBody>
      </p:sp>
      <p:sp>
        <p:nvSpPr>
          <p:cNvPr id="8" name="shape-23">
            <a:extLst xmlns:a="http://schemas.openxmlformats.org/drawingml/2006/main">
              <a:ext uri="{FF2B5EF4-FFF2-40B4-BE49-F238E27FC236}">
                <a16:creationId xmlns:a16="http://schemas.microsoft.com/office/drawing/2014/main" id="{9B4A4E3E-9904-4ED3-BCBC-7CEDCA1271BA}"/>
              </a:ext>
            </a:extLst>
          </p:cNvPr>
          <p:cNvSpPr>
            <a:spLocks xmlns:a="http://schemas.openxmlformats.org/drawingml/2006/main" noGrp="1"/>
          </p:cNvSpPr>
          <p:nvPr/>
        </p:nvSpPr>
        <p:spPr>
          <a:xfrm xmlns:a="http://schemas.openxmlformats.org/drawingml/2006/main">
            <a:off x="22555200" y="13060680"/>
            <a:ext cx="109728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2040" b="0">
                <a:solidFill>
                  <a:srgbClr val="516178"/>
                </a:solidFill>
                <a:latin typeface="Arial"/>
                <a:ea typeface="Arial"/>
                <a:cs typeface="Arial"/>
              </a:defRPr>
            </a:pPr>
            <a:r>
              <a:rPr sz="2040" b="0">
                <a:solidFill>
                  <a:srgbClr val="516178"/>
                </a:solidFill>
                <a:latin typeface="Arial"/>
                <a:ea typeface="Arial"/>
                <a:cs typeface="Arial"/>
              </a:rPr>
              <a:t>02 / 06</a:t>
            </a:r>
          </a:p>
        </p:txBody>
      </p:sp>
      <p:sp>
        <p:nvSpPr>
          <p:cNvPr id="9" name="shape-24">
            <a:extLst xmlns:a="http://schemas.openxmlformats.org/drawingml/2006/main">
              <a:ext uri="{FF2B5EF4-FFF2-40B4-BE49-F238E27FC236}">
                <a16:creationId xmlns:a16="http://schemas.microsoft.com/office/drawing/2014/main" id="{BA726C29-6394-4E68-B0F6-BC99A39A79E3}"/>
              </a:ext>
            </a:extLst>
          </p:cNvPr>
          <p:cNvSpPr>
            <a:spLocks xmlns:a="http://schemas.openxmlformats.org/drawingml/2006/main" noGrp="1"/>
          </p:cNvSpPr>
          <p:nvPr/>
        </p:nvSpPr>
        <p:spPr>
          <a:xfrm xmlns:a="http://schemas.openxmlformats.org/drawingml/2006/main">
            <a:off x="868680" y="2301240"/>
            <a:ext cx="22707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800" b="1">
                <a:solidFill>
                  <a:srgbClr val="14243B"/>
                </a:solidFill>
                <a:latin typeface="Arial"/>
                <a:ea typeface="Arial"/>
                <a:cs typeface="Arial"/>
              </a:defRPr>
            </a:pPr>
            <a:r>
              <a:rPr sz="4800" b="1">
                <a:solidFill>
                  <a:srgbClr val="14243B"/>
                </a:solidFill>
                <a:latin typeface="Arial"/>
                <a:ea typeface="Arial"/>
                <a:cs typeface="Arial"/>
              </a:rPr>
              <a:t>Single-pass scene reconstruction</a:t>
            </a:r>
          </a:p>
        </p:txBody>
      </p:sp>
      <p:sp>
        <p:nvSpPr>
          <p:cNvPr id="10" name="shape-25">
            <a:extLst xmlns:a="http://schemas.openxmlformats.org/drawingml/2006/main">
              <a:ext uri="{FF2B5EF4-FFF2-40B4-BE49-F238E27FC236}">
                <a16:creationId xmlns:a16="http://schemas.microsoft.com/office/drawing/2014/main" id="{7766D45D-8828-4AED-ADDF-95ECCBC33C8C}"/>
              </a:ext>
            </a:extLst>
          </p:cNvPr>
          <p:cNvSpPr>
            <a:spLocks xmlns:a="http://schemas.openxmlformats.org/drawingml/2006/main" noGrp="1"/>
          </p:cNvSpPr>
          <p:nvPr/>
        </p:nvSpPr>
        <p:spPr>
          <a:xfrm xmlns:a="http://schemas.openxmlformats.org/drawingml/2006/main">
            <a:off x="899160" y="3261360"/>
            <a:ext cx="22631400"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Video and telemetry support reconstruction of visible terrain, structures, roads, vegetation and obstacles.</a:t>
            </a:r>
          </a:p>
        </p:txBody>
      </p:sp>
      <p:sp>
        <p:nvSpPr>
          <p:cNvPr id="11" name="shape-26">
            <a:extLst xmlns:a="http://schemas.openxmlformats.org/drawingml/2006/main">
              <a:ext uri="{FF2B5EF4-FFF2-40B4-BE49-F238E27FC236}">
                <a16:creationId xmlns:a16="http://schemas.microsoft.com/office/drawing/2014/main" id="{E15EBBB3-CB7A-4805-9406-602A862E7C89}"/>
              </a:ext>
            </a:extLst>
          </p:cNvPr>
          <p:cNvSpPr>
            <a:spLocks xmlns:a="http://schemas.openxmlformats.org/drawingml/2006/main" noGrp="1"/>
          </p:cNvSpPr>
          <p:nvPr/>
        </p:nvSpPr>
        <p:spPr>
          <a:xfrm xmlns:a="http://schemas.openxmlformats.org/drawingml/2006/main">
            <a:off x="883920" y="4251960"/>
            <a:ext cx="7620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60" b="1">
                <a:solidFill>
                  <a:srgbClr val="2464C7"/>
                </a:solidFill>
                <a:latin typeface="Arial"/>
                <a:ea typeface="Arial"/>
                <a:cs typeface="Arial"/>
              </a:defRPr>
            </a:pPr>
            <a:r>
              <a:rPr sz="4560" b="1">
                <a:solidFill>
                  <a:srgbClr val="2464C7"/>
                </a:solidFill>
                <a:latin typeface="Arial"/>
                <a:ea typeface="Arial"/>
                <a:cs typeface="Arial"/>
              </a:rPr>
              <a:t>01</a:t>
            </a:r>
          </a:p>
        </p:txBody>
      </p:sp>
      <p:sp>
        <p:nvSpPr>
          <p:cNvPr id="12" name="shape-27">
            <a:extLst xmlns:a="http://schemas.openxmlformats.org/drawingml/2006/main">
              <a:ext uri="{FF2B5EF4-FFF2-40B4-BE49-F238E27FC236}">
                <a16:creationId xmlns:a16="http://schemas.microsoft.com/office/drawing/2014/main" id="{99B71D4E-EAD4-4313-8E24-78F34DBAA260}"/>
              </a:ext>
            </a:extLst>
          </p:cNvPr>
          <p:cNvSpPr>
            <a:spLocks xmlns:a="http://schemas.openxmlformats.org/drawingml/2006/main" noGrp="1"/>
          </p:cNvSpPr>
          <p:nvPr/>
        </p:nvSpPr>
        <p:spPr>
          <a:xfrm xmlns:a="http://schemas.openxmlformats.org/drawingml/2006/main">
            <a:off x="1844040" y="4297680"/>
            <a:ext cx="5394960"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2464C7"/>
                </a:solidFill>
                <a:latin typeface="Arial"/>
                <a:ea typeface="Arial"/>
                <a:cs typeface="Arial"/>
              </a:defRPr>
            </a:pPr>
            <a:r>
              <a:rPr sz="3600" b="1">
                <a:solidFill>
                  <a:srgbClr val="2464C7"/>
                </a:solidFill>
                <a:latin typeface="Arial"/>
                <a:ea typeface="Arial"/>
                <a:cs typeface="Arial"/>
              </a:rPr>
              <a:t>Read the flight</a:t>
            </a:r>
          </a:p>
        </p:txBody>
      </p:sp>
      <p:sp>
        <p:nvSpPr>
          <p:cNvPr id="13" name="shape-28">
            <a:extLst xmlns:a="http://schemas.openxmlformats.org/drawingml/2006/main">
              <a:ext uri="{FF2B5EF4-FFF2-40B4-BE49-F238E27FC236}">
                <a16:creationId xmlns:a16="http://schemas.microsoft.com/office/drawing/2014/main" id="{3828B9E8-12B1-4091-8BEF-629D24BCED1E}"/>
              </a:ext>
            </a:extLst>
          </p:cNvPr>
          <p:cNvSpPr>
            <a:spLocks xmlns:a="http://schemas.openxmlformats.org/drawingml/2006/main" noGrp="1"/>
          </p:cNvSpPr>
          <p:nvPr/>
        </p:nvSpPr>
        <p:spPr>
          <a:xfrm xmlns:a="http://schemas.openxmlformats.org/drawingml/2006/main">
            <a:off x="883920" y="5135880"/>
            <a:ext cx="6355080" cy="0"/>
          </a:xfrm>
          <a:prstGeom xmlns:a="http://schemas.openxmlformats.org/drawingml/2006/main" prst="line">
            <a:avLst/>
          </a:prstGeom>
          <a:noFill xmlns:a="http://schemas.openxmlformats.org/drawingml/2006/main"/>
          <a:ln xmlns:a="http://schemas.openxmlformats.org/drawingml/2006/main" w="15240">
            <a:solidFill>
              <a:srgbClr val="2464C7"/>
            </a:solidFill>
            <a:prstDash val="solid"/>
          </a:ln>
        </p:spPr>
      </p:sp>
      <p:sp>
        <p:nvSpPr>
          <p:cNvPr id="14" name="shape-29">
            <a:extLst xmlns:a="http://schemas.openxmlformats.org/drawingml/2006/main">
              <a:ext uri="{FF2B5EF4-FFF2-40B4-BE49-F238E27FC236}">
                <a16:creationId xmlns:a16="http://schemas.microsoft.com/office/drawing/2014/main" id="{E011D801-108B-48FA-9FC4-D83F51E5444A}"/>
              </a:ext>
            </a:extLst>
          </p:cNvPr>
          <p:cNvSpPr>
            <a:spLocks xmlns:a="http://schemas.openxmlformats.org/drawingml/2006/main" noGrp="1"/>
          </p:cNvSpPr>
          <p:nvPr/>
        </p:nvSpPr>
        <p:spPr>
          <a:xfrm xmlns:a="http://schemas.openxmlformats.org/drawingml/2006/main">
            <a:off x="8656320" y="4251960"/>
            <a:ext cx="7620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60" b="1">
                <a:solidFill>
                  <a:srgbClr val="087E70"/>
                </a:solidFill>
                <a:latin typeface="Arial"/>
                <a:ea typeface="Arial"/>
                <a:cs typeface="Arial"/>
              </a:defRPr>
            </a:pPr>
            <a:r>
              <a:rPr sz="4560" b="1">
                <a:solidFill>
                  <a:srgbClr val="087E70"/>
                </a:solidFill>
                <a:latin typeface="Arial"/>
                <a:ea typeface="Arial"/>
                <a:cs typeface="Arial"/>
              </a:rPr>
              <a:t>02</a:t>
            </a:r>
          </a:p>
        </p:txBody>
      </p:sp>
      <p:sp>
        <p:nvSpPr>
          <p:cNvPr id="15" name="shape-30">
            <a:extLst xmlns:a="http://schemas.openxmlformats.org/drawingml/2006/main">
              <a:ext uri="{FF2B5EF4-FFF2-40B4-BE49-F238E27FC236}">
                <a16:creationId xmlns:a16="http://schemas.microsoft.com/office/drawing/2014/main" id="{407353B2-A5CB-4CFA-88EF-05B0E95C1D0B}"/>
              </a:ext>
            </a:extLst>
          </p:cNvPr>
          <p:cNvSpPr>
            <a:spLocks xmlns:a="http://schemas.openxmlformats.org/drawingml/2006/main" noGrp="1"/>
          </p:cNvSpPr>
          <p:nvPr/>
        </p:nvSpPr>
        <p:spPr>
          <a:xfrm xmlns:a="http://schemas.openxmlformats.org/drawingml/2006/main">
            <a:off x="9616440" y="4297680"/>
            <a:ext cx="5821680"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087E70"/>
                </a:solidFill>
                <a:latin typeface="Arial"/>
                <a:ea typeface="Arial"/>
                <a:cs typeface="Arial"/>
              </a:defRPr>
            </a:pPr>
            <a:r>
              <a:rPr sz="3600" b="1">
                <a:solidFill>
                  <a:srgbClr val="087E70"/>
                </a:solidFill>
                <a:latin typeface="Arial"/>
                <a:ea typeface="Arial"/>
                <a:cs typeface="Arial"/>
              </a:rPr>
              <a:t>Build geometry</a:t>
            </a:r>
          </a:p>
        </p:txBody>
      </p:sp>
      <p:sp>
        <p:nvSpPr>
          <p:cNvPr id="16" name="shape-31">
            <a:extLst xmlns:a="http://schemas.openxmlformats.org/drawingml/2006/main">
              <a:ext uri="{FF2B5EF4-FFF2-40B4-BE49-F238E27FC236}">
                <a16:creationId xmlns:a16="http://schemas.microsoft.com/office/drawing/2014/main" id="{9148A4FA-CA58-46EA-A61B-BB4FCE72977E}"/>
              </a:ext>
            </a:extLst>
          </p:cNvPr>
          <p:cNvSpPr>
            <a:spLocks xmlns:a="http://schemas.openxmlformats.org/drawingml/2006/main" noGrp="1"/>
          </p:cNvSpPr>
          <p:nvPr/>
        </p:nvSpPr>
        <p:spPr>
          <a:xfrm xmlns:a="http://schemas.openxmlformats.org/drawingml/2006/main">
            <a:off x="8656320" y="5135880"/>
            <a:ext cx="6781800" cy="0"/>
          </a:xfrm>
          <a:prstGeom xmlns:a="http://schemas.openxmlformats.org/drawingml/2006/main" prst="line">
            <a:avLst/>
          </a:prstGeom>
          <a:noFill xmlns:a="http://schemas.openxmlformats.org/drawingml/2006/main"/>
          <a:ln xmlns:a="http://schemas.openxmlformats.org/drawingml/2006/main" w="15240">
            <a:solidFill>
              <a:srgbClr val="087E70"/>
            </a:solidFill>
            <a:prstDash val="solid"/>
          </a:ln>
        </p:spPr>
      </p:sp>
      <p:sp>
        <p:nvSpPr>
          <p:cNvPr id="17" name="shape-32">
            <a:extLst xmlns:a="http://schemas.openxmlformats.org/drawingml/2006/main">
              <a:ext uri="{FF2B5EF4-FFF2-40B4-BE49-F238E27FC236}">
                <a16:creationId xmlns:a16="http://schemas.microsoft.com/office/drawing/2014/main" id="{6AADD3A6-EAF0-4083-B73B-CEA9E8B722FF}"/>
              </a:ext>
            </a:extLst>
          </p:cNvPr>
          <p:cNvSpPr>
            <a:spLocks xmlns:a="http://schemas.openxmlformats.org/drawingml/2006/main" noGrp="1"/>
          </p:cNvSpPr>
          <p:nvPr/>
        </p:nvSpPr>
        <p:spPr>
          <a:xfrm xmlns:a="http://schemas.openxmlformats.org/drawingml/2006/main">
            <a:off x="16764000" y="4251960"/>
            <a:ext cx="7620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60" b="1">
                <a:solidFill>
                  <a:srgbClr val="7544C4"/>
                </a:solidFill>
                <a:latin typeface="Arial"/>
                <a:ea typeface="Arial"/>
                <a:cs typeface="Arial"/>
              </a:defRPr>
            </a:pPr>
            <a:r>
              <a:rPr sz="4560" b="1">
                <a:solidFill>
                  <a:srgbClr val="7544C4"/>
                </a:solidFill>
                <a:latin typeface="Arial"/>
                <a:ea typeface="Arial"/>
                <a:cs typeface="Arial"/>
              </a:rPr>
              <a:t>03</a:t>
            </a:r>
          </a:p>
        </p:txBody>
      </p:sp>
      <p:sp>
        <p:nvSpPr>
          <p:cNvPr id="18" name="shape-33">
            <a:extLst xmlns:a="http://schemas.openxmlformats.org/drawingml/2006/main">
              <a:ext uri="{FF2B5EF4-FFF2-40B4-BE49-F238E27FC236}">
                <a16:creationId xmlns:a16="http://schemas.microsoft.com/office/drawing/2014/main" id="{1C5832B7-5A8F-4243-98CF-248D8C196445}"/>
              </a:ext>
            </a:extLst>
          </p:cNvPr>
          <p:cNvSpPr>
            <a:spLocks xmlns:a="http://schemas.openxmlformats.org/drawingml/2006/main" noGrp="1"/>
          </p:cNvSpPr>
          <p:nvPr/>
        </p:nvSpPr>
        <p:spPr>
          <a:xfrm xmlns:a="http://schemas.openxmlformats.org/drawingml/2006/main">
            <a:off x="17724120" y="4297680"/>
            <a:ext cx="5928360"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7544C4"/>
                </a:solidFill>
                <a:latin typeface="Arial"/>
                <a:ea typeface="Arial"/>
                <a:cs typeface="Arial"/>
              </a:defRPr>
            </a:pPr>
            <a:r>
              <a:rPr sz="3600" b="1">
                <a:solidFill>
                  <a:srgbClr val="7544C4"/>
                </a:solidFill>
                <a:latin typeface="Arial"/>
                <a:ea typeface="Arial"/>
                <a:cs typeface="Arial"/>
              </a:rPr>
              <a:t>Review appearance</a:t>
            </a:r>
          </a:p>
        </p:txBody>
      </p:sp>
      <p:sp>
        <p:nvSpPr>
          <p:cNvPr id="19" name="shape-34">
            <a:extLst xmlns:a="http://schemas.openxmlformats.org/drawingml/2006/main">
              <a:ext uri="{FF2B5EF4-FFF2-40B4-BE49-F238E27FC236}">
                <a16:creationId xmlns:a16="http://schemas.microsoft.com/office/drawing/2014/main" id="{B3A513D3-FC80-4897-A1CA-10596B4C323E}"/>
              </a:ext>
            </a:extLst>
          </p:cNvPr>
          <p:cNvSpPr>
            <a:spLocks xmlns:a="http://schemas.openxmlformats.org/drawingml/2006/main" noGrp="1"/>
          </p:cNvSpPr>
          <p:nvPr/>
        </p:nvSpPr>
        <p:spPr>
          <a:xfrm xmlns:a="http://schemas.openxmlformats.org/drawingml/2006/main">
            <a:off x="16764000" y="5135880"/>
            <a:ext cx="6888480" cy="0"/>
          </a:xfrm>
          <a:prstGeom xmlns:a="http://schemas.openxmlformats.org/drawingml/2006/main" prst="line">
            <a:avLst/>
          </a:prstGeom>
          <a:noFill xmlns:a="http://schemas.openxmlformats.org/drawingml/2006/main"/>
          <a:ln xmlns:a="http://schemas.openxmlformats.org/drawingml/2006/main" w="15240">
            <a:solidFill>
              <a:srgbClr val="7544C4"/>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852c3c901f2e411f"/>
          <a:stretch xmlns:a="http://schemas.openxmlformats.org/drawingml/2006/main"/>
        </p:blipFill>
        <p:spPr>
          <a:xfrm xmlns:a="http://schemas.openxmlformats.org/drawingml/2006/main">
            <a:off x="899160" y="5593080"/>
            <a:ext cx="6339840" cy="3566160"/>
          </a:xfrm>
          <a:prstGeom xmlns:a="http://schemas.openxmlformats.org/drawingml/2006/main" prst="rect">
            <a:avLst/>
          </a:prstGeom>
        </p:spPr>
      </p:pic>
      <p:sp>
        <p:nvSpPr>
          <p:cNvPr id="21" name="shape-35">
            <a:extLst xmlns:a="http://schemas.openxmlformats.org/drawingml/2006/main">
              <a:ext uri="{FF2B5EF4-FFF2-40B4-BE49-F238E27FC236}">
                <a16:creationId xmlns:a16="http://schemas.microsoft.com/office/drawing/2014/main" id="{0B5D5A07-8E4C-4E23-A006-2673B7F65A93}"/>
              </a:ext>
            </a:extLst>
          </p:cNvPr>
          <p:cNvSpPr>
            <a:spLocks xmlns:a="http://schemas.openxmlformats.org/drawingml/2006/main" noGrp="1"/>
          </p:cNvSpPr>
          <p:nvPr/>
        </p:nvSpPr>
        <p:spPr>
          <a:xfrm xmlns:a="http://schemas.openxmlformats.org/drawingml/2006/main">
            <a:off x="7482078" y="740587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shape-36">
            <a:extLst xmlns:a="http://schemas.openxmlformats.org/drawingml/2006/main">
              <a:ext uri="{FF2B5EF4-FFF2-40B4-BE49-F238E27FC236}">
                <a16:creationId xmlns:a16="http://schemas.microsoft.com/office/drawing/2014/main" id="{018256FA-BA10-4E5D-9D03-065A8A44A36A}"/>
              </a:ext>
            </a:extLst>
          </p:cNvPr>
          <p:cNvSpPr>
            <a:spLocks xmlns:a="http://schemas.openxmlformats.org/drawingml/2006/main" noGrp="1"/>
          </p:cNvSpPr>
          <p:nvPr/>
        </p:nvSpPr>
        <p:spPr>
          <a:xfrm xmlns:a="http://schemas.openxmlformats.org/drawingml/2006/main">
            <a:off x="8350758" y="740587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57" name=""/>
          <p:cNvCxnSpPr>
            <a:stCxn xmlns:a="http://schemas.openxmlformats.org/drawingml/2006/main" id="21" idx="3"/>
            <a:endCxn xmlns:a="http://schemas.openxmlformats.org/drawingml/2006/main" id="22" idx="1"/>
          </p:cNvCxnSpPr>
          <p:nvPr/>
        </p:nvCxnSpPr>
        <p:spPr>
          <a:xfrm xmlns:a="http://schemas.openxmlformats.org/drawingml/2006/main">
            <a:off x="7483602" y="7406640"/>
            <a:ext cx="867156" cy="0"/>
          </a:xfrm>
          <a:prstGeom xmlns:a="http://schemas.openxmlformats.org/drawingml/2006/main" prst="straightConnector1">
            <a:avLst/>
          </a:prstGeom>
          <a:ln xmlns:a="http://schemas.openxmlformats.org/drawingml/2006/main" w="35052">
            <a:solidFill>
              <a:srgbClr val="2464C7"/>
            </a:solidFill>
            <a:prstDash val="solid"/>
          </a:ln>
        </p:spPr>
      </p:cxnSp>
      <p:sp>
        <p:nvSpPr>
          <p:cNvPr id="24" name="shape-37">
            <a:extLst xmlns:a="http://schemas.openxmlformats.org/drawingml/2006/main">
              <a:ext uri="{FF2B5EF4-FFF2-40B4-BE49-F238E27FC236}">
                <a16:creationId xmlns:a16="http://schemas.microsoft.com/office/drawing/2014/main" id="{EE3F6ECA-6BD3-4C64-9A3F-21FC76D7C415}"/>
              </a:ext>
            </a:extLst>
          </p:cNvPr>
          <p:cNvSpPr>
            <a:spLocks xmlns:a="http://schemas.openxmlformats.org/drawingml/2006/main" noGrp="1"/>
          </p:cNvSpPr>
          <p:nvPr/>
        </p:nvSpPr>
        <p:spPr>
          <a:xfrm xmlns:a="http://schemas.openxmlformats.org/drawingml/2006/main" rot="5400000">
            <a:off x="8199120" y="7330440"/>
            <a:ext cx="152400" cy="152400"/>
          </a:xfrm>
          <a:prstGeom xmlns:a="http://schemas.openxmlformats.org/drawingml/2006/main" prst="triangle">
            <a:avLst/>
          </a:prstGeom>
          <a:solidFill xmlns:a="http://schemas.openxmlformats.org/drawingml/2006/main">
            <a:srgbClr val="2464C7"/>
          </a:solidFill>
          <a:ln xmlns:a="http://schemas.openxmlformats.org/drawingml/2006/main" w="0">
            <a:no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82bb82c2adc4df6"/>
          <a:srcRect xmlns:a="http://schemas.openxmlformats.org/drawingml/2006/main" l="34000" t="25500" r="35500" b="19000"/>
          <a:stretch xmlns:a="http://schemas.openxmlformats.org/drawingml/2006/main"/>
        </p:blipFill>
        <p:spPr>
          <a:xfrm xmlns:a="http://schemas.openxmlformats.org/drawingml/2006/main">
            <a:off x="9616440" y="5349240"/>
            <a:ext cx="4853788" cy="4968240"/>
          </a:xfrm>
          <a:prstGeom xmlns:a="http://schemas.openxmlformats.org/drawingml/2006/main" prst="rect">
            <a:avLst/>
          </a:prstGeom>
        </p:spPr>
      </p:pic>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4329865415b94444"/>
          <a:srcRect xmlns:a="http://schemas.openxmlformats.org/drawingml/2006/main" l="50000" t="0" r="0" b="0"/>
          <a:stretch xmlns:a="http://schemas.openxmlformats.org/drawingml/2006/main"/>
        </p:blipFill>
        <p:spPr>
          <a:xfrm xmlns:a="http://schemas.openxmlformats.org/drawingml/2006/main">
            <a:off x="16779240" y="5593080"/>
            <a:ext cx="6858000" cy="3855720"/>
          </a:xfrm>
          <a:prstGeom xmlns:a="http://schemas.openxmlformats.org/drawingml/2006/main" prst="rect">
            <a:avLst/>
          </a:prstGeom>
        </p:spPr>
      </p:pic>
      <p:sp>
        <p:nvSpPr>
          <p:cNvPr id="27" name="shape-38">
            <a:extLst xmlns:a="http://schemas.openxmlformats.org/drawingml/2006/main">
              <a:ext uri="{FF2B5EF4-FFF2-40B4-BE49-F238E27FC236}">
                <a16:creationId xmlns:a16="http://schemas.microsoft.com/office/drawing/2014/main" id="{8F8FD274-C51A-420D-B3E9-EB59589E175E}"/>
              </a:ext>
            </a:extLst>
          </p:cNvPr>
          <p:cNvSpPr>
            <a:spLocks xmlns:a="http://schemas.openxmlformats.org/drawingml/2006/main" noGrp="1"/>
          </p:cNvSpPr>
          <p:nvPr/>
        </p:nvSpPr>
        <p:spPr>
          <a:xfrm xmlns:a="http://schemas.openxmlformats.org/drawingml/2006/main">
            <a:off x="899160" y="9540240"/>
            <a:ext cx="640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2464C7"/>
                </a:solidFill>
                <a:latin typeface="Arial"/>
                <a:ea typeface="Arial"/>
                <a:cs typeface="Arial"/>
              </a:defRPr>
            </a:pPr>
            <a:r>
              <a:rPr sz="3000" b="1">
                <a:solidFill>
                  <a:srgbClr val="2464C7"/>
                </a:solidFill>
                <a:latin typeface="Arial"/>
                <a:ea typeface="Arial"/>
                <a:cs typeface="Arial"/>
              </a:rPr>
              <a:t>Video + GPS + flight metadata</a:t>
            </a:r>
          </a:p>
        </p:txBody>
      </p:sp>
      <p:sp>
        <p:nvSpPr>
          <p:cNvPr id="28" name="shape-39">
            <a:extLst xmlns:a="http://schemas.openxmlformats.org/drawingml/2006/main">
              <a:ext uri="{FF2B5EF4-FFF2-40B4-BE49-F238E27FC236}">
                <a16:creationId xmlns:a16="http://schemas.microsoft.com/office/drawing/2014/main" id="{70EB9D50-3E5C-456C-BCBA-C2AE2440D116}"/>
              </a:ext>
            </a:extLst>
          </p:cNvPr>
          <p:cNvSpPr>
            <a:spLocks xmlns:a="http://schemas.openxmlformats.org/drawingml/2006/main" noGrp="1"/>
          </p:cNvSpPr>
          <p:nvPr/>
        </p:nvSpPr>
        <p:spPr>
          <a:xfrm xmlns:a="http://schemas.openxmlformats.org/drawingml/2006/main">
            <a:off x="899160" y="10287000"/>
            <a:ext cx="658368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Required video: 1080p or 4K</a:t>
            </a:r>
          </a:p>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Recorded demo: 60 s, 180 keyframes</a:t>
            </a:r>
          </a:p>
        </p:txBody>
      </p:sp>
      <p:sp>
        <p:nvSpPr>
          <p:cNvPr id="29" name="shape-40">
            <a:extLst xmlns:a="http://schemas.openxmlformats.org/drawingml/2006/main">
              <a:ext uri="{FF2B5EF4-FFF2-40B4-BE49-F238E27FC236}">
                <a16:creationId xmlns:a16="http://schemas.microsoft.com/office/drawing/2014/main" id="{1015444F-F08A-4B29-98EB-FCB063E5AB0D}"/>
              </a:ext>
            </a:extLst>
          </p:cNvPr>
          <p:cNvSpPr>
            <a:spLocks xmlns:a="http://schemas.openxmlformats.org/drawingml/2006/main" noGrp="1"/>
          </p:cNvSpPr>
          <p:nvPr/>
        </p:nvSpPr>
        <p:spPr>
          <a:xfrm xmlns:a="http://schemas.openxmlformats.org/drawingml/2006/main">
            <a:off x="8656320" y="10607040"/>
            <a:ext cx="675132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240" b="1">
                <a:solidFill>
                  <a:srgbClr val="087E70"/>
                </a:solidFill>
                <a:latin typeface="Arial"/>
                <a:ea typeface="Arial"/>
                <a:cs typeface="Arial"/>
              </a:defRPr>
            </a:pPr>
            <a:r>
              <a:rPr sz="3240" b="1">
                <a:solidFill>
                  <a:srgbClr val="087E70"/>
                </a:solidFill>
                <a:latin typeface="Arial"/>
                <a:ea typeface="Arial"/>
                <a:cs typeface="Arial"/>
              </a:rPr>
              <a:t>Mesh / point cloud</a:t>
            </a:r>
          </a:p>
        </p:txBody>
      </p:sp>
      <p:sp>
        <p:nvSpPr>
          <p:cNvPr id="30" name="shape-41">
            <a:extLst xmlns:a="http://schemas.openxmlformats.org/drawingml/2006/main">
              <a:ext uri="{FF2B5EF4-FFF2-40B4-BE49-F238E27FC236}">
                <a16:creationId xmlns:a16="http://schemas.microsoft.com/office/drawing/2014/main" id="{5675D10B-9F0F-4830-969A-9F987E9D0B89}"/>
              </a:ext>
            </a:extLst>
          </p:cNvPr>
          <p:cNvSpPr>
            <a:spLocks xmlns:a="http://schemas.openxmlformats.org/drawingml/2006/main" noGrp="1"/>
          </p:cNvSpPr>
          <p:nvPr/>
        </p:nvSpPr>
        <p:spPr>
          <a:xfrm xmlns:a="http://schemas.openxmlformats.org/drawingml/2006/main">
            <a:off x="8656320" y="11338560"/>
            <a:ext cx="679704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Partial scene with fusion artifacts.</a:t>
            </a:r>
          </a:p>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Spatial accuracy still needs validation.</a:t>
            </a:r>
          </a:p>
        </p:txBody>
      </p:sp>
      <p:sp>
        <p:nvSpPr>
          <p:cNvPr id="31" name="shape-42">
            <a:extLst xmlns:a="http://schemas.openxmlformats.org/drawingml/2006/main">
              <a:ext uri="{FF2B5EF4-FFF2-40B4-BE49-F238E27FC236}">
                <a16:creationId xmlns:a16="http://schemas.microsoft.com/office/drawing/2014/main" id="{A00E91A1-4AAC-4826-8397-A7B19A84696C}"/>
              </a:ext>
            </a:extLst>
          </p:cNvPr>
          <p:cNvSpPr>
            <a:spLocks xmlns:a="http://schemas.openxmlformats.org/drawingml/2006/main" noGrp="1"/>
          </p:cNvSpPr>
          <p:nvPr/>
        </p:nvSpPr>
        <p:spPr>
          <a:xfrm xmlns:a="http://schemas.openxmlformats.org/drawingml/2006/main">
            <a:off x="16764000" y="9875520"/>
            <a:ext cx="690372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7544C4"/>
                </a:solidFill>
                <a:latin typeface="Arial"/>
                <a:ea typeface="Arial"/>
                <a:cs typeface="Arial"/>
              </a:defRPr>
            </a:pPr>
            <a:r>
              <a:rPr sz="3000" b="1">
                <a:solidFill>
                  <a:srgbClr val="7544C4"/>
                </a:solidFill>
                <a:latin typeface="Arial"/>
                <a:ea typeface="Arial"/>
                <a:cs typeface="Arial"/>
              </a:rPr>
              <a:t>Optional Gaussian splatting</a:t>
            </a:r>
          </a:p>
        </p:txBody>
      </p:sp>
      <p:sp>
        <p:nvSpPr>
          <p:cNvPr id="32" name="shape-43">
            <a:extLst xmlns:a="http://schemas.openxmlformats.org/drawingml/2006/main">
              <a:ext uri="{FF2B5EF4-FFF2-40B4-BE49-F238E27FC236}">
                <a16:creationId xmlns:a16="http://schemas.microsoft.com/office/drawing/2014/main" id="{1DA773F2-DE66-4302-B2A8-420A45669E6D}"/>
              </a:ext>
            </a:extLst>
          </p:cNvPr>
          <p:cNvSpPr>
            <a:spLocks xmlns:a="http://schemas.openxmlformats.org/drawingml/2006/main" noGrp="1"/>
          </p:cNvSpPr>
          <p:nvPr/>
        </p:nvSpPr>
        <p:spPr>
          <a:xfrm xmlns:a="http://schemas.openxmlformats.org/drawingml/2006/main">
            <a:off x="16764000" y="10607040"/>
            <a:ext cx="6888480" cy="1036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Fits the scene for realistic rendering.</a:t>
            </a:r>
          </a:p>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Appearance cannot certify dimensions.</a:t>
            </a:r>
          </a:p>
        </p:txBody>
      </p:sp>
      <p:sp>
        <p:nvSpPr>
          <p:cNvPr id="33" name="shape-44">
            <a:extLst xmlns:a="http://schemas.openxmlformats.org/drawingml/2006/main">
              <a:ext uri="{FF2B5EF4-FFF2-40B4-BE49-F238E27FC236}">
                <a16:creationId xmlns:a16="http://schemas.microsoft.com/office/drawing/2014/main" id="{A01A92D8-E67F-4DA0-9CA3-59CB3032BAFE}"/>
              </a:ext>
            </a:extLst>
          </p:cNvPr>
          <p:cNvSpPr>
            <a:spLocks xmlns:a="http://schemas.openxmlformats.org/drawingml/2006/main" noGrp="1"/>
          </p:cNvSpPr>
          <p:nvPr/>
        </p:nvSpPr>
        <p:spPr>
          <a:xfrm xmlns:a="http://schemas.openxmlformats.org/drawingml/2006/main">
            <a:off x="16764000" y="11902440"/>
            <a:ext cx="6888480"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80" b="0">
                <a:solidFill>
                  <a:srgbClr val="516178"/>
                </a:solidFill>
                <a:latin typeface="Arial"/>
                <a:ea typeface="Arial"/>
                <a:cs typeface="Arial"/>
              </a:defRPr>
            </a:pPr>
            <a:r>
              <a:rPr sz="2280" b="0">
                <a:solidFill>
                  <a:srgbClr val="516178"/>
                </a:solidFill>
                <a:latin typeface="Arial"/>
                <a:ea typeface="Arial"/>
                <a:cs typeface="Arial"/>
              </a:rPr>
              <a:t>W000: PSNR 20.41 dB, SSIM 0.631</a:t>
            </a:r>
          </a:p>
          <a:p xmlns:a="http://schemas.openxmlformats.org/drawingml/2006/main">
            <a:pPr algn="l">
              <a:lnSpc>
                <a:spcPct val="108000"/>
              </a:lnSpc>
              <a:buNone/>
              <a:defRPr sz="2280" b="0">
                <a:solidFill>
                  <a:srgbClr val="516178"/>
                </a:solidFill>
                <a:latin typeface="Arial"/>
                <a:ea typeface="Arial"/>
                <a:cs typeface="Arial"/>
              </a:defRPr>
            </a:pPr>
            <a:r>
              <a:rPr sz="2280" b="0">
                <a:solidFill>
                  <a:srgbClr val="516178"/>
                </a:solidFill>
                <a:latin typeface="Arial"/>
                <a:ea typeface="Arial"/>
                <a:cs typeface="Arial"/>
              </a:rPr>
              <a:t>LPIPS 0.226</a:t>
            </a:r>
          </a:p>
        </p:txBody>
      </p:sp>
      <p:sp>
        <p:nvSpPr>
          <p:cNvPr id="34" name="shape-45">
            <a:extLst xmlns:a="http://schemas.openxmlformats.org/drawingml/2006/main">
              <a:ext uri="{FF2B5EF4-FFF2-40B4-BE49-F238E27FC236}">
                <a16:creationId xmlns:a16="http://schemas.microsoft.com/office/drawing/2014/main" id="{EB6A6865-5ABE-4E6C-81FF-72C65FB8A78E}"/>
              </a:ext>
            </a:extLst>
          </p:cNvPr>
          <p:cNvSpPr>
            <a:spLocks xmlns:a="http://schemas.openxmlformats.org/drawingml/2006/main" noGrp="1"/>
          </p:cNvSpPr>
          <p:nvPr/>
        </p:nvSpPr>
        <p:spPr>
          <a:xfrm xmlns:a="http://schemas.openxmlformats.org/drawingml/2006/main">
            <a:off x="899160" y="11734800"/>
            <a:ext cx="6629400" cy="929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20" b="0">
                <a:solidFill>
                  <a:srgbClr val="516178"/>
                </a:solidFill>
                <a:latin typeface="Arial"/>
                <a:ea typeface="Arial"/>
                <a:cs typeface="Arial"/>
              </a:defRPr>
            </a:pPr>
            <a:r>
              <a:rPr sz="2520" b="0">
                <a:solidFill>
                  <a:srgbClr val="516178"/>
                </a:solidFill>
                <a:latin typeface="Arial"/>
                <a:ea typeface="Arial"/>
                <a:cs typeface="Arial"/>
              </a:rPr>
              <a:t>Optional: IMU, altitude, calibration,</a:t>
            </a:r>
          </a:p>
          <a:p xmlns:a="http://schemas.openxmlformats.org/drawingml/2006/main">
            <a:pPr algn="l">
              <a:lnSpc>
                <a:spcPct val="108000"/>
              </a:lnSpc>
              <a:buNone/>
              <a:defRPr sz="2520" b="0">
                <a:solidFill>
                  <a:srgbClr val="516178"/>
                </a:solidFill>
                <a:latin typeface="Arial"/>
                <a:ea typeface="Arial"/>
                <a:cs typeface="Arial"/>
              </a:defRPr>
            </a:pPr>
            <a:r>
              <a:rPr sz="2520" b="0">
                <a:solidFill>
                  <a:srgbClr val="516178"/>
                </a:solidFill>
                <a:latin typeface="Arial"/>
                <a:ea typeface="Arial"/>
                <a:cs typeface="Arial"/>
              </a:rPr>
              <a:t>RTK/PPK corrections.</a:t>
            </a:r>
          </a:p>
        </p:txBody>
      </p:sp>
    </p:spTree>
    <p:extLst>
      <p:ext uri="{BB962C8B-B14F-4D97-AF65-F5344CB8AC3E}">
        <p14:creationId xmlns:p14="http://schemas.microsoft.com/office/powerpoint/2010/main" val="383881888"/>
      </p:ext>
    </p:extLst>
  </p:cSld>
</p:sld>
</file>

<file path=ppt/slides/slide3.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sp>
        <p:nvSpPr>
          <p:cNvPr id="92" name="shape-46">
            <a:extLst xmlns:a="http://schemas.openxmlformats.org/drawingml/2006/main">
              <a:ext uri="{FF2B5EF4-FFF2-40B4-BE49-F238E27FC236}">
                <a16:creationId xmlns:a16="http://schemas.microsoft.com/office/drawing/2014/main" id="{6B58CBBF-FB45-4A00-A59F-A083CD55E71B}"/>
              </a:ext>
            </a:extLst>
          </p:cNvPr>
          <p:cNvSpPr>
            <a:spLocks xmlns:a="http://schemas.openxmlformats.org/drawingml/2006/main" noGrp="1"/>
          </p:cNvSpPr>
          <p:nvPr/>
        </p:nvSpPr>
        <p:spPr>
          <a:xfrm xmlns:a="http://schemas.openxmlformats.org/drawingml/2006/main">
            <a:off x="91440" y="76200"/>
            <a:ext cx="24201120" cy="13563600"/>
          </a:xfrm>
          <a:prstGeom xmlns:a="http://schemas.openxmlformats.org/drawingml/2006/main" prst="rect">
            <a:avLst/>
          </a:prstGeom>
          <a:noFill xmlns:a="http://schemas.openxmlformats.org/drawingml/2006/main"/>
          <a:ln xmlns:a="http://schemas.openxmlformats.org/drawingml/2006/main" w="15240">
            <a:solidFill>
              <a:srgbClr val="E4E7EB"/>
            </a:solidFill>
            <a:prstDash val="solid"/>
          </a:ln>
        </p:spPr>
      </p:sp>
      <p:sp>
        <p:nvSpPr>
          <p:cNvPr id="2" name="shape-47">
            <a:extLst xmlns:a="http://schemas.openxmlformats.org/drawingml/2006/main">
              <a:ext uri="{FF2B5EF4-FFF2-40B4-BE49-F238E27FC236}">
                <a16:creationId xmlns:a16="http://schemas.microsoft.com/office/drawing/2014/main" id="{F43157D3-8EE3-41FE-8C45-BBA8850DC9DE}"/>
              </a:ext>
            </a:extLst>
          </p:cNvPr>
          <p:cNvSpPr>
            <a:spLocks xmlns:a="http://schemas.openxmlformats.org/drawingml/2006/main" noGrp="1"/>
          </p:cNvSpPr>
          <p:nvPr/>
        </p:nvSpPr>
        <p:spPr>
          <a:xfrm xmlns:a="http://schemas.openxmlformats.org/drawingml/2006/main">
            <a:off x="868680" y="640080"/>
            <a:ext cx="320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720" b="1">
                <a:solidFill>
                  <a:srgbClr val="087E70"/>
                </a:solidFill>
                <a:latin typeface="Arial"/>
                <a:ea typeface="Arial"/>
                <a:cs typeface="Arial"/>
              </a:defRPr>
            </a:pPr>
            <a:r>
              <a:rPr sz="3720" b="1">
                <a:solidFill>
                  <a:srgbClr val="087E70"/>
                </a:solidFill>
                <a:latin typeface="Arial"/>
                <a:ea typeface="Arial"/>
                <a:cs typeface="Arial"/>
              </a:rPr>
              <a:t>VoxelFlight</a:t>
            </a:r>
          </a:p>
        </p:txBody>
      </p:sp>
      <p:sp>
        <p:nvSpPr>
          <p:cNvPr id="3" name="shape-48">
            <a:extLst xmlns:a="http://schemas.openxmlformats.org/drawingml/2006/main">
              <a:ext uri="{FF2B5EF4-FFF2-40B4-BE49-F238E27FC236}">
                <a16:creationId xmlns:a16="http://schemas.microsoft.com/office/drawing/2014/main" id="{A14F6E18-2E78-4D66-A3EF-D2C785E38255}"/>
              </a:ext>
            </a:extLst>
          </p:cNvPr>
          <p:cNvSpPr>
            <a:spLocks xmlns:a="http://schemas.openxmlformats.org/drawingml/2006/main" noGrp="1"/>
          </p:cNvSpPr>
          <p:nvPr/>
        </p:nvSpPr>
        <p:spPr>
          <a:xfrm xmlns:a="http://schemas.openxmlformats.org/drawingml/2006/main">
            <a:off x="4343400" y="533400"/>
            <a:ext cx="15240000" cy="1082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760" b="1">
                <a:solidFill>
                  <a:srgbClr val="14243B"/>
                </a:solidFill>
                <a:latin typeface="Times New Roman"/>
                <a:ea typeface="Times New Roman"/>
                <a:cs typeface="Times New Roman"/>
              </a:defRPr>
            </a:pPr>
            <a:r>
              <a:rPr sz="5760" b="1">
                <a:solidFill>
                  <a:srgbClr val="14243B"/>
                </a:solidFill>
                <a:latin typeface="Times New Roman"/>
                <a:ea typeface="Times New Roman"/>
                <a:cs typeface="Times New Roman"/>
              </a:rPr>
              <a:t>TECHNICAL APPROACH</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d5140355aed44cb9"/>
          <a:stretch xmlns:a="http://schemas.openxmlformats.org/drawingml/2006/main"/>
        </p:blipFill>
        <p:spPr>
          <a:xfrm xmlns:a="http://schemas.openxmlformats.org/drawingml/2006/main">
            <a:off x="19903440" y="220568"/>
            <a:ext cx="1219200" cy="1433384"/>
          </a:xfrm>
          <a:prstGeom xmlns:a="http://schemas.openxmlformats.org/drawingml/2006/main" prst="rect">
            <a:avLst/>
          </a:prstGeom>
        </p:spPr>
      </p:pic>
      <p:sp>
        <p:nvSpPr>
          <p:cNvPr id="5" name="shape-49">
            <a:extLst xmlns:a="http://schemas.openxmlformats.org/drawingml/2006/main">
              <a:ext uri="{FF2B5EF4-FFF2-40B4-BE49-F238E27FC236}">
                <a16:creationId xmlns:a16="http://schemas.microsoft.com/office/drawing/2014/main" id="{1EBA4514-F89E-4382-8679-2D48155541CC}"/>
              </a:ext>
            </a:extLst>
          </p:cNvPr>
          <p:cNvSpPr>
            <a:spLocks xmlns:a="http://schemas.openxmlformats.org/drawingml/2006/main" noGrp="1"/>
          </p:cNvSpPr>
          <p:nvPr/>
        </p:nvSpPr>
        <p:spPr>
          <a:xfrm xmlns:a="http://schemas.openxmlformats.org/drawingml/2006/main">
            <a:off x="21305520" y="563880"/>
            <a:ext cx="240792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SMART INDIA</a:t>
            </a:r>
          </a:p>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HACKATHON 2026</a:t>
            </a:r>
          </a:p>
        </p:txBody>
      </p:sp>
      <p:sp>
        <p:nvSpPr>
          <p:cNvPr id="6" name="shape-50">
            <a:extLst xmlns:a="http://schemas.openxmlformats.org/drawingml/2006/main">
              <a:ext uri="{FF2B5EF4-FFF2-40B4-BE49-F238E27FC236}">
                <a16:creationId xmlns:a16="http://schemas.microsoft.com/office/drawing/2014/main" id="{EC90FB81-EB64-4E9A-B7F1-3999879F0BC2}"/>
              </a:ext>
            </a:extLst>
          </p:cNvPr>
          <p:cNvSpPr>
            <a:spLocks xmlns:a="http://schemas.openxmlformats.org/drawingml/2006/main" noGrp="1"/>
          </p:cNvSpPr>
          <p:nvPr/>
        </p:nvSpPr>
        <p:spPr>
          <a:xfrm xmlns:a="http://schemas.openxmlformats.org/drawingml/2006/main">
            <a:off x="868680" y="1905000"/>
            <a:ext cx="22768560" cy="0"/>
          </a:xfrm>
          <a:prstGeom xmlns:a="http://schemas.openxmlformats.org/drawingml/2006/main" prst="line">
            <a:avLst/>
          </a:prstGeom>
          <a:noFill xmlns:a="http://schemas.openxmlformats.org/drawingml/2006/main"/>
          <a:ln xmlns:a="http://schemas.openxmlformats.org/drawingml/2006/main" w="15240">
            <a:solidFill>
              <a:srgbClr val="7544C4"/>
            </a:solidFill>
            <a:prstDash val="solid"/>
          </a:ln>
        </p:spPr>
      </p:sp>
      <p:sp>
        <p:nvSpPr>
          <p:cNvPr id="7" name="shape-51">
            <a:extLst xmlns:a="http://schemas.openxmlformats.org/drawingml/2006/main">
              <a:ext uri="{FF2B5EF4-FFF2-40B4-BE49-F238E27FC236}">
                <a16:creationId xmlns:a16="http://schemas.microsoft.com/office/drawing/2014/main" id="{E41B3C0D-7E94-469E-B18D-C74B837A84C9}"/>
              </a:ext>
            </a:extLst>
          </p:cNvPr>
          <p:cNvSpPr>
            <a:spLocks xmlns:a="http://schemas.openxmlformats.org/drawingml/2006/main" noGrp="1"/>
          </p:cNvSpPr>
          <p:nvPr/>
        </p:nvSpPr>
        <p:spPr>
          <a:xfrm xmlns:a="http://schemas.openxmlformats.org/drawingml/2006/main">
            <a:off x="868680" y="13060680"/>
            <a:ext cx="182880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20" b="0">
                <a:solidFill>
                  <a:srgbClr val="516178"/>
                </a:solidFill>
                <a:latin typeface="Arial"/>
                <a:ea typeface="Arial"/>
                <a:cs typeface="Arial"/>
              </a:defRPr>
            </a:pPr>
            <a:r>
              <a:rPr sz="1920" b="0">
                <a:solidFill>
                  <a:srgbClr val="516178"/>
                </a:solidFill>
                <a:latin typeface="Arial"/>
                <a:ea typeface="Arial"/>
                <a:cs typeface="Arial"/>
              </a:rPr>
              <a:t>SIH26158  /  SOFTWARE  /  DRONE &amp; ROBOTICS</a:t>
            </a:r>
          </a:p>
        </p:txBody>
      </p:sp>
      <p:sp>
        <p:nvSpPr>
          <p:cNvPr id="8" name="shape-52">
            <a:extLst xmlns:a="http://schemas.openxmlformats.org/drawingml/2006/main">
              <a:ext uri="{FF2B5EF4-FFF2-40B4-BE49-F238E27FC236}">
                <a16:creationId xmlns:a16="http://schemas.microsoft.com/office/drawing/2014/main" id="{DACC4522-0E0C-469F-8197-231EE6B7448D}"/>
              </a:ext>
            </a:extLst>
          </p:cNvPr>
          <p:cNvSpPr>
            <a:spLocks xmlns:a="http://schemas.openxmlformats.org/drawingml/2006/main" noGrp="1"/>
          </p:cNvSpPr>
          <p:nvPr/>
        </p:nvSpPr>
        <p:spPr>
          <a:xfrm xmlns:a="http://schemas.openxmlformats.org/drawingml/2006/main">
            <a:off x="22555200" y="13060680"/>
            <a:ext cx="109728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2040" b="0">
                <a:solidFill>
                  <a:srgbClr val="516178"/>
                </a:solidFill>
                <a:latin typeface="Arial"/>
                <a:ea typeface="Arial"/>
                <a:cs typeface="Arial"/>
              </a:defRPr>
            </a:pPr>
            <a:r>
              <a:rPr sz="2040" b="0">
                <a:solidFill>
                  <a:srgbClr val="516178"/>
                </a:solidFill>
                <a:latin typeface="Arial"/>
                <a:ea typeface="Arial"/>
                <a:cs typeface="Arial"/>
              </a:rPr>
              <a:t>03 / 06</a:t>
            </a:r>
          </a:p>
        </p:txBody>
      </p:sp>
      <p:sp>
        <p:nvSpPr>
          <p:cNvPr id="9" name="shape-53">
            <a:extLst xmlns:a="http://schemas.openxmlformats.org/drawingml/2006/main">
              <a:ext uri="{FF2B5EF4-FFF2-40B4-BE49-F238E27FC236}">
                <a16:creationId xmlns:a16="http://schemas.microsoft.com/office/drawing/2014/main" id="{BDE8FB50-FC73-43BD-9FBE-D48F51494E7E}"/>
              </a:ext>
            </a:extLst>
          </p:cNvPr>
          <p:cNvSpPr>
            <a:spLocks xmlns:a="http://schemas.openxmlformats.org/drawingml/2006/main" noGrp="1"/>
          </p:cNvSpPr>
          <p:nvPr/>
        </p:nvSpPr>
        <p:spPr>
          <a:xfrm xmlns:a="http://schemas.openxmlformats.org/drawingml/2006/main">
            <a:off x="868680" y="2301240"/>
            <a:ext cx="22707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800" b="1">
                <a:solidFill>
                  <a:srgbClr val="14243B"/>
                </a:solidFill>
                <a:latin typeface="Arial"/>
                <a:ea typeface="Arial"/>
                <a:cs typeface="Arial"/>
              </a:defRPr>
            </a:pPr>
            <a:r>
              <a:rPr sz="4800" b="1">
                <a:solidFill>
                  <a:srgbClr val="14243B"/>
                </a:solidFill>
                <a:latin typeface="Arial"/>
                <a:ea typeface="Arial"/>
                <a:cs typeface="Arial"/>
              </a:rPr>
              <a:t>Multimodal reconstruction pipeline</a:t>
            </a:r>
          </a:p>
        </p:txBody>
      </p:sp>
      <p:sp>
        <p:nvSpPr>
          <p:cNvPr id="10" name="shape-54">
            <a:extLst xmlns:a="http://schemas.openxmlformats.org/drawingml/2006/main">
              <a:ext uri="{FF2B5EF4-FFF2-40B4-BE49-F238E27FC236}">
                <a16:creationId xmlns:a16="http://schemas.microsoft.com/office/drawing/2014/main" id="{D35BEB34-66F2-4FE4-B403-30B6633D0FDD}"/>
              </a:ext>
            </a:extLst>
          </p:cNvPr>
          <p:cNvSpPr>
            <a:spLocks xmlns:a="http://schemas.openxmlformats.org/drawingml/2006/main" noGrp="1"/>
          </p:cNvSpPr>
          <p:nvPr/>
        </p:nvSpPr>
        <p:spPr>
          <a:xfrm xmlns:a="http://schemas.openxmlformats.org/drawingml/2006/main">
            <a:off x="899160" y="3261360"/>
            <a:ext cx="22631400"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Camera-motion estimates, depth predictions and flight telemetry combine in a shared scene coordinate system.</a:t>
            </a:r>
          </a:p>
        </p:txBody>
      </p:sp>
      <p:sp>
        <p:nvSpPr>
          <p:cNvPr id="11" name="shape-55">
            <a:extLst xmlns:a="http://schemas.openxmlformats.org/drawingml/2006/main">
              <a:ext uri="{FF2B5EF4-FFF2-40B4-BE49-F238E27FC236}">
                <a16:creationId xmlns:a16="http://schemas.microsoft.com/office/drawing/2014/main" id="{AE6B29C2-2204-49B9-8089-537ECA4B2A57}"/>
              </a:ext>
            </a:extLst>
          </p:cNvPr>
          <p:cNvSpPr>
            <a:spLocks xmlns:a="http://schemas.openxmlformats.org/drawingml/2006/main" noGrp="1"/>
          </p:cNvSpPr>
          <p:nvPr/>
        </p:nvSpPr>
        <p:spPr>
          <a:xfrm xmlns:a="http://schemas.openxmlformats.org/drawingml/2006/main">
            <a:off x="868680" y="4846320"/>
            <a:ext cx="3794760" cy="463296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12" name="shape-56">
            <a:extLst xmlns:a="http://schemas.openxmlformats.org/drawingml/2006/main">
              <a:ext uri="{FF2B5EF4-FFF2-40B4-BE49-F238E27FC236}">
                <a16:creationId xmlns:a16="http://schemas.microsoft.com/office/drawing/2014/main" id="{DC14EA3E-B46D-4FAB-929A-F346143D0FF3}"/>
              </a:ext>
            </a:extLst>
          </p:cNvPr>
          <p:cNvSpPr>
            <a:spLocks xmlns:a="http://schemas.openxmlformats.org/drawingml/2006/main" noGrp="1"/>
          </p:cNvSpPr>
          <p:nvPr/>
        </p:nvSpPr>
        <p:spPr>
          <a:xfrm xmlns:a="http://schemas.openxmlformats.org/drawingml/2006/main">
            <a:off x="1143000" y="5074920"/>
            <a:ext cx="975360" cy="701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200" b="1">
                <a:solidFill>
                  <a:srgbClr val="2464C7"/>
                </a:solidFill>
                <a:latin typeface="Arial"/>
                <a:ea typeface="Arial"/>
                <a:cs typeface="Arial"/>
              </a:defRPr>
            </a:pPr>
            <a:r>
              <a:rPr sz="4200" b="1">
                <a:solidFill>
                  <a:srgbClr val="2464C7"/>
                </a:solidFill>
                <a:latin typeface="Arial"/>
                <a:ea typeface="Arial"/>
                <a:cs typeface="Arial"/>
              </a:rPr>
              <a:t>01</a:t>
            </a:r>
          </a:p>
        </p:txBody>
      </p:sp>
      <p:sp>
        <p:nvSpPr>
          <p:cNvPr id="13" name="shape-57">
            <a:extLst xmlns:a="http://schemas.openxmlformats.org/drawingml/2006/main">
              <a:ext uri="{FF2B5EF4-FFF2-40B4-BE49-F238E27FC236}">
                <a16:creationId xmlns:a16="http://schemas.microsoft.com/office/drawing/2014/main" id="{E0E27A87-771F-4E2C-847E-029F0A5A7118}"/>
              </a:ext>
            </a:extLst>
          </p:cNvPr>
          <p:cNvSpPr>
            <a:spLocks xmlns:a="http://schemas.openxmlformats.org/drawingml/2006/main" noGrp="1"/>
          </p:cNvSpPr>
          <p:nvPr/>
        </p:nvSpPr>
        <p:spPr>
          <a:xfrm xmlns:a="http://schemas.openxmlformats.org/drawingml/2006/main">
            <a:off x="1158240" y="5989320"/>
            <a:ext cx="3261360" cy="579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1">
                <a:solidFill>
                  <a:srgbClr val="2464C7"/>
                </a:solidFill>
                <a:latin typeface="Arial"/>
                <a:ea typeface="Arial"/>
                <a:cs typeface="Arial"/>
              </a:defRPr>
            </a:pPr>
            <a:r>
              <a:rPr sz="3480" b="1">
                <a:solidFill>
                  <a:srgbClr val="2464C7"/>
                </a:solidFill>
                <a:latin typeface="Arial"/>
                <a:ea typeface="Arial"/>
                <a:cs typeface="Arial"/>
              </a:rPr>
              <a:t>Prepare frames</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ff1aba5b5e3d4051"/>
          <a:stretch xmlns:a="http://schemas.openxmlformats.org/drawingml/2006/main"/>
        </p:blipFill>
        <p:spPr>
          <a:xfrm xmlns:a="http://schemas.openxmlformats.org/drawingml/2006/main">
            <a:off x="1173480" y="7283768"/>
            <a:ext cx="1005840" cy="565785"/>
          </a:xfrm>
          <a:prstGeom xmlns:a="http://schemas.openxmlformats.org/drawingml/2006/main" prst="rect">
            <a:avLst/>
          </a:prstGeom>
        </p:spPr>
      </p:pic>
      <p:pic>
        <p:nvPicPr>
          <p:cNvPr id="106" name=""/>
          <p:cNvPicPr>
            <a:picLocks xmlns:a="http://schemas.openxmlformats.org/drawingml/2006/main" noChangeAspect="1"/>
          </p:cNvPicPr>
          <p:nvPr/>
        </p:nvPicPr>
        <p:blipFill>
          <a:blip xmlns:r="http://schemas.openxmlformats.org/officeDocument/2006/relationships" xmlns:a="http://schemas.openxmlformats.org/drawingml/2006/main" r:embed="R22bb168636264273"/>
          <a:stretch xmlns:a="http://schemas.openxmlformats.org/drawingml/2006/main"/>
        </p:blipFill>
        <p:spPr>
          <a:xfrm xmlns:a="http://schemas.openxmlformats.org/drawingml/2006/main">
            <a:off x="2240280" y="7283768"/>
            <a:ext cx="1005840" cy="565785"/>
          </a:xfrm>
          <a:prstGeom xmlns:a="http://schemas.openxmlformats.org/drawingml/2006/main" prst="rect">
            <a:avLst/>
          </a:prstGeom>
        </p:spPr>
      </p:pic>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78bac033e37c4925"/>
          <a:stretch xmlns:a="http://schemas.openxmlformats.org/drawingml/2006/main"/>
        </p:blipFill>
        <p:spPr>
          <a:xfrm xmlns:a="http://schemas.openxmlformats.org/drawingml/2006/main">
            <a:off x="3307080" y="7283768"/>
            <a:ext cx="1005840" cy="565785"/>
          </a:xfrm>
          <a:prstGeom xmlns:a="http://schemas.openxmlformats.org/drawingml/2006/main" prst="rect">
            <a:avLst/>
          </a:prstGeom>
        </p:spPr>
      </p:pic>
      <p:sp>
        <p:nvSpPr>
          <p:cNvPr id="17" name="shape-58">
            <a:extLst xmlns:a="http://schemas.openxmlformats.org/drawingml/2006/main">
              <a:ext uri="{FF2B5EF4-FFF2-40B4-BE49-F238E27FC236}">
                <a16:creationId xmlns:a16="http://schemas.microsoft.com/office/drawing/2014/main" id="{AC488C7B-F00F-48A9-B101-0633599B4BF5}"/>
              </a:ext>
            </a:extLst>
          </p:cNvPr>
          <p:cNvSpPr>
            <a:spLocks xmlns:a="http://schemas.openxmlformats.org/drawingml/2006/main" noGrp="1"/>
          </p:cNvSpPr>
          <p:nvPr/>
        </p:nvSpPr>
        <p:spPr>
          <a:xfrm xmlns:a="http://schemas.openxmlformats.org/drawingml/2006/main">
            <a:off x="1173480" y="8503920"/>
            <a:ext cx="326136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Sample, timestamp</a:t>
            </a:r>
          </a:p>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and calibrate</a:t>
            </a:r>
          </a:p>
        </p:txBody>
      </p:sp>
      <p:sp>
        <p:nvSpPr>
          <p:cNvPr id="18" name="shape-59">
            <a:extLst xmlns:a="http://schemas.openxmlformats.org/drawingml/2006/main">
              <a:ext uri="{FF2B5EF4-FFF2-40B4-BE49-F238E27FC236}">
                <a16:creationId xmlns:a16="http://schemas.microsoft.com/office/drawing/2014/main" id="{972DA03E-3637-44F5-9851-05DED5C309F4}"/>
              </a:ext>
            </a:extLst>
          </p:cNvPr>
          <p:cNvSpPr>
            <a:spLocks xmlns:a="http://schemas.openxmlformats.org/drawingml/2006/main" noGrp="1"/>
          </p:cNvSpPr>
          <p:nvPr/>
        </p:nvSpPr>
        <p:spPr>
          <a:xfrm xmlns:a="http://schemas.openxmlformats.org/drawingml/2006/main">
            <a:off x="466267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19" name="shape-60">
            <a:extLst xmlns:a="http://schemas.openxmlformats.org/drawingml/2006/main">
              <a:ext uri="{FF2B5EF4-FFF2-40B4-BE49-F238E27FC236}">
                <a16:creationId xmlns:a16="http://schemas.microsoft.com/office/drawing/2014/main" id="{3372A536-704C-40F7-931C-4E23A8F1EDC4}"/>
              </a:ext>
            </a:extLst>
          </p:cNvPr>
          <p:cNvSpPr>
            <a:spLocks xmlns:a="http://schemas.openxmlformats.org/drawingml/2006/main" noGrp="1"/>
          </p:cNvSpPr>
          <p:nvPr/>
        </p:nvSpPr>
        <p:spPr>
          <a:xfrm xmlns:a="http://schemas.openxmlformats.org/drawingml/2006/main">
            <a:off x="507415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20" name="shape-61">
            <a:extLst xmlns:a="http://schemas.openxmlformats.org/drawingml/2006/main">
              <a:ext uri="{FF2B5EF4-FFF2-40B4-BE49-F238E27FC236}">
                <a16:creationId xmlns:a16="http://schemas.microsoft.com/office/drawing/2014/main" id="{45A7D095-A5D5-44DF-B75D-51D5108B38DC}"/>
              </a:ext>
            </a:extLst>
          </p:cNvPr>
          <p:cNvSpPr>
            <a:spLocks xmlns:a="http://schemas.openxmlformats.org/drawingml/2006/main" noGrp="1"/>
          </p:cNvSpPr>
          <p:nvPr/>
        </p:nvSpPr>
        <p:spPr>
          <a:xfrm xmlns:a="http://schemas.openxmlformats.org/drawingml/2006/main">
            <a:off x="5074158" y="51808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21" name="shape-62">
            <a:extLst xmlns:a="http://schemas.openxmlformats.org/drawingml/2006/main">
              <a:ext uri="{FF2B5EF4-FFF2-40B4-BE49-F238E27FC236}">
                <a16:creationId xmlns:a16="http://schemas.microsoft.com/office/drawing/2014/main" id="{E3CA9000-46E1-44AF-AF90-70B466B5BC15}"/>
              </a:ext>
            </a:extLst>
          </p:cNvPr>
          <p:cNvSpPr>
            <a:spLocks xmlns:a="http://schemas.openxmlformats.org/drawingml/2006/main" noGrp="1"/>
          </p:cNvSpPr>
          <p:nvPr/>
        </p:nvSpPr>
        <p:spPr>
          <a:xfrm xmlns:a="http://schemas.openxmlformats.org/drawingml/2006/main">
            <a:off x="5638038" y="518083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13" name=""/>
          <p:cNvCxnSpPr>
            <a:stCxn xmlns:a="http://schemas.openxmlformats.org/drawingml/2006/main" id="18" idx="3"/>
            <a:endCxn xmlns:a="http://schemas.openxmlformats.org/drawingml/2006/main" id="19" idx="1"/>
          </p:cNvCxnSpPr>
          <p:nvPr/>
        </p:nvCxnSpPr>
        <p:spPr>
          <a:xfrm xmlns:a="http://schemas.openxmlformats.org/drawingml/2006/main">
            <a:off x="4664202" y="7162800"/>
            <a:ext cx="409956" cy="0"/>
          </a:xfrm>
          <a:prstGeom xmlns:a="http://schemas.openxmlformats.org/drawingml/2006/main" prst="straightConnector1">
            <a:avLst/>
          </a:prstGeom>
          <a:ln xmlns:a="http://schemas.openxmlformats.org/drawingml/2006/main" w="35052">
            <a:solidFill>
              <a:srgbClr val="2464C7"/>
            </a:solidFill>
            <a:prstDash val="solid"/>
          </a:ln>
        </p:spPr>
      </p:cxnSp>
      <p:cxnSp>
        <p:nvCxnSpPr>
          <p:cNvPr id="114" name=""/>
          <p:cNvCxnSpPr>
            <a:stCxn xmlns:a="http://schemas.openxmlformats.org/drawingml/2006/main" id="19" idx="0"/>
            <a:endCxn xmlns:a="http://schemas.openxmlformats.org/drawingml/2006/main" id="20" idx="2"/>
          </p:cNvCxnSpPr>
          <p:nvPr/>
        </p:nvCxnSpPr>
        <p:spPr>
          <a:xfrm xmlns:a="http://schemas.openxmlformats.org/drawingml/2006/main" flipV="1">
            <a:off x="5074920" y="5182362"/>
            <a:ext cx="0" cy="1979676"/>
          </a:xfrm>
          <a:prstGeom xmlns:a="http://schemas.openxmlformats.org/drawingml/2006/main" prst="straightConnector1">
            <a:avLst/>
          </a:prstGeom>
          <a:ln xmlns:a="http://schemas.openxmlformats.org/drawingml/2006/main" w="35052">
            <a:solidFill>
              <a:srgbClr val="2464C7"/>
            </a:solidFill>
            <a:prstDash val="solid"/>
          </a:ln>
        </p:spPr>
      </p:cxnSp>
      <p:cxnSp>
        <p:nvCxnSpPr>
          <p:cNvPr id="115" name=""/>
          <p:cNvCxnSpPr>
            <a:stCxn xmlns:a="http://schemas.openxmlformats.org/drawingml/2006/main" id="20" idx="3"/>
            <a:endCxn xmlns:a="http://schemas.openxmlformats.org/drawingml/2006/main" id="21" idx="1"/>
          </p:cNvCxnSpPr>
          <p:nvPr/>
        </p:nvCxnSpPr>
        <p:spPr>
          <a:xfrm xmlns:a="http://schemas.openxmlformats.org/drawingml/2006/main">
            <a:off x="5075682" y="5181600"/>
            <a:ext cx="562356" cy="0"/>
          </a:xfrm>
          <a:prstGeom xmlns:a="http://schemas.openxmlformats.org/drawingml/2006/main" prst="straightConnector1">
            <a:avLst/>
          </a:prstGeom>
          <a:ln xmlns:a="http://schemas.openxmlformats.org/drawingml/2006/main" w="35052">
            <a:solidFill>
              <a:srgbClr val="2464C7"/>
            </a:solidFill>
            <a:prstDash val="solid"/>
          </a:ln>
        </p:spPr>
      </p:cxnSp>
      <p:sp>
        <p:nvSpPr>
          <p:cNvPr id="25" name="shape-63">
            <a:extLst xmlns:a="http://schemas.openxmlformats.org/drawingml/2006/main">
              <a:ext uri="{FF2B5EF4-FFF2-40B4-BE49-F238E27FC236}">
                <a16:creationId xmlns:a16="http://schemas.microsoft.com/office/drawing/2014/main" id="{CCED927D-F517-442D-9B67-43935B332450}"/>
              </a:ext>
            </a:extLst>
          </p:cNvPr>
          <p:cNvSpPr>
            <a:spLocks xmlns:a="http://schemas.openxmlformats.org/drawingml/2006/main" noGrp="1"/>
          </p:cNvSpPr>
          <p:nvPr/>
        </p:nvSpPr>
        <p:spPr>
          <a:xfrm xmlns:a="http://schemas.openxmlformats.org/drawingml/2006/main" rot="5400000">
            <a:off x="5486400" y="5105400"/>
            <a:ext cx="152400" cy="152400"/>
          </a:xfrm>
          <a:prstGeom xmlns:a="http://schemas.openxmlformats.org/drawingml/2006/main" prst="triangle">
            <a:avLst/>
          </a:prstGeom>
          <a:solidFill xmlns:a="http://schemas.openxmlformats.org/drawingml/2006/main">
            <a:srgbClr val="2464C7"/>
          </a:solidFill>
          <a:ln xmlns:a="http://schemas.openxmlformats.org/drawingml/2006/main" w="0">
            <a:noFill/>
            <a:prstDash val="solid"/>
          </a:ln>
        </p:spPr>
      </p:sp>
      <p:sp>
        <p:nvSpPr>
          <p:cNvPr id="26" name="shape-64">
            <a:extLst xmlns:a="http://schemas.openxmlformats.org/drawingml/2006/main">
              <a:ext uri="{FF2B5EF4-FFF2-40B4-BE49-F238E27FC236}">
                <a16:creationId xmlns:a16="http://schemas.microsoft.com/office/drawing/2014/main" id="{5A586F28-9229-4FFE-AD2C-596F8CEC7D32}"/>
              </a:ext>
            </a:extLst>
          </p:cNvPr>
          <p:cNvSpPr>
            <a:spLocks xmlns:a="http://schemas.openxmlformats.org/drawingml/2006/main" noGrp="1"/>
          </p:cNvSpPr>
          <p:nvPr/>
        </p:nvSpPr>
        <p:spPr>
          <a:xfrm xmlns:a="http://schemas.openxmlformats.org/drawingml/2006/main">
            <a:off x="507415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27" name="shape-65">
            <a:extLst xmlns:a="http://schemas.openxmlformats.org/drawingml/2006/main">
              <a:ext uri="{FF2B5EF4-FFF2-40B4-BE49-F238E27FC236}">
                <a16:creationId xmlns:a16="http://schemas.microsoft.com/office/drawing/2014/main" id="{1708CC6A-7367-4D4B-AFA1-7D7CEEB4F925}"/>
              </a:ext>
            </a:extLst>
          </p:cNvPr>
          <p:cNvSpPr>
            <a:spLocks xmlns:a="http://schemas.openxmlformats.org/drawingml/2006/main" noGrp="1"/>
          </p:cNvSpPr>
          <p:nvPr/>
        </p:nvSpPr>
        <p:spPr>
          <a:xfrm xmlns:a="http://schemas.openxmlformats.org/drawingml/2006/main">
            <a:off x="563803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19" name=""/>
          <p:cNvCxnSpPr>
            <a:stCxn xmlns:a="http://schemas.openxmlformats.org/drawingml/2006/main" id="26" idx="3"/>
            <a:endCxn xmlns:a="http://schemas.openxmlformats.org/drawingml/2006/main" id="27" idx="1"/>
          </p:cNvCxnSpPr>
          <p:nvPr/>
        </p:nvCxnSpPr>
        <p:spPr>
          <a:xfrm xmlns:a="http://schemas.openxmlformats.org/drawingml/2006/main">
            <a:off x="5075682" y="7162800"/>
            <a:ext cx="562356" cy="0"/>
          </a:xfrm>
          <a:prstGeom xmlns:a="http://schemas.openxmlformats.org/drawingml/2006/main" prst="straightConnector1">
            <a:avLst/>
          </a:prstGeom>
          <a:ln xmlns:a="http://schemas.openxmlformats.org/drawingml/2006/main" w="35052">
            <a:solidFill>
              <a:srgbClr val="2464C7"/>
            </a:solidFill>
            <a:prstDash val="solid"/>
          </a:ln>
        </p:spPr>
      </p:cxnSp>
      <p:sp>
        <p:nvSpPr>
          <p:cNvPr id="29" name="shape-66">
            <a:extLst xmlns:a="http://schemas.openxmlformats.org/drawingml/2006/main">
              <a:ext uri="{FF2B5EF4-FFF2-40B4-BE49-F238E27FC236}">
                <a16:creationId xmlns:a16="http://schemas.microsoft.com/office/drawing/2014/main" id="{C769A267-A074-4ED2-ADCF-AE509D2F392B}"/>
              </a:ext>
            </a:extLst>
          </p:cNvPr>
          <p:cNvSpPr>
            <a:spLocks xmlns:a="http://schemas.openxmlformats.org/drawingml/2006/main" noGrp="1"/>
          </p:cNvSpPr>
          <p:nvPr/>
        </p:nvSpPr>
        <p:spPr>
          <a:xfrm xmlns:a="http://schemas.openxmlformats.org/drawingml/2006/main" rot="5400000">
            <a:off x="5486400" y="7086600"/>
            <a:ext cx="152400" cy="152400"/>
          </a:xfrm>
          <a:prstGeom xmlns:a="http://schemas.openxmlformats.org/drawingml/2006/main" prst="triangle">
            <a:avLst/>
          </a:prstGeom>
          <a:solidFill xmlns:a="http://schemas.openxmlformats.org/drawingml/2006/main">
            <a:srgbClr val="2464C7"/>
          </a:solidFill>
          <a:ln xmlns:a="http://schemas.openxmlformats.org/drawingml/2006/main" w="0">
            <a:noFill/>
            <a:prstDash val="solid"/>
          </a:ln>
        </p:spPr>
      </p:sp>
      <p:sp>
        <p:nvSpPr>
          <p:cNvPr id="30" name="shape-67">
            <a:extLst xmlns:a="http://schemas.openxmlformats.org/drawingml/2006/main">
              <a:ext uri="{FF2B5EF4-FFF2-40B4-BE49-F238E27FC236}">
                <a16:creationId xmlns:a16="http://schemas.microsoft.com/office/drawing/2014/main" id="{4808B043-70A0-42DF-AB0A-FB4B0818F920}"/>
              </a:ext>
            </a:extLst>
          </p:cNvPr>
          <p:cNvSpPr>
            <a:spLocks xmlns:a="http://schemas.openxmlformats.org/drawingml/2006/main" noGrp="1"/>
          </p:cNvSpPr>
          <p:nvPr/>
        </p:nvSpPr>
        <p:spPr>
          <a:xfrm xmlns:a="http://schemas.openxmlformats.org/drawingml/2006/main">
            <a:off x="507415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31" name="shape-68">
            <a:extLst xmlns:a="http://schemas.openxmlformats.org/drawingml/2006/main">
              <a:ext uri="{FF2B5EF4-FFF2-40B4-BE49-F238E27FC236}">
                <a16:creationId xmlns:a16="http://schemas.microsoft.com/office/drawing/2014/main" id="{AF6FCC00-C388-4B9F-B6CD-8AD8C3D93D55}"/>
              </a:ext>
            </a:extLst>
          </p:cNvPr>
          <p:cNvSpPr>
            <a:spLocks xmlns:a="http://schemas.openxmlformats.org/drawingml/2006/main" noGrp="1"/>
          </p:cNvSpPr>
          <p:nvPr/>
        </p:nvSpPr>
        <p:spPr>
          <a:xfrm xmlns:a="http://schemas.openxmlformats.org/drawingml/2006/main">
            <a:off x="5074158" y="91432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shape-69">
            <a:extLst xmlns:a="http://schemas.openxmlformats.org/drawingml/2006/main">
              <a:ext uri="{FF2B5EF4-FFF2-40B4-BE49-F238E27FC236}">
                <a16:creationId xmlns:a16="http://schemas.microsoft.com/office/drawing/2014/main" id="{4FCD1FEA-5971-4668-B765-23151903F042}"/>
              </a:ext>
            </a:extLst>
          </p:cNvPr>
          <p:cNvSpPr>
            <a:spLocks xmlns:a="http://schemas.openxmlformats.org/drawingml/2006/main" noGrp="1"/>
          </p:cNvSpPr>
          <p:nvPr/>
        </p:nvSpPr>
        <p:spPr>
          <a:xfrm xmlns:a="http://schemas.openxmlformats.org/drawingml/2006/main">
            <a:off x="5638038" y="914323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24" name=""/>
          <p:cNvCxnSpPr>
            <a:stCxn xmlns:a="http://schemas.openxmlformats.org/drawingml/2006/main" id="30" idx="2"/>
            <a:endCxn xmlns:a="http://schemas.openxmlformats.org/drawingml/2006/main" id="31" idx="0"/>
          </p:cNvCxnSpPr>
          <p:nvPr/>
        </p:nvCxnSpPr>
        <p:spPr>
          <a:xfrm xmlns:a="http://schemas.openxmlformats.org/drawingml/2006/main">
            <a:off x="5074920" y="7163562"/>
            <a:ext cx="0" cy="1979676"/>
          </a:xfrm>
          <a:prstGeom xmlns:a="http://schemas.openxmlformats.org/drawingml/2006/main" prst="straightConnector1">
            <a:avLst/>
          </a:prstGeom>
          <a:ln xmlns:a="http://schemas.openxmlformats.org/drawingml/2006/main" w="35052">
            <a:solidFill>
              <a:srgbClr val="2464C7"/>
            </a:solidFill>
            <a:prstDash val="solid"/>
          </a:ln>
        </p:spPr>
      </p:cxnSp>
      <p:cxnSp>
        <p:nvCxnSpPr>
          <p:cNvPr id="125" name=""/>
          <p:cNvCxnSpPr>
            <a:stCxn xmlns:a="http://schemas.openxmlformats.org/drawingml/2006/main" id="31" idx="3"/>
            <a:endCxn xmlns:a="http://schemas.openxmlformats.org/drawingml/2006/main" id="32" idx="1"/>
          </p:cNvCxnSpPr>
          <p:nvPr/>
        </p:nvCxnSpPr>
        <p:spPr>
          <a:xfrm xmlns:a="http://schemas.openxmlformats.org/drawingml/2006/main">
            <a:off x="5075682" y="9144000"/>
            <a:ext cx="562356" cy="0"/>
          </a:xfrm>
          <a:prstGeom xmlns:a="http://schemas.openxmlformats.org/drawingml/2006/main" prst="straightConnector1">
            <a:avLst/>
          </a:prstGeom>
          <a:ln xmlns:a="http://schemas.openxmlformats.org/drawingml/2006/main" w="35052">
            <a:solidFill>
              <a:srgbClr val="2464C7"/>
            </a:solidFill>
            <a:prstDash val="solid"/>
          </a:ln>
        </p:spPr>
      </p:cxnSp>
      <p:sp>
        <p:nvSpPr>
          <p:cNvPr id="35" name="shape-70">
            <a:extLst xmlns:a="http://schemas.openxmlformats.org/drawingml/2006/main">
              <a:ext uri="{FF2B5EF4-FFF2-40B4-BE49-F238E27FC236}">
                <a16:creationId xmlns:a16="http://schemas.microsoft.com/office/drawing/2014/main" id="{256E61C2-C168-44C0-B2CF-DF03037D339B}"/>
              </a:ext>
            </a:extLst>
          </p:cNvPr>
          <p:cNvSpPr>
            <a:spLocks xmlns:a="http://schemas.openxmlformats.org/drawingml/2006/main" noGrp="1"/>
          </p:cNvSpPr>
          <p:nvPr/>
        </p:nvSpPr>
        <p:spPr>
          <a:xfrm xmlns:a="http://schemas.openxmlformats.org/drawingml/2006/main" rot="5400000">
            <a:off x="5486400" y="9067800"/>
            <a:ext cx="152400" cy="152400"/>
          </a:xfrm>
          <a:prstGeom xmlns:a="http://schemas.openxmlformats.org/drawingml/2006/main" prst="triangle">
            <a:avLst/>
          </a:prstGeom>
          <a:solidFill xmlns:a="http://schemas.openxmlformats.org/drawingml/2006/main">
            <a:srgbClr val="2464C7"/>
          </a:solidFill>
          <a:ln xmlns:a="http://schemas.openxmlformats.org/drawingml/2006/main" w="0">
            <a:noFill/>
            <a:prstDash val="solid"/>
          </a:ln>
        </p:spPr>
      </p:sp>
      <p:sp>
        <p:nvSpPr>
          <p:cNvPr id="36" name="shape-71">
            <a:extLst xmlns:a="http://schemas.openxmlformats.org/drawingml/2006/main">
              <a:ext uri="{FF2B5EF4-FFF2-40B4-BE49-F238E27FC236}">
                <a16:creationId xmlns:a16="http://schemas.microsoft.com/office/drawing/2014/main" id="{D440BF4B-19D8-4936-931C-B2C68B794D27}"/>
              </a:ext>
            </a:extLst>
          </p:cNvPr>
          <p:cNvSpPr>
            <a:spLocks xmlns:a="http://schemas.openxmlformats.org/drawingml/2006/main" noGrp="1"/>
          </p:cNvSpPr>
          <p:nvPr/>
        </p:nvSpPr>
        <p:spPr>
          <a:xfrm xmlns:a="http://schemas.openxmlformats.org/drawingml/2006/main">
            <a:off x="5638800" y="4358640"/>
            <a:ext cx="7467600" cy="167640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37" name="shape-72">
            <a:extLst xmlns:a="http://schemas.openxmlformats.org/drawingml/2006/main">
              <a:ext uri="{FF2B5EF4-FFF2-40B4-BE49-F238E27FC236}">
                <a16:creationId xmlns:a16="http://schemas.microsoft.com/office/drawing/2014/main" id="{B35DD405-EA72-4340-B45A-0AEDCF4F27F2}"/>
              </a:ext>
            </a:extLst>
          </p:cNvPr>
          <p:cNvSpPr>
            <a:spLocks xmlns:a="http://schemas.openxmlformats.org/drawingml/2006/main" noGrp="1"/>
          </p:cNvSpPr>
          <p:nvPr/>
        </p:nvSpPr>
        <p:spPr>
          <a:xfrm xmlns:a="http://schemas.openxmlformats.org/drawingml/2006/main">
            <a:off x="5913120" y="4511040"/>
            <a:ext cx="690372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2464C7"/>
                </a:solidFill>
                <a:latin typeface="Arial"/>
                <a:ea typeface="Arial"/>
                <a:cs typeface="Arial"/>
              </a:defRPr>
            </a:pPr>
            <a:r>
              <a:rPr sz="3000" b="1">
                <a:solidFill>
                  <a:srgbClr val="2464C7"/>
                </a:solidFill>
                <a:latin typeface="Arial"/>
                <a:ea typeface="Arial"/>
                <a:cs typeface="Arial"/>
              </a:rPr>
              <a:t>Where did the camera move?</a:t>
            </a:r>
          </a:p>
        </p:txBody>
      </p:sp>
      <p:sp>
        <p:nvSpPr>
          <p:cNvPr id="38" name="shape-73">
            <a:extLst xmlns:a="http://schemas.openxmlformats.org/drawingml/2006/main">
              <a:ext uri="{FF2B5EF4-FFF2-40B4-BE49-F238E27FC236}">
                <a16:creationId xmlns:a16="http://schemas.microsoft.com/office/drawing/2014/main" id="{474587EE-D000-4C6E-9B15-50519F897872}"/>
              </a:ext>
            </a:extLst>
          </p:cNvPr>
          <p:cNvSpPr>
            <a:spLocks xmlns:a="http://schemas.openxmlformats.org/drawingml/2006/main" noGrp="1"/>
          </p:cNvSpPr>
          <p:nvPr/>
        </p:nvSpPr>
        <p:spPr>
          <a:xfrm xmlns:a="http://schemas.openxmlformats.org/drawingml/2006/main">
            <a:off x="5913120" y="5074920"/>
            <a:ext cx="685800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40" b="1">
                <a:solidFill>
                  <a:srgbClr val="14243B"/>
                </a:solidFill>
                <a:latin typeface="Arial"/>
                <a:ea typeface="Arial"/>
                <a:cs typeface="Arial"/>
              </a:defRPr>
            </a:pPr>
            <a:r>
              <a:rPr sz="2640" b="1">
                <a:solidFill>
                  <a:srgbClr val="14243B"/>
                </a:solidFill>
                <a:latin typeface="Arial"/>
                <a:ea typeface="Arial"/>
                <a:cs typeface="Arial"/>
              </a:rPr>
              <a:t>MASt3R-SLAM [1]</a:t>
            </a:r>
          </a:p>
        </p:txBody>
      </p:sp>
      <p:sp>
        <p:nvSpPr>
          <p:cNvPr id="39" name="shape-74">
            <a:extLst xmlns:a="http://schemas.openxmlformats.org/drawingml/2006/main">
              <a:ext uri="{FF2B5EF4-FFF2-40B4-BE49-F238E27FC236}">
                <a16:creationId xmlns:a16="http://schemas.microsoft.com/office/drawing/2014/main" id="{2FDCE7D3-64A1-4C50-95B7-F300B8DBEC0F}"/>
              </a:ext>
            </a:extLst>
          </p:cNvPr>
          <p:cNvSpPr>
            <a:spLocks xmlns:a="http://schemas.openxmlformats.org/drawingml/2006/main" noGrp="1"/>
          </p:cNvSpPr>
          <p:nvPr/>
        </p:nvSpPr>
        <p:spPr>
          <a:xfrm xmlns:a="http://schemas.openxmlformats.org/drawingml/2006/main">
            <a:off x="5913120" y="5577840"/>
            <a:ext cx="693420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Track the route through the images</a:t>
            </a:r>
          </a:p>
        </p:txBody>
      </p:sp>
      <p:sp>
        <p:nvSpPr>
          <p:cNvPr id="40" name="shape-75">
            <a:extLst xmlns:a="http://schemas.openxmlformats.org/drawingml/2006/main">
              <a:ext uri="{FF2B5EF4-FFF2-40B4-BE49-F238E27FC236}">
                <a16:creationId xmlns:a16="http://schemas.microsoft.com/office/drawing/2014/main" id="{EC29AC86-ABBE-4950-8C80-8F72F2976CFD}"/>
              </a:ext>
            </a:extLst>
          </p:cNvPr>
          <p:cNvSpPr>
            <a:spLocks xmlns:a="http://schemas.openxmlformats.org/drawingml/2006/main" noGrp="1"/>
          </p:cNvSpPr>
          <p:nvPr/>
        </p:nvSpPr>
        <p:spPr>
          <a:xfrm xmlns:a="http://schemas.openxmlformats.org/drawingml/2006/main">
            <a:off x="5638800" y="6339840"/>
            <a:ext cx="7467600" cy="1676400"/>
          </a:xfrm>
          <a:prstGeom xmlns:a="http://schemas.openxmlformats.org/drawingml/2006/main" prst="rect">
            <a:avLst/>
          </a:prstGeom>
          <a:solidFill xmlns:a="http://schemas.openxmlformats.org/drawingml/2006/main">
            <a:srgbClr val="F0E8FC"/>
          </a:solidFill>
          <a:ln xmlns:a="http://schemas.openxmlformats.org/drawingml/2006/main" w="0">
            <a:noFill/>
            <a:prstDash val="solid"/>
          </a:ln>
        </p:spPr>
      </p:sp>
      <p:sp>
        <p:nvSpPr>
          <p:cNvPr id="41" name="shape-76">
            <a:extLst xmlns:a="http://schemas.openxmlformats.org/drawingml/2006/main">
              <a:ext uri="{FF2B5EF4-FFF2-40B4-BE49-F238E27FC236}">
                <a16:creationId xmlns:a16="http://schemas.microsoft.com/office/drawing/2014/main" id="{E1E68AB3-3407-4E7A-BEEF-CA4CFAD686BD}"/>
              </a:ext>
            </a:extLst>
          </p:cNvPr>
          <p:cNvSpPr>
            <a:spLocks xmlns:a="http://schemas.openxmlformats.org/drawingml/2006/main" noGrp="1"/>
          </p:cNvSpPr>
          <p:nvPr/>
        </p:nvSpPr>
        <p:spPr>
          <a:xfrm xmlns:a="http://schemas.openxmlformats.org/drawingml/2006/main">
            <a:off x="5913120" y="6492240"/>
            <a:ext cx="690372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7544C4"/>
                </a:solidFill>
                <a:latin typeface="Arial"/>
                <a:ea typeface="Arial"/>
                <a:cs typeface="Arial"/>
              </a:defRPr>
            </a:pPr>
            <a:r>
              <a:rPr sz="3000" b="1">
                <a:solidFill>
                  <a:srgbClr val="7544C4"/>
                </a:solidFill>
                <a:latin typeface="Arial"/>
                <a:ea typeface="Arial"/>
                <a:cs typeface="Arial"/>
              </a:rPr>
              <a:t>How far away are the surfaces?</a:t>
            </a:r>
          </a:p>
        </p:txBody>
      </p:sp>
      <p:sp>
        <p:nvSpPr>
          <p:cNvPr id="42" name="shape-77">
            <a:extLst xmlns:a="http://schemas.openxmlformats.org/drawingml/2006/main">
              <a:ext uri="{FF2B5EF4-FFF2-40B4-BE49-F238E27FC236}">
                <a16:creationId xmlns:a16="http://schemas.microsoft.com/office/drawing/2014/main" id="{E171363C-6233-443B-A3EF-038B7CA0D496}"/>
              </a:ext>
            </a:extLst>
          </p:cNvPr>
          <p:cNvSpPr>
            <a:spLocks xmlns:a="http://schemas.openxmlformats.org/drawingml/2006/main" noGrp="1"/>
          </p:cNvSpPr>
          <p:nvPr/>
        </p:nvSpPr>
        <p:spPr>
          <a:xfrm xmlns:a="http://schemas.openxmlformats.org/drawingml/2006/main">
            <a:off x="5913120" y="7056120"/>
            <a:ext cx="685800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40" b="1">
                <a:solidFill>
                  <a:srgbClr val="14243B"/>
                </a:solidFill>
                <a:latin typeface="Arial"/>
                <a:ea typeface="Arial"/>
                <a:cs typeface="Arial"/>
              </a:defRPr>
            </a:pPr>
            <a:r>
              <a:rPr sz="2640" b="1">
                <a:solidFill>
                  <a:srgbClr val="14243B"/>
                </a:solidFill>
                <a:latin typeface="Arial"/>
                <a:ea typeface="Arial"/>
                <a:cs typeface="Arial"/>
              </a:rPr>
              <a:t>MapAnything [2]</a:t>
            </a:r>
          </a:p>
        </p:txBody>
      </p:sp>
      <p:sp>
        <p:nvSpPr>
          <p:cNvPr id="43" name="shape-78">
            <a:extLst xmlns:a="http://schemas.openxmlformats.org/drawingml/2006/main">
              <a:ext uri="{FF2B5EF4-FFF2-40B4-BE49-F238E27FC236}">
                <a16:creationId xmlns:a16="http://schemas.microsoft.com/office/drawing/2014/main" id="{6751D7FE-6399-4AA4-8441-D32384B5115C}"/>
              </a:ext>
            </a:extLst>
          </p:cNvPr>
          <p:cNvSpPr>
            <a:spLocks xmlns:a="http://schemas.openxmlformats.org/drawingml/2006/main" noGrp="1"/>
          </p:cNvSpPr>
          <p:nvPr/>
        </p:nvSpPr>
        <p:spPr>
          <a:xfrm xmlns:a="http://schemas.openxmlformats.org/drawingml/2006/main">
            <a:off x="5913120" y="7559040"/>
            <a:ext cx="693420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Predict depth and camera poses</a:t>
            </a:r>
          </a:p>
        </p:txBody>
      </p:sp>
      <p:sp>
        <p:nvSpPr>
          <p:cNvPr id="44" name="shape-79">
            <a:extLst xmlns:a="http://schemas.openxmlformats.org/drawingml/2006/main">
              <a:ext uri="{FF2B5EF4-FFF2-40B4-BE49-F238E27FC236}">
                <a16:creationId xmlns:a16="http://schemas.microsoft.com/office/drawing/2014/main" id="{DB0DC0FA-B990-4C9C-A443-96B301F9719C}"/>
              </a:ext>
            </a:extLst>
          </p:cNvPr>
          <p:cNvSpPr>
            <a:spLocks xmlns:a="http://schemas.openxmlformats.org/drawingml/2006/main" noGrp="1"/>
          </p:cNvSpPr>
          <p:nvPr/>
        </p:nvSpPr>
        <p:spPr>
          <a:xfrm xmlns:a="http://schemas.openxmlformats.org/drawingml/2006/main">
            <a:off x="5638800" y="8321040"/>
            <a:ext cx="7467600" cy="1676400"/>
          </a:xfrm>
          <a:prstGeom xmlns:a="http://schemas.openxmlformats.org/drawingml/2006/main" prst="rect">
            <a:avLst/>
          </a:prstGeom>
          <a:solidFill xmlns:a="http://schemas.openxmlformats.org/drawingml/2006/main">
            <a:srgbClr val="E2F5EE"/>
          </a:solidFill>
          <a:ln xmlns:a="http://schemas.openxmlformats.org/drawingml/2006/main" w="0">
            <a:noFill/>
            <a:prstDash val="solid"/>
          </a:ln>
        </p:spPr>
      </p:sp>
      <p:sp>
        <p:nvSpPr>
          <p:cNvPr id="45" name="shape-80">
            <a:extLst xmlns:a="http://schemas.openxmlformats.org/drawingml/2006/main">
              <a:ext uri="{FF2B5EF4-FFF2-40B4-BE49-F238E27FC236}">
                <a16:creationId xmlns:a16="http://schemas.microsoft.com/office/drawing/2014/main" id="{D8F4B3A9-05D5-4AE0-B0DF-11CFBE1C7E08}"/>
              </a:ext>
            </a:extLst>
          </p:cNvPr>
          <p:cNvSpPr>
            <a:spLocks xmlns:a="http://schemas.openxmlformats.org/drawingml/2006/main" noGrp="1"/>
          </p:cNvSpPr>
          <p:nvPr/>
        </p:nvSpPr>
        <p:spPr>
          <a:xfrm xmlns:a="http://schemas.openxmlformats.org/drawingml/2006/main">
            <a:off x="5913120" y="8473440"/>
            <a:ext cx="690372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087E70"/>
                </a:solidFill>
                <a:latin typeface="Arial"/>
                <a:ea typeface="Arial"/>
                <a:cs typeface="Arial"/>
              </a:defRPr>
            </a:pPr>
            <a:r>
              <a:rPr sz="3000" b="1">
                <a:solidFill>
                  <a:srgbClr val="087E70"/>
                </a:solidFill>
                <a:latin typeface="Arial"/>
                <a:ea typeface="Arial"/>
                <a:cs typeface="Arial"/>
              </a:rPr>
              <a:t>Which pixels should we exclude?</a:t>
            </a:r>
          </a:p>
        </p:txBody>
      </p:sp>
      <p:sp>
        <p:nvSpPr>
          <p:cNvPr id="46" name="shape-81">
            <a:extLst xmlns:a="http://schemas.openxmlformats.org/drawingml/2006/main">
              <a:ext uri="{FF2B5EF4-FFF2-40B4-BE49-F238E27FC236}">
                <a16:creationId xmlns:a16="http://schemas.microsoft.com/office/drawing/2014/main" id="{0454099A-B8AB-4C3E-8A29-4644914E3A33}"/>
              </a:ext>
            </a:extLst>
          </p:cNvPr>
          <p:cNvSpPr>
            <a:spLocks xmlns:a="http://schemas.openxmlformats.org/drawingml/2006/main" noGrp="1"/>
          </p:cNvSpPr>
          <p:nvPr/>
        </p:nvSpPr>
        <p:spPr>
          <a:xfrm xmlns:a="http://schemas.openxmlformats.org/drawingml/2006/main">
            <a:off x="5913120" y="9037320"/>
            <a:ext cx="685800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40" b="1">
                <a:solidFill>
                  <a:srgbClr val="14243B"/>
                </a:solidFill>
                <a:latin typeface="Arial"/>
                <a:ea typeface="Arial"/>
                <a:cs typeface="Arial"/>
              </a:defRPr>
            </a:pPr>
            <a:r>
              <a:rPr sz="2640" b="1">
                <a:solidFill>
                  <a:srgbClr val="14243B"/>
                </a:solidFill>
                <a:latin typeface="Arial"/>
                <a:ea typeface="Arial"/>
                <a:cs typeface="Arial"/>
              </a:rPr>
              <a:t>SegFormer [4]</a:t>
            </a:r>
          </a:p>
        </p:txBody>
      </p:sp>
      <p:sp>
        <p:nvSpPr>
          <p:cNvPr id="47" name="shape-82">
            <a:extLst xmlns:a="http://schemas.openxmlformats.org/drawingml/2006/main">
              <a:ext uri="{FF2B5EF4-FFF2-40B4-BE49-F238E27FC236}">
                <a16:creationId xmlns:a16="http://schemas.microsoft.com/office/drawing/2014/main" id="{F5085836-584E-4958-89D9-8C8AD1E7D6D7}"/>
              </a:ext>
            </a:extLst>
          </p:cNvPr>
          <p:cNvSpPr>
            <a:spLocks xmlns:a="http://schemas.openxmlformats.org/drawingml/2006/main" noGrp="1"/>
          </p:cNvSpPr>
          <p:nvPr/>
        </p:nvSpPr>
        <p:spPr>
          <a:xfrm xmlns:a="http://schemas.openxmlformats.org/drawingml/2006/main">
            <a:off x="5913120" y="9540240"/>
            <a:ext cx="693420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Mask sky and potentially moving classes</a:t>
            </a:r>
          </a:p>
        </p:txBody>
      </p:sp>
      <p:sp>
        <p:nvSpPr>
          <p:cNvPr id="48" name="shape-83">
            <a:extLst xmlns:a="http://schemas.openxmlformats.org/drawingml/2006/main">
              <a:ext uri="{FF2B5EF4-FFF2-40B4-BE49-F238E27FC236}">
                <a16:creationId xmlns:a16="http://schemas.microsoft.com/office/drawing/2014/main" id="{17F9659C-8F73-4C1A-B5B4-93D91D5AE86D}"/>
              </a:ext>
            </a:extLst>
          </p:cNvPr>
          <p:cNvSpPr>
            <a:spLocks xmlns:a="http://schemas.openxmlformats.org/drawingml/2006/main" noGrp="1"/>
          </p:cNvSpPr>
          <p:nvPr/>
        </p:nvSpPr>
        <p:spPr>
          <a:xfrm xmlns:a="http://schemas.openxmlformats.org/drawingml/2006/main">
            <a:off x="13105638" y="51808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49" name="shape-84">
            <a:extLst xmlns:a="http://schemas.openxmlformats.org/drawingml/2006/main">
              <a:ext uri="{FF2B5EF4-FFF2-40B4-BE49-F238E27FC236}">
                <a16:creationId xmlns:a16="http://schemas.microsoft.com/office/drawing/2014/main" id="{96E0CC9C-E9FF-4AC4-A3B7-8AE62A4FBB77}"/>
              </a:ext>
            </a:extLst>
          </p:cNvPr>
          <p:cNvSpPr>
            <a:spLocks xmlns:a="http://schemas.openxmlformats.org/drawingml/2006/main" noGrp="1"/>
          </p:cNvSpPr>
          <p:nvPr/>
        </p:nvSpPr>
        <p:spPr>
          <a:xfrm xmlns:a="http://schemas.openxmlformats.org/drawingml/2006/main">
            <a:off x="13715238" y="51808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50" name="shape-85">
            <a:extLst xmlns:a="http://schemas.openxmlformats.org/drawingml/2006/main">
              <a:ext uri="{FF2B5EF4-FFF2-40B4-BE49-F238E27FC236}">
                <a16:creationId xmlns:a16="http://schemas.microsoft.com/office/drawing/2014/main" id="{B820B466-77B9-4A23-AA95-3AD138D487A7}"/>
              </a:ext>
            </a:extLst>
          </p:cNvPr>
          <p:cNvSpPr>
            <a:spLocks xmlns:a="http://schemas.openxmlformats.org/drawingml/2006/main" noGrp="1"/>
          </p:cNvSpPr>
          <p:nvPr/>
        </p:nvSpPr>
        <p:spPr>
          <a:xfrm xmlns:a="http://schemas.openxmlformats.org/drawingml/2006/main">
            <a:off x="13715238" y="614095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51" name="shape-86">
            <a:extLst xmlns:a="http://schemas.openxmlformats.org/drawingml/2006/main">
              <a:ext uri="{FF2B5EF4-FFF2-40B4-BE49-F238E27FC236}">
                <a16:creationId xmlns:a16="http://schemas.microsoft.com/office/drawing/2014/main" id="{C2C41168-109D-40B3-AAF3-E225A2319C8E}"/>
              </a:ext>
            </a:extLst>
          </p:cNvPr>
          <p:cNvSpPr>
            <a:spLocks xmlns:a="http://schemas.openxmlformats.org/drawingml/2006/main" noGrp="1"/>
          </p:cNvSpPr>
          <p:nvPr/>
        </p:nvSpPr>
        <p:spPr>
          <a:xfrm xmlns:a="http://schemas.openxmlformats.org/drawingml/2006/main">
            <a:off x="14385798" y="614095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43" name=""/>
          <p:cNvCxnSpPr>
            <a:stCxn xmlns:a="http://schemas.openxmlformats.org/drawingml/2006/main" id="48" idx="3"/>
            <a:endCxn xmlns:a="http://schemas.openxmlformats.org/drawingml/2006/main" id="49" idx="1"/>
          </p:cNvCxnSpPr>
          <p:nvPr/>
        </p:nvCxnSpPr>
        <p:spPr>
          <a:xfrm xmlns:a="http://schemas.openxmlformats.org/drawingml/2006/main">
            <a:off x="13107162" y="5181600"/>
            <a:ext cx="608076" cy="0"/>
          </a:xfrm>
          <a:prstGeom xmlns:a="http://schemas.openxmlformats.org/drawingml/2006/main" prst="straightConnector1">
            <a:avLst/>
          </a:prstGeom>
          <a:ln xmlns:a="http://schemas.openxmlformats.org/drawingml/2006/main" w="35052">
            <a:solidFill>
              <a:srgbClr val="2464C7"/>
            </a:solidFill>
            <a:prstDash val="solid"/>
          </a:ln>
        </p:spPr>
      </p:cxnSp>
      <p:cxnSp>
        <p:nvCxnSpPr>
          <p:cNvPr id="144" name=""/>
          <p:cNvCxnSpPr>
            <a:stCxn xmlns:a="http://schemas.openxmlformats.org/drawingml/2006/main" id="49" idx="2"/>
            <a:endCxn xmlns:a="http://schemas.openxmlformats.org/drawingml/2006/main" id="50" idx="0"/>
          </p:cNvCxnSpPr>
          <p:nvPr/>
        </p:nvCxnSpPr>
        <p:spPr>
          <a:xfrm xmlns:a="http://schemas.openxmlformats.org/drawingml/2006/main">
            <a:off x="13716000" y="5182362"/>
            <a:ext cx="0" cy="958596"/>
          </a:xfrm>
          <a:prstGeom xmlns:a="http://schemas.openxmlformats.org/drawingml/2006/main" prst="straightConnector1">
            <a:avLst/>
          </a:prstGeom>
          <a:ln xmlns:a="http://schemas.openxmlformats.org/drawingml/2006/main" w="35052">
            <a:solidFill>
              <a:srgbClr val="2464C7"/>
            </a:solidFill>
            <a:prstDash val="solid"/>
          </a:ln>
        </p:spPr>
      </p:cxnSp>
      <p:cxnSp>
        <p:nvCxnSpPr>
          <p:cNvPr id="145" name=""/>
          <p:cNvCxnSpPr>
            <a:stCxn xmlns:a="http://schemas.openxmlformats.org/drawingml/2006/main" id="50" idx="3"/>
            <a:endCxn xmlns:a="http://schemas.openxmlformats.org/drawingml/2006/main" id="51" idx="1"/>
          </p:cNvCxnSpPr>
          <p:nvPr/>
        </p:nvCxnSpPr>
        <p:spPr>
          <a:xfrm xmlns:a="http://schemas.openxmlformats.org/drawingml/2006/main">
            <a:off x="13716762" y="6141720"/>
            <a:ext cx="669036" cy="0"/>
          </a:xfrm>
          <a:prstGeom xmlns:a="http://schemas.openxmlformats.org/drawingml/2006/main" prst="straightConnector1">
            <a:avLst/>
          </a:prstGeom>
          <a:ln xmlns:a="http://schemas.openxmlformats.org/drawingml/2006/main" w="35052">
            <a:solidFill>
              <a:srgbClr val="2464C7"/>
            </a:solidFill>
            <a:prstDash val="solid"/>
          </a:ln>
        </p:spPr>
      </p:cxnSp>
      <p:sp>
        <p:nvSpPr>
          <p:cNvPr id="55" name="shape-87">
            <a:extLst xmlns:a="http://schemas.openxmlformats.org/drawingml/2006/main">
              <a:ext uri="{FF2B5EF4-FFF2-40B4-BE49-F238E27FC236}">
                <a16:creationId xmlns:a16="http://schemas.microsoft.com/office/drawing/2014/main" id="{8BB41621-9331-42EC-B2F2-2A0FD6E0F0F1}"/>
              </a:ext>
            </a:extLst>
          </p:cNvPr>
          <p:cNvSpPr>
            <a:spLocks xmlns:a="http://schemas.openxmlformats.org/drawingml/2006/main" noGrp="1"/>
          </p:cNvSpPr>
          <p:nvPr/>
        </p:nvSpPr>
        <p:spPr>
          <a:xfrm xmlns:a="http://schemas.openxmlformats.org/drawingml/2006/main" rot="5400000">
            <a:off x="14234160" y="6065520"/>
            <a:ext cx="152400" cy="152400"/>
          </a:xfrm>
          <a:prstGeom xmlns:a="http://schemas.openxmlformats.org/drawingml/2006/main" prst="triangle">
            <a:avLst/>
          </a:prstGeom>
          <a:solidFill xmlns:a="http://schemas.openxmlformats.org/drawingml/2006/main">
            <a:srgbClr val="2464C7"/>
          </a:solidFill>
          <a:ln xmlns:a="http://schemas.openxmlformats.org/drawingml/2006/main" w="0">
            <a:noFill/>
            <a:prstDash val="solid"/>
          </a:ln>
        </p:spPr>
      </p:sp>
      <p:sp>
        <p:nvSpPr>
          <p:cNvPr id="56" name="shape-88">
            <a:extLst xmlns:a="http://schemas.openxmlformats.org/drawingml/2006/main">
              <a:ext uri="{FF2B5EF4-FFF2-40B4-BE49-F238E27FC236}">
                <a16:creationId xmlns:a16="http://schemas.microsoft.com/office/drawing/2014/main" id="{FA724F1F-1205-4D5F-9987-FBF26823B621}"/>
              </a:ext>
            </a:extLst>
          </p:cNvPr>
          <p:cNvSpPr>
            <a:spLocks xmlns:a="http://schemas.openxmlformats.org/drawingml/2006/main" noGrp="1"/>
          </p:cNvSpPr>
          <p:nvPr/>
        </p:nvSpPr>
        <p:spPr>
          <a:xfrm xmlns:a="http://schemas.openxmlformats.org/drawingml/2006/main">
            <a:off x="1310563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57" name="shape-89">
            <a:extLst xmlns:a="http://schemas.openxmlformats.org/drawingml/2006/main">
              <a:ext uri="{FF2B5EF4-FFF2-40B4-BE49-F238E27FC236}">
                <a16:creationId xmlns:a16="http://schemas.microsoft.com/office/drawing/2014/main" id="{BEC1A039-D8D7-47C7-995C-DE214AB72485}"/>
              </a:ext>
            </a:extLst>
          </p:cNvPr>
          <p:cNvSpPr>
            <a:spLocks xmlns:a="http://schemas.openxmlformats.org/drawingml/2006/main" noGrp="1"/>
          </p:cNvSpPr>
          <p:nvPr/>
        </p:nvSpPr>
        <p:spPr>
          <a:xfrm xmlns:a="http://schemas.openxmlformats.org/drawingml/2006/main">
            <a:off x="1438579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49" name=""/>
          <p:cNvCxnSpPr>
            <a:stCxn xmlns:a="http://schemas.openxmlformats.org/drawingml/2006/main" id="56" idx="3"/>
            <a:endCxn xmlns:a="http://schemas.openxmlformats.org/drawingml/2006/main" id="57" idx="1"/>
          </p:cNvCxnSpPr>
          <p:nvPr/>
        </p:nvCxnSpPr>
        <p:spPr>
          <a:xfrm xmlns:a="http://schemas.openxmlformats.org/drawingml/2006/main">
            <a:off x="13107162" y="7162800"/>
            <a:ext cx="1278636" cy="0"/>
          </a:xfrm>
          <a:prstGeom xmlns:a="http://schemas.openxmlformats.org/drawingml/2006/main" prst="straightConnector1">
            <a:avLst/>
          </a:prstGeom>
          <a:ln xmlns:a="http://schemas.openxmlformats.org/drawingml/2006/main" w="35052">
            <a:solidFill>
              <a:srgbClr val="7544C4"/>
            </a:solidFill>
            <a:prstDash val="solid"/>
          </a:ln>
        </p:spPr>
      </p:cxnSp>
      <p:sp>
        <p:nvSpPr>
          <p:cNvPr id="59" name="shape-90">
            <a:extLst xmlns:a="http://schemas.openxmlformats.org/drawingml/2006/main">
              <a:ext uri="{FF2B5EF4-FFF2-40B4-BE49-F238E27FC236}">
                <a16:creationId xmlns:a16="http://schemas.microsoft.com/office/drawing/2014/main" id="{55E4127C-46A3-4B4C-B0EE-6CD4B09F7364}"/>
              </a:ext>
            </a:extLst>
          </p:cNvPr>
          <p:cNvSpPr>
            <a:spLocks xmlns:a="http://schemas.openxmlformats.org/drawingml/2006/main" noGrp="1"/>
          </p:cNvSpPr>
          <p:nvPr/>
        </p:nvSpPr>
        <p:spPr>
          <a:xfrm xmlns:a="http://schemas.openxmlformats.org/drawingml/2006/main" rot="5400000">
            <a:off x="14234160" y="7086600"/>
            <a:ext cx="152400" cy="152400"/>
          </a:xfrm>
          <a:prstGeom xmlns:a="http://schemas.openxmlformats.org/drawingml/2006/main" prst="triangle">
            <a:avLst/>
          </a:prstGeom>
          <a:solidFill xmlns:a="http://schemas.openxmlformats.org/drawingml/2006/main">
            <a:srgbClr val="7544C4"/>
          </a:solidFill>
          <a:ln xmlns:a="http://schemas.openxmlformats.org/drawingml/2006/main" w="0">
            <a:noFill/>
            <a:prstDash val="solid"/>
          </a:ln>
        </p:spPr>
      </p:sp>
      <p:sp>
        <p:nvSpPr>
          <p:cNvPr id="60" name="shape-91">
            <a:extLst xmlns:a="http://schemas.openxmlformats.org/drawingml/2006/main">
              <a:ext uri="{FF2B5EF4-FFF2-40B4-BE49-F238E27FC236}">
                <a16:creationId xmlns:a16="http://schemas.microsoft.com/office/drawing/2014/main" id="{0B70E1AF-5105-4859-9E37-D6A83AA0022E}"/>
              </a:ext>
            </a:extLst>
          </p:cNvPr>
          <p:cNvSpPr>
            <a:spLocks xmlns:a="http://schemas.openxmlformats.org/drawingml/2006/main" noGrp="1"/>
          </p:cNvSpPr>
          <p:nvPr/>
        </p:nvSpPr>
        <p:spPr>
          <a:xfrm xmlns:a="http://schemas.openxmlformats.org/drawingml/2006/main">
            <a:off x="13105638" y="91432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61" name="shape-92">
            <a:extLst xmlns:a="http://schemas.openxmlformats.org/drawingml/2006/main">
              <a:ext uri="{FF2B5EF4-FFF2-40B4-BE49-F238E27FC236}">
                <a16:creationId xmlns:a16="http://schemas.microsoft.com/office/drawing/2014/main" id="{4842AAC5-E956-4506-923B-C00212EC80F1}"/>
              </a:ext>
            </a:extLst>
          </p:cNvPr>
          <p:cNvSpPr>
            <a:spLocks xmlns:a="http://schemas.openxmlformats.org/drawingml/2006/main" noGrp="1"/>
          </p:cNvSpPr>
          <p:nvPr/>
        </p:nvSpPr>
        <p:spPr>
          <a:xfrm xmlns:a="http://schemas.openxmlformats.org/drawingml/2006/main">
            <a:off x="13715238" y="91432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62" name="shape-93">
            <a:extLst xmlns:a="http://schemas.openxmlformats.org/drawingml/2006/main">
              <a:ext uri="{FF2B5EF4-FFF2-40B4-BE49-F238E27FC236}">
                <a16:creationId xmlns:a16="http://schemas.microsoft.com/office/drawing/2014/main" id="{BA4166DF-B89D-47DD-BDFE-0C3B30EE9F99}"/>
              </a:ext>
            </a:extLst>
          </p:cNvPr>
          <p:cNvSpPr>
            <a:spLocks xmlns:a="http://schemas.openxmlformats.org/drawingml/2006/main" noGrp="1"/>
          </p:cNvSpPr>
          <p:nvPr/>
        </p:nvSpPr>
        <p:spPr>
          <a:xfrm xmlns:a="http://schemas.openxmlformats.org/drawingml/2006/main">
            <a:off x="13715238" y="819835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63" name="shape-94">
            <a:extLst xmlns:a="http://schemas.openxmlformats.org/drawingml/2006/main">
              <a:ext uri="{FF2B5EF4-FFF2-40B4-BE49-F238E27FC236}">
                <a16:creationId xmlns:a16="http://schemas.microsoft.com/office/drawing/2014/main" id="{B59CC2CB-368C-4AB8-A86B-87EA0202A4D6}"/>
              </a:ext>
            </a:extLst>
          </p:cNvPr>
          <p:cNvSpPr>
            <a:spLocks xmlns:a="http://schemas.openxmlformats.org/drawingml/2006/main" noGrp="1"/>
          </p:cNvSpPr>
          <p:nvPr/>
        </p:nvSpPr>
        <p:spPr>
          <a:xfrm xmlns:a="http://schemas.openxmlformats.org/drawingml/2006/main">
            <a:off x="14385798" y="819835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55" name=""/>
          <p:cNvCxnSpPr>
            <a:stCxn xmlns:a="http://schemas.openxmlformats.org/drawingml/2006/main" id="60" idx="3"/>
            <a:endCxn xmlns:a="http://schemas.openxmlformats.org/drawingml/2006/main" id="61" idx="1"/>
          </p:cNvCxnSpPr>
          <p:nvPr/>
        </p:nvCxnSpPr>
        <p:spPr>
          <a:xfrm xmlns:a="http://schemas.openxmlformats.org/drawingml/2006/main">
            <a:off x="13107162" y="9144000"/>
            <a:ext cx="608076" cy="0"/>
          </a:xfrm>
          <a:prstGeom xmlns:a="http://schemas.openxmlformats.org/drawingml/2006/main" prst="straightConnector1">
            <a:avLst/>
          </a:prstGeom>
          <a:ln xmlns:a="http://schemas.openxmlformats.org/drawingml/2006/main" w="35052">
            <a:solidFill>
              <a:srgbClr val="087E70"/>
            </a:solidFill>
            <a:prstDash val="solid"/>
          </a:ln>
        </p:spPr>
      </p:cxnSp>
      <p:cxnSp>
        <p:nvCxnSpPr>
          <p:cNvPr id="156" name=""/>
          <p:cNvCxnSpPr>
            <a:stCxn xmlns:a="http://schemas.openxmlformats.org/drawingml/2006/main" id="61" idx="0"/>
            <a:endCxn xmlns:a="http://schemas.openxmlformats.org/drawingml/2006/main" id="62" idx="2"/>
          </p:cNvCxnSpPr>
          <p:nvPr/>
        </p:nvCxnSpPr>
        <p:spPr>
          <a:xfrm xmlns:a="http://schemas.openxmlformats.org/drawingml/2006/main" flipV="1">
            <a:off x="13716000" y="8199882"/>
            <a:ext cx="0" cy="943356"/>
          </a:xfrm>
          <a:prstGeom xmlns:a="http://schemas.openxmlformats.org/drawingml/2006/main" prst="straightConnector1">
            <a:avLst/>
          </a:prstGeom>
          <a:ln xmlns:a="http://schemas.openxmlformats.org/drawingml/2006/main" w="35052">
            <a:solidFill>
              <a:srgbClr val="087E70"/>
            </a:solidFill>
            <a:prstDash val="solid"/>
          </a:ln>
        </p:spPr>
      </p:cxnSp>
      <p:cxnSp>
        <p:nvCxnSpPr>
          <p:cNvPr id="157" name=""/>
          <p:cNvCxnSpPr>
            <a:stCxn xmlns:a="http://schemas.openxmlformats.org/drawingml/2006/main" id="62" idx="3"/>
            <a:endCxn xmlns:a="http://schemas.openxmlformats.org/drawingml/2006/main" id="63" idx="1"/>
          </p:cNvCxnSpPr>
          <p:nvPr/>
        </p:nvCxnSpPr>
        <p:spPr>
          <a:xfrm xmlns:a="http://schemas.openxmlformats.org/drawingml/2006/main">
            <a:off x="13716762" y="8199120"/>
            <a:ext cx="669036" cy="0"/>
          </a:xfrm>
          <a:prstGeom xmlns:a="http://schemas.openxmlformats.org/drawingml/2006/main" prst="straightConnector1">
            <a:avLst/>
          </a:prstGeom>
          <a:ln xmlns:a="http://schemas.openxmlformats.org/drawingml/2006/main" w="35052">
            <a:solidFill>
              <a:srgbClr val="087E70"/>
            </a:solidFill>
            <a:prstDash val="solid"/>
          </a:ln>
        </p:spPr>
      </p:cxnSp>
      <p:sp>
        <p:nvSpPr>
          <p:cNvPr id="67" name="shape-95">
            <a:extLst xmlns:a="http://schemas.openxmlformats.org/drawingml/2006/main">
              <a:ext uri="{FF2B5EF4-FFF2-40B4-BE49-F238E27FC236}">
                <a16:creationId xmlns:a16="http://schemas.microsoft.com/office/drawing/2014/main" id="{9777ACB6-3DD4-46F1-BD91-8044A722FA1E}"/>
              </a:ext>
            </a:extLst>
          </p:cNvPr>
          <p:cNvSpPr>
            <a:spLocks xmlns:a="http://schemas.openxmlformats.org/drawingml/2006/main" noGrp="1"/>
          </p:cNvSpPr>
          <p:nvPr/>
        </p:nvSpPr>
        <p:spPr>
          <a:xfrm xmlns:a="http://schemas.openxmlformats.org/drawingml/2006/main" rot="5400000">
            <a:off x="14234160" y="8122920"/>
            <a:ext cx="152400" cy="152400"/>
          </a:xfrm>
          <a:prstGeom xmlns:a="http://schemas.openxmlformats.org/drawingml/2006/main" prst="triangle">
            <a:avLst/>
          </a:prstGeom>
          <a:solidFill xmlns:a="http://schemas.openxmlformats.org/drawingml/2006/main">
            <a:srgbClr val="087E70"/>
          </a:solidFill>
          <a:ln xmlns:a="http://schemas.openxmlformats.org/drawingml/2006/main" w="0">
            <a:noFill/>
            <a:prstDash val="solid"/>
          </a:ln>
        </p:spPr>
      </p:sp>
      <p:sp>
        <p:nvSpPr>
          <p:cNvPr id="68" name="shape-96">
            <a:extLst xmlns:a="http://schemas.openxmlformats.org/drawingml/2006/main">
              <a:ext uri="{FF2B5EF4-FFF2-40B4-BE49-F238E27FC236}">
                <a16:creationId xmlns:a16="http://schemas.microsoft.com/office/drawing/2014/main" id="{15E44753-FFD4-4C53-8D75-F59EC632EE24}"/>
              </a:ext>
            </a:extLst>
          </p:cNvPr>
          <p:cNvSpPr>
            <a:spLocks xmlns:a="http://schemas.openxmlformats.org/drawingml/2006/main" noGrp="1"/>
          </p:cNvSpPr>
          <p:nvPr/>
        </p:nvSpPr>
        <p:spPr>
          <a:xfrm xmlns:a="http://schemas.openxmlformats.org/drawingml/2006/main">
            <a:off x="14386560" y="4846320"/>
            <a:ext cx="4282440" cy="4632960"/>
          </a:xfrm>
          <a:prstGeom xmlns:a="http://schemas.openxmlformats.org/drawingml/2006/main" prst="rect">
            <a:avLst/>
          </a:prstGeom>
          <a:solidFill xmlns:a="http://schemas.openxmlformats.org/drawingml/2006/main">
            <a:srgbClr val="FFF0E8"/>
          </a:solidFill>
          <a:ln xmlns:a="http://schemas.openxmlformats.org/drawingml/2006/main" w="0">
            <a:noFill/>
            <a:prstDash val="solid"/>
          </a:ln>
        </p:spPr>
      </p:sp>
      <p:sp>
        <p:nvSpPr>
          <p:cNvPr id="69" name="shape-97">
            <a:extLst xmlns:a="http://schemas.openxmlformats.org/drawingml/2006/main">
              <a:ext uri="{FF2B5EF4-FFF2-40B4-BE49-F238E27FC236}">
                <a16:creationId xmlns:a16="http://schemas.microsoft.com/office/drawing/2014/main" id="{64B41355-3315-4F12-B73A-5685D8C94124}"/>
              </a:ext>
            </a:extLst>
          </p:cNvPr>
          <p:cNvSpPr>
            <a:spLocks xmlns:a="http://schemas.openxmlformats.org/drawingml/2006/main" noGrp="1"/>
          </p:cNvSpPr>
          <p:nvPr/>
        </p:nvSpPr>
        <p:spPr>
          <a:xfrm xmlns:a="http://schemas.openxmlformats.org/drawingml/2006/main">
            <a:off x="14691360" y="5059680"/>
            <a:ext cx="1036320" cy="701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200" b="1">
                <a:solidFill>
                  <a:srgbClr val="C84D35"/>
                </a:solidFill>
                <a:latin typeface="Arial"/>
                <a:ea typeface="Arial"/>
                <a:cs typeface="Arial"/>
              </a:defRPr>
            </a:pPr>
            <a:r>
              <a:rPr sz="4200" b="1">
                <a:solidFill>
                  <a:srgbClr val="C84D35"/>
                </a:solidFill>
                <a:latin typeface="Arial"/>
                <a:ea typeface="Arial"/>
                <a:cs typeface="Arial"/>
              </a:rPr>
              <a:t>02</a:t>
            </a:r>
          </a:p>
        </p:txBody>
      </p:sp>
      <p:sp>
        <p:nvSpPr>
          <p:cNvPr id="70" name="shape-98">
            <a:extLst xmlns:a="http://schemas.openxmlformats.org/drawingml/2006/main">
              <a:ext uri="{FF2B5EF4-FFF2-40B4-BE49-F238E27FC236}">
                <a16:creationId xmlns:a16="http://schemas.microsoft.com/office/drawing/2014/main" id="{F2013AD9-F856-43EF-BDA3-D5E97163B404}"/>
              </a:ext>
            </a:extLst>
          </p:cNvPr>
          <p:cNvSpPr>
            <a:spLocks xmlns:a="http://schemas.openxmlformats.org/drawingml/2006/main" noGrp="1"/>
          </p:cNvSpPr>
          <p:nvPr/>
        </p:nvSpPr>
        <p:spPr>
          <a:xfrm xmlns:a="http://schemas.openxmlformats.org/drawingml/2006/main">
            <a:off x="14691360" y="5928360"/>
            <a:ext cx="3657600" cy="594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720" b="1">
                <a:solidFill>
                  <a:srgbClr val="C84D35"/>
                </a:solidFill>
                <a:latin typeface="Arial"/>
                <a:ea typeface="Arial"/>
                <a:cs typeface="Arial"/>
              </a:defRPr>
            </a:pPr>
            <a:r>
              <a:rPr sz="3720" b="1">
                <a:solidFill>
                  <a:srgbClr val="C84D35"/>
                </a:solidFill>
                <a:latin typeface="Arial"/>
                <a:ea typeface="Arial"/>
                <a:cs typeface="Arial"/>
              </a:rPr>
              <a:t>Align + join</a:t>
            </a:r>
          </a:p>
        </p:txBody>
      </p:sp>
      <p:sp>
        <p:nvSpPr>
          <p:cNvPr id="71" name="shape-99">
            <a:extLst xmlns:a="http://schemas.openxmlformats.org/drawingml/2006/main">
              <a:ext uri="{FF2B5EF4-FFF2-40B4-BE49-F238E27FC236}">
                <a16:creationId xmlns:a16="http://schemas.microsoft.com/office/drawing/2014/main" id="{FEB68952-EF18-4FD0-9183-BAF0CA1E2CAB}"/>
              </a:ext>
            </a:extLst>
          </p:cNvPr>
          <p:cNvSpPr>
            <a:spLocks xmlns:a="http://schemas.openxmlformats.org/drawingml/2006/main" noGrp="1"/>
          </p:cNvSpPr>
          <p:nvPr/>
        </p:nvSpPr>
        <p:spPr>
          <a:xfrm xmlns:a="http://schemas.openxmlformats.org/drawingml/2006/main">
            <a:off x="14691360" y="6842760"/>
            <a:ext cx="3642360" cy="2179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4243B"/>
                </a:solidFill>
                <a:latin typeface="Arial"/>
                <a:ea typeface="Arial"/>
                <a:cs typeface="Arial"/>
              </a:defRPr>
            </a:pPr>
            <a:r>
              <a:rPr sz="3000" b="0">
                <a:solidFill>
                  <a:srgbClr val="14243B"/>
                </a:solidFill>
                <a:latin typeface="Arial"/>
                <a:ea typeface="Arial"/>
                <a:cs typeface="Arial"/>
              </a:rPr>
              <a:t>Align local windows</a:t>
            </a:r>
          </a:p>
          <a:p xmlns:a="http://schemas.openxmlformats.org/drawingml/2006/main">
            <a:pPr algn="l">
              <a:lnSpc>
                <a:spcPct val="108000"/>
              </a:lnSpc>
              <a:buNone/>
              <a:defRPr sz="3000" b="0">
                <a:solidFill>
                  <a:srgbClr val="14243B"/>
                </a:solidFill>
                <a:latin typeface="Arial"/>
                <a:ea typeface="Arial"/>
                <a:cs typeface="Arial"/>
              </a:defRPr>
            </a:pPr>
            <a:r>
              <a:rPr sz="3000" b="0">
                <a:solidFill>
                  <a:srgbClr val="14243B"/>
                </a:solidFill>
                <a:latin typeface="Arial"/>
                <a:ea typeface="Arial"/>
                <a:cs typeface="Arial"/>
              </a:rPr>
              <a:t>Use shared frames</a:t>
            </a:r>
          </a:p>
          <a:p xmlns:a="http://schemas.openxmlformats.org/drawingml/2006/main">
            <a:pPr algn="l">
              <a:lnSpc>
                <a:spcPct val="108000"/>
              </a:lnSpc>
              <a:buNone/>
              <a:defRPr sz="3000" b="0">
                <a:solidFill>
                  <a:srgbClr val="14243B"/>
                </a:solidFill>
                <a:latin typeface="Arial"/>
                <a:ea typeface="Arial"/>
                <a:cs typeface="Arial"/>
              </a:defRPr>
            </a:pPr>
            <a:r>
              <a:rPr sz="3000" b="0">
                <a:solidFill>
                  <a:srgbClr val="14243B"/>
                </a:solidFill>
                <a:latin typeface="Arial"/>
                <a:ea typeface="Arial"/>
                <a:cs typeface="Arial"/>
              </a:rPr>
              <a:t>Fuse the 3D points</a:t>
            </a:r>
          </a:p>
          <a:p xmlns:a="http://schemas.openxmlformats.org/drawingml/2006/main">
            <a:pPr algn="l">
              <a:lnSpc>
                <a:spcPct val="108000"/>
              </a:lnSpc>
              <a:buNone/>
              <a:defRPr sz="3000" b="0">
                <a:solidFill>
                  <a:srgbClr val="14243B"/>
                </a:solidFill>
                <a:latin typeface="Arial"/>
                <a:ea typeface="Arial"/>
                <a:cs typeface="Arial"/>
              </a:defRPr>
            </a:pPr>
            <a:r>
              <a:rPr sz="3000" b="0">
                <a:solidFill>
                  <a:srgbClr val="14243B"/>
                </a:solidFill>
                <a:latin typeface="Arial"/>
                <a:ea typeface="Arial"/>
                <a:cs typeface="Arial"/>
              </a:rPr>
              <a:t>Filter + mesh</a:t>
            </a:r>
          </a:p>
        </p:txBody>
      </p:sp>
      <p:sp>
        <p:nvSpPr>
          <p:cNvPr id="72" name="shape-100">
            <a:extLst xmlns:a="http://schemas.openxmlformats.org/drawingml/2006/main">
              <a:ext uri="{FF2B5EF4-FFF2-40B4-BE49-F238E27FC236}">
                <a16:creationId xmlns:a16="http://schemas.microsoft.com/office/drawing/2014/main" id="{756B416F-04F6-4B5C-A88F-9D7C7AD26000}"/>
              </a:ext>
            </a:extLst>
          </p:cNvPr>
          <p:cNvSpPr>
            <a:spLocks xmlns:a="http://schemas.openxmlformats.org/drawingml/2006/main" noGrp="1"/>
          </p:cNvSpPr>
          <p:nvPr/>
        </p:nvSpPr>
        <p:spPr>
          <a:xfrm xmlns:a="http://schemas.openxmlformats.org/drawingml/2006/main">
            <a:off x="1866823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73" name="shape-101">
            <a:extLst xmlns:a="http://schemas.openxmlformats.org/drawingml/2006/main">
              <a:ext uri="{FF2B5EF4-FFF2-40B4-BE49-F238E27FC236}">
                <a16:creationId xmlns:a16="http://schemas.microsoft.com/office/drawing/2014/main" id="{5CA699E1-9260-4D9E-83B2-3C00B2BFA29D}"/>
              </a:ext>
            </a:extLst>
          </p:cNvPr>
          <p:cNvSpPr>
            <a:spLocks xmlns:a="http://schemas.openxmlformats.org/drawingml/2006/main" noGrp="1"/>
          </p:cNvSpPr>
          <p:nvPr/>
        </p:nvSpPr>
        <p:spPr>
          <a:xfrm xmlns:a="http://schemas.openxmlformats.org/drawingml/2006/main">
            <a:off x="19582638" y="716203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65" name=""/>
          <p:cNvCxnSpPr>
            <a:stCxn xmlns:a="http://schemas.openxmlformats.org/drawingml/2006/main" id="72" idx="3"/>
            <a:endCxn xmlns:a="http://schemas.openxmlformats.org/drawingml/2006/main" id="73" idx="1"/>
          </p:cNvCxnSpPr>
          <p:nvPr/>
        </p:nvCxnSpPr>
        <p:spPr>
          <a:xfrm xmlns:a="http://schemas.openxmlformats.org/drawingml/2006/main">
            <a:off x="18669762" y="7162800"/>
            <a:ext cx="912876" cy="0"/>
          </a:xfrm>
          <a:prstGeom xmlns:a="http://schemas.openxmlformats.org/drawingml/2006/main" prst="straightConnector1">
            <a:avLst/>
          </a:prstGeom>
          <a:ln xmlns:a="http://schemas.openxmlformats.org/drawingml/2006/main" w="35052">
            <a:solidFill>
              <a:srgbClr val="087E70"/>
            </a:solidFill>
            <a:prstDash val="solid"/>
          </a:ln>
        </p:spPr>
      </p:cxnSp>
      <p:sp>
        <p:nvSpPr>
          <p:cNvPr id="75" name="shape-102">
            <a:extLst xmlns:a="http://schemas.openxmlformats.org/drawingml/2006/main">
              <a:ext uri="{FF2B5EF4-FFF2-40B4-BE49-F238E27FC236}">
                <a16:creationId xmlns:a16="http://schemas.microsoft.com/office/drawing/2014/main" id="{D94AA3F0-045B-4BC8-AE46-53461FEF9BF0}"/>
              </a:ext>
            </a:extLst>
          </p:cNvPr>
          <p:cNvSpPr>
            <a:spLocks xmlns:a="http://schemas.openxmlformats.org/drawingml/2006/main" noGrp="1"/>
          </p:cNvSpPr>
          <p:nvPr/>
        </p:nvSpPr>
        <p:spPr>
          <a:xfrm xmlns:a="http://schemas.openxmlformats.org/drawingml/2006/main" rot="5400000">
            <a:off x="19431000" y="7086600"/>
            <a:ext cx="152400" cy="152400"/>
          </a:xfrm>
          <a:prstGeom xmlns:a="http://schemas.openxmlformats.org/drawingml/2006/main" prst="triangle">
            <a:avLst/>
          </a:prstGeom>
          <a:solidFill xmlns:a="http://schemas.openxmlformats.org/drawingml/2006/main">
            <a:srgbClr val="087E70"/>
          </a:solidFill>
          <a:ln xmlns:a="http://schemas.openxmlformats.org/drawingml/2006/main" w="0">
            <a:noFill/>
            <a:prstDash val="solid"/>
          </a:ln>
        </p:spPr>
      </p:sp>
      <p:sp>
        <p:nvSpPr>
          <p:cNvPr id="76" name="shape-103">
            <a:extLst xmlns:a="http://schemas.openxmlformats.org/drawingml/2006/main">
              <a:ext uri="{FF2B5EF4-FFF2-40B4-BE49-F238E27FC236}">
                <a16:creationId xmlns:a16="http://schemas.microsoft.com/office/drawing/2014/main" id="{65A9F680-D878-4DB1-9270-54D5AB2813A5}"/>
              </a:ext>
            </a:extLst>
          </p:cNvPr>
          <p:cNvSpPr>
            <a:spLocks xmlns:a="http://schemas.openxmlformats.org/drawingml/2006/main" noGrp="1"/>
          </p:cNvSpPr>
          <p:nvPr/>
        </p:nvSpPr>
        <p:spPr>
          <a:xfrm xmlns:a="http://schemas.openxmlformats.org/drawingml/2006/main">
            <a:off x="19964400" y="5090160"/>
            <a:ext cx="111252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200" b="1">
                <a:solidFill>
                  <a:srgbClr val="087E70"/>
                </a:solidFill>
                <a:latin typeface="Arial"/>
                <a:ea typeface="Arial"/>
                <a:cs typeface="Arial"/>
              </a:defRPr>
            </a:pPr>
            <a:r>
              <a:rPr sz="4200" b="1">
                <a:solidFill>
                  <a:srgbClr val="087E70"/>
                </a:solidFill>
                <a:latin typeface="Arial"/>
                <a:ea typeface="Arial"/>
                <a:cs typeface="Arial"/>
              </a:rPr>
              <a:t>03</a:t>
            </a:r>
          </a:p>
        </p:txBody>
      </p:sp>
      <p:sp>
        <p:nvSpPr>
          <p:cNvPr id="77" name="shape-104">
            <a:extLst xmlns:a="http://schemas.openxmlformats.org/drawingml/2006/main">
              <a:ext uri="{FF2B5EF4-FFF2-40B4-BE49-F238E27FC236}">
                <a16:creationId xmlns:a16="http://schemas.microsoft.com/office/drawing/2014/main" id="{A4FD0AD3-A9E7-4F1E-A5FB-A3DBF55D7535}"/>
              </a:ext>
            </a:extLst>
          </p:cNvPr>
          <p:cNvSpPr>
            <a:spLocks xmlns:a="http://schemas.openxmlformats.org/drawingml/2006/main" noGrp="1"/>
          </p:cNvSpPr>
          <p:nvPr/>
        </p:nvSpPr>
        <p:spPr>
          <a:xfrm xmlns:a="http://schemas.openxmlformats.org/drawingml/2006/main">
            <a:off x="19613880" y="6050280"/>
            <a:ext cx="405384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360" b="1">
                <a:solidFill>
                  <a:srgbClr val="087E70"/>
                </a:solidFill>
                <a:latin typeface="Arial"/>
                <a:ea typeface="Arial"/>
                <a:cs typeface="Arial"/>
              </a:defRPr>
            </a:pPr>
            <a:r>
              <a:rPr sz="3360" b="1">
                <a:solidFill>
                  <a:srgbClr val="087E70"/>
                </a:solidFill>
                <a:latin typeface="Arial"/>
                <a:ea typeface="Arial"/>
                <a:cs typeface="Arial"/>
              </a:rPr>
              <a:t>Inspect + export</a:t>
            </a:r>
          </a:p>
        </p:txBody>
      </p:sp>
      <p:sp>
        <p:nvSpPr>
          <p:cNvPr id="78" name="shape-105">
            <a:extLst xmlns:a="http://schemas.openxmlformats.org/drawingml/2006/main">
              <a:ext uri="{FF2B5EF4-FFF2-40B4-BE49-F238E27FC236}">
                <a16:creationId xmlns:a16="http://schemas.microsoft.com/office/drawing/2014/main" id="{065C5B15-4DC0-4A0A-8643-AA9572D9FFC3}"/>
              </a:ext>
            </a:extLst>
          </p:cNvPr>
          <p:cNvSpPr>
            <a:spLocks xmlns:a="http://schemas.openxmlformats.org/drawingml/2006/main" noGrp="1"/>
          </p:cNvSpPr>
          <p:nvPr/>
        </p:nvSpPr>
        <p:spPr>
          <a:xfrm xmlns:a="http://schemas.openxmlformats.org/drawingml/2006/main">
            <a:off x="19613880" y="7117080"/>
            <a:ext cx="4053840" cy="1722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120" b="0">
                <a:solidFill>
                  <a:srgbClr val="14243B"/>
                </a:solidFill>
                <a:latin typeface="Arial"/>
                <a:ea typeface="Arial"/>
                <a:cs typeface="Arial"/>
              </a:defRPr>
            </a:pPr>
            <a:r>
              <a:rPr sz="3120" b="0">
                <a:solidFill>
                  <a:srgbClr val="14243B"/>
                </a:solidFill>
                <a:latin typeface="Arial"/>
                <a:ea typeface="Arial"/>
                <a:cs typeface="Arial"/>
              </a:rPr>
              <a:t>3D viewer</a:t>
            </a:r>
          </a:p>
          <a:p xmlns:a="http://schemas.openxmlformats.org/drawingml/2006/main">
            <a:pPr algn="l">
              <a:lnSpc>
                <a:spcPct val="108000"/>
              </a:lnSpc>
              <a:buNone/>
              <a:defRPr sz="3120" b="0">
                <a:solidFill>
                  <a:srgbClr val="14243B"/>
                </a:solidFill>
                <a:latin typeface="Arial"/>
                <a:ea typeface="Arial"/>
                <a:cs typeface="Arial"/>
              </a:defRPr>
            </a:pPr>
            <a:r>
              <a:rPr sz="3120" b="0">
                <a:solidFill>
                  <a:srgbClr val="14243B"/>
                </a:solidFill>
                <a:latin typeface="Arial"/>
                <a:ea typeface="Arial"/>
                <a:cs typeface="Arial"/>
              </a:rPr>
              <a:t>Point cloud / mesh</a:t>
            </a:r>
          </a:p>
          <a:p xmlns:a="http://schemas.openxmlformats.org/drawingml/2006/main">
            <a:pPr algn="l">
              <a:lnSpc>
                <a:spcPct val="108000"/>
              </a:lnSpc>
              <a:buNone/>
              <a:defRPr sz="3120" b="0">
                <a:solidFill>
                  <a:srgbClr val="14243B"/>
                </a:solidFill>
                <a:latin typeface="Arial"/>
                <a:ea typeface="Arial"/>
                <a:cs typeface="Arial"/>
              </a:defRPr>
            </a:pPr>
            <a:r>
              <a:rPr sz="3120" b="0">
                <a:solidFill>
                  <a:srgbClr val="14243B"/>
                </a:solidFill>
                <a:latin typeface="Arial"/>
                <a:ea typeface="Arial"/>
                <a:cs typeface="Arial"/>
              </a:rPr>
              <a:t>Geospatial files</a:t>
            </a:r>
          </a:p>
        </p:txBody>
      </p:sp>
      <p:sp>
        <p:nvSpPr>
          <p:cNvPr id="79" name="shape-106">
            <a:extLst xmlns:a="http://schemas.openxmlformats.org/drawingml/2006/main">
              <a:ext uri="{FF2B5EF4-FFF2-40B4-BE49-F238E27FC236}">
                <a16:creationId xmlns:a16="http://schemas.microsoft.com/office/drawing/2014/main" id="{34D17C57-6F1C-4BD1-86AC-DCF1DAEDB182}"/>
              </a:ext>
            </a:extLst>
          </p:cNvPr>
          <p:cNvSpPr>
            <a:spLocks xmlns:a="http://schemas.openxmlformats.org/drawingml/2006/main" noGrp="1"/>
          </p:cNvSpPr>
          <p:nvPr/>
        </p:nvSpPr>
        <p:spPr>
          <a:xfrm xmlns:a="http://schemas.openxmlformats.org/drawingml/2006/main">
            <a:off x="868680" y="10774680"/>
            <a:ext cx="12237720" cy="1524000"/>
          </a:xfrm>
          <a:prstGeom xmlns:a="http://schemas.openxmlformats.org/drawingml/2006/main" prst="rect">
            <a:avLst/>
          </a:prstGeom>
          <a:solidFill xmlns:a="http://schemas.openxmlformats.org/drawingml/2006/main">
            <a:srgbClr val="FFF0E8"/>
          </a:solidFill>
          <a:ln xmlns:a="http://schemas.openxmlformats.org/drawingml/2006/main" w="0">
            <a:noFill/>
            <a:prstDash val="solid"/>
          </a:ln>
        </p:spPr>
      </p:sp>
      <p:sp>
        <p:nvSpPr>
          <p:cNvPr id="80" name="shape-107">
            <a:extLst xmlns:a="http://schemas.openxmlformats.org/drawingml/2006/main">
              <a:ext uri="{FF2B5EF4-FFF2-40B4-BE49-F238E27FC236}">
                <a16:creationId xmlns:a16="http://schemas.microsoft.com/office/drawing/2014/main" id="{FEC3D04F-8D2A-443F-B941-38B472B24E97}"/>
              </a:ext>
            </a:extLst>
          </p:cNvPr>
          <p:cNvSpPr>
            <a:spLocks xmlns:a="http://schemas.openxmlformats.org/drawingml/2006/main" noGrp="1"/>
          </p:cNvSpPr>
          <p:nvPr/>
        </p:nvSpPr>
        <p:spPr>
          <a:xfrm xmlns:a="http://schemas.openxmlformats.org/drawingml/2006/main">
            <a:off x="1158240" y="10988040"/>
            <a:ext cx="670560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C84D35"/>
                </a:solidFill>
                <a:latin typeface="Arial"/>
                <a:ea typeface="Arial"/>
                <a:cs typeface="Arial"/>
              </a:defRPr>
            </a:pPr>
            <a:r>
              <a:rPr sz="3000" b="1">
                <a:solidFill>
                  <a:srgbClr val="C84D35"/>
                </a:solidFill>
                <a:latin typeface="Arial"/>
                <a:ea typeface="Arial"/>
                <a:cs typeface="Arial"/>
              </a:rPr>
              <a:t>Flight telemetry</a:t>
            </a:r>
          </a:p>
        </p:txBody>
      </p:sp>
      <p:sp>
        <p:nvSpPr>
          <p:cNvPr id="81" name="shape-108">
            <a:extLst xmlns:a="http://schemas.openxmlformats.org/drawingml/2006/main">
              <a:ext uri="{FF2B5EF4-FFF2-40B4-BE49-F238E27FC236}">
                <a16:creationId xmlns:a16="http://schemas.microsoft.com/office/drawing/2014/main" id="{7AC5A40F-0839-4871-81D8-ED3EBDBCF6DB}"/>
              </a:ext>
            </a:extLst>
          </p:cNvPr>
          <p:cNvSpPr>
            <a:spLocks xmlns:a="http://schemas.openxmlformats.org/drawingml/2006/main" noGrp="1"/>
          </p:cNvSpPr>
          <p:nvPr/>
        </p:nvSpPr>
        <p:spPr>
          <a:xfrm xmlns:a="http://schemas.openxmlformats.org/drawingml/2006/main">
            <a:off x="1173480" y="11628120"/>
            <a:ext cx="1150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40" b="0">
                <a:solidFill>
                  <a:srgbClr val="14243B"/>
                </a:solidFill>
                <a:latin typeface="Arial"/>
                <a:ea typeface="Arial"/>
                <a:cs typeface="Arial"/>
              </a:defRPr>
            </a:pPr>
            <a:r>
              <a:rPr sz="2640" b="0">
                <a:solidFill>
                  <a:srgbClr val="14243B"/>
                </a:solidFill>
                <a:latin typeface="Arial"/>
                <a:ea typeface="Arial"/>
                <a:cs typeface="Arial"/>
              </a:rPr>
              <a:t>GNSS velocity + altitude guide the route. GPS places it on the map.</a:t>
            </a:r>
          </a:p>
        </p:txBody>
      </p:sp>
      <p:sp>
        <p:nvSpPr>
          <p:cNvPr id="82" name="shape-109">
            <a:extLst xmlns:a="http://schemas.openxmlformats.org/drawingml/2006/main">
              <a:ext uri="{FF2B5EF4-FFF2-40B4-BE49-F238E27FC236}">
                <a16:creationId xmlns:a16="http://schemas.microsoft.com/office/drawing/2014/main" id="{DE60B3DB-B482-4341-9632-175D075CCCF1}"/>
              </a:ext>
            </a:extLst>
          </p:cNvPr>
          <p:cNvSpPr>
            <a:spLocks xmlns:a="http://schemas.openxmlformats.org/drawingml/2006/main" noGrp="1"/>
          </p:cNvSpPr>
          <p:nvPr/>
        </p:nvSpPr>
        <p:spPr>
          <a:xfrm xmlns:a="http://schemas.openxmlformats.org/drawingml/2006/main">
            <a:off x="13105638" y="1153591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83" name="shape-110">
            <a:extLst xmlns:a="http://schemas.openxmlformats.org/drawingml/2006/main">
              <a:ext uri="{FF2B5EF4-FFF2-40B4-BE49-F238E27FC236}">
                <a16:creationId xmlns:a16="http://schemas.microsoft.com/office/drawing/2014/main" id="{55FB87CB-C4BA-4DDF-8909-6297DB917B19}"/>
              </a:ext>
            </a:extLst>
          </p:cNvPr>
          <p:cNvSpPr>
            <a:spLocks xmlns:a="http://schemas.openxmlformats.org/drawingml/2006/main" noGrp="1"/>
          </p:cNvSpPr>
          <p:nvPr/>
        </p:nvSpPr>
        <p:spPr>
          <a:xfrm xmlns:a="http://schemas.openxmlformats.org/drawingml/2006/main">
            <a:off x="14096238" y="1153591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84" name="shape-111">
            <a:extLst xmlns:a="http://schemas.openxmlformats.org/drawingml/2006/main">
              <a:ext uri="{FF2B5EF4-FFF2-40B4-BE49-F238E27FC236}">
                <a16:creationId xmlns:a16="http://schemas.microsoft.com/office/drawing/2014/main" id="{54A9BF4C-62B8-4624-86D5-8CC35832A685}"/>
              </a:ext>
            </a:extLst>
          </p:cNvPr>
          <p:cNvSpPr>
            <a:spLocks xmlns:a="http://schemas.openxmlformats.org/drawingml/2006/main" noGrp="1"/>
          </p:cNvSpPr>
          <p:nvPr/>
        </p:nvSpPr>
        <p:spPr>
          <a:xfrm xmlns:a="http://schemas.openxmlformats.org/drawingml/2006/main">
            <a:off x="14096238" y="8960358"/>
            <a:ext cx="1524" cy="1524"/>
          </a:xfrm>
          <a:prstGeom xmlns:a="http://schemas.openxmlformats.org/drawingml/2006/main" prst="rect">
            <a:avLst/>
          </a:prstGeom>
          <a:noFill xmlns:a="http://schemas.openxmlformats.org/drawingml/2006/main"/>
          <a:ln xmlns:a="http://schemas.openxmlformats.org/drawingml/2006/main" w="0">
            <a:noFill/>
            <a:prstDash val="solid"/>
          </a:ln>
        </p:spPr>
      </p:sp>
      <p:sp>
        <p:nvSpPr>
          <p:cNvPr id="85" name="shape-112">
            <a:extLst xmlns:a="http://schemas.openxmlformats.org/drawingml/2006/main">
              <a:ext uri="{FF2B5EF4-FFF2-40B4-BE49-F238E27FC236}">
                <a16:creationId xmlns:a16="http://schemas.microsoft.com/office/drawing/2014/main" id="{808E259D-8C0B-47DA-8345-26E5F8938288}"/>
              </a:ext>
            </a:extLst>
          </p:cNvPr>
          <p:cNvSpPr>
            <a:spLocks xmlns:a="http://schemas.openxmlformats.org/drawingml/2006/main" noGrp="1"/>
          </p:cNvSpPr>
          <p:nvPr/>
        </p:nvSpPr>
        <p:spPr>
          <a:xfrm xmlns:a="http://schemas.openxmlformats.org/drawingml/2006/main">
            <a:off x="14385798" y="8960358"/>
            <a:ext cx="1524" cy="1524"/>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77" name=""/>
          <p:cNvCxnSpPr>
            <a:stCxn xmlns:a="http://schemas.openxmlformats.org/drawingml/2006/main" id="82" idx="3"/>
            <a:endCxn xmlns:a="http://schemas.openxmlformats.org/drawingml/2006/main" id="83" idx="1"/>
          </p:cNvCxnSpPr>
          <p:nvPr/>
        </p:nvCxnSpPr>
        <p:spPr>
          <a:xfrm xmlns:a="http://schemas.openxmlformats.org/drawingml/2006/main">
            <a:off x="13107162" y="11536680"/>
            <a:ext cx="989076" cy="0"/>
          </a:xfrm>
          <a:prstGeom xmlns:a="http://schemas.openxmlformats.org/drawingml/2006/main" prst="straightConnector1">
            <a:avLst/>
          </a:prstGeom>
          <a:ln xmlns:a="http://schemas.openxmlformats.org/drawingml/2006/main" w="35052">
            <a:solidFill>
              <a:srgbClr val="C84D35"/>
            </a:solidFill>
            <a:prstDash val="solid"/>
          </a:ln>
        </p:spPr>
      </p:cxnSp>
      <p:cxnSp>
        <p:nvCxnSpPr>
          <p:cNvPr id="178" name=""/>
          <p:cNvCxnSpPr>
            <a:stCxn xmlns:a="http://schemas.openxmlformats.org/drawingml/2006/main" id="83" idx="0"/>
            <a:endCxn xmlns:a="http://schemas.openxmlformats.org/drawingml/2006/main" id="84" idx="2"/>
          </p:cNvCxnSpPr>
          <p:nvPr/>
        </p:nvCxnSpPr>
        <p:spPr>
          <a:xfrm xmlns:a="http://schemas.openxmlformats.org/drawingml/2006/main" flipV="1">
            <a:off x="14097000" y="8961882"/>
            <a:ext cx="0" cy="2574036"/>
          </a:xfrm>
          <a:prstGeom xmlns:a="http://schemas.openxmlformats.org/drawingml/2006/main" prst="straightConnector1">
            <a:avLst/>
          </a:prstGeom>
          <a:ln xmlns:a="http://schemas.openxmlformats.org/drawingml/2006/main" w="35052">
            <a:solidFill>
              <a:srgbClr val="C84D35"/>
            </a:solidFill>
            <a:prstDash val="solid"/>
          </a:ln>
        </p:spPr>
      </p:cxnSp>
      <p:cxnSp>
        <p:nvCxnSpPr>
          <p:cNvPr id="179" name=""/>
          <p:cNvCxnSpPr>
            <a:stCxn xmlns:a="http://schemas.openxmlformats.org/drawingml/2006/main" id="84" idx="3"/>
            <a:endCxn xmlns:a="http://schemas.openxmlformats.org/drawingml/2006/main" id="85" idx="1"/>
          </p:cNvCxnSpPr>
          <p:nvPr/>
        </p:nvCxnSpPr>
        <p:spPr>
          <a:xfrm xmlns:a="http://schemas.openxmlformats.org/drawingml/2006/main">
            <a:off x="14097762" y="8961120"/>
            <a:ext cx="288036" cy="0"/>
          </a:xfrm>
          <a:prstGeom xmlns:a="http://schemas.openxmlformats.org/drawingml/2006/main" prst="straightConnector1">
            <a:avLst/>
          </a:prstGeom>
          <a:ln xmlns:a="http://schemas.openxmlformats.org/drawingml/2006/main" w="35052">
            <a:solidFill>
              <a:srgbClr val="C84D35"/>
            </a:solidFill>
            <a:prstDash val="solid"/>
          </a:ln>
        </p:spPr>
      </p:cxnSp>
      <p:sp>
        <p:nvSpPr>
          <p:cNvPr id="89" name="shape-113">
            <a:extLst xmlns:a="http://schemas.openxmlformats.org/drawingml/2006/main">
              <a:ext uri="{FF2B5EF4-FFF2-40B4-BE49-F238E27FC236}">
                <a16:creationId xmlns:a16="http://schemas.microsoft.com/office/drawing/2014/main" id="{98B09165-EC6C-4EC6-81B5-8BE32CF3ED30}"/>
              </a:ext>
            </a:extLst>
          </p:cNvPr>
          <p:cNvSpPr>
            <a:spLocks xmlns:a="http://schemas.openxmlformats.org/drawingml/2006/main" noGrp="1"/>
          </p:cNvSpPr>
          <p:nvPr/>
        </p:nvSpPr>
        <p:spPr>
          <a:xfrm xmlns:a="http://schemas.openxmlformats.org/drawingml/2006/main" rot="5400000">
            <a:off x="14234160" y="8884920"/>
            <a:ext cx="152400" cy="152400"/>
          </a:xfrm>
          <a:prstGeom xmlns:a="http://schemas.openxmlformats.org/drawingml/2006/main" prst="triangle">
            <a:avLst/>
          </a:prstGeom>
          <a:solidFill xmlns:a="http://schemas.openxmlformats.org/drawingml/2006/main">
            <a:srgbClr val="C84D35"/>
          </a:solidFill>
          <a:ln xmlns:a="http://schemas.openxmlformats.org/drawingml/2006/main" w="0">
            <a:noFill/>
            <a:prstDash val="solid"/>
          </a:ln>
        </p:spPr>
      </p:sp>
      <p:sp>
        <p:nvSpPr>
          <p:cNvPr id="90" name="shape-114">
            <a:extLst xmlns:a="http://schemas.openxmlformats.org/drawingml/2006/main">
              <a:ext uri="{FF2B5EF4-FFF2-40B4-BE49-F238E27FC236}">
                <a16:creationId xmlns:a16="http://schemas.microsoft.com/office/drawing/2014/main" id="{C247C753-57C8-49D8-BCAE-F9F1DD34AB8A}"/>
              </a:ext>
            </a:extLst>
          </p:cNvPr>
          <p:cNvSpPr>
            <a:spLocks xmlns:a="http://schemas.openxmlformats.org/drawingml/2006/main" noGrp="1"/>
          </p:cNvSpPr>
          <p:nvPr/>
        </p:nvSpPr>
        <p:spPr>
          <a:xfrm xmlns:a="http://schemas.openxmlformats.org/drawingml/2006/main">
            <a:off x="14401800" y="9936480"/>
            <a:ext cx="912876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3 windows of 72 frames</a:t>
            </a:r>
          </a:p>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18 shared frames link neighbours</a:t>
            </a:r>
          </a:p>
        </p:txBody>
      </p:sp>
      <p:sp>
        <p:nvSpPr>
          <p:cNvPr id="91" name="shape-115">
            <a:extLst xmlns:a="http://schemas.openxmlformats.org/drawingml/2006/main">
              <a:ext uri="{FF2B5EF4-FFF2-40B4-BE49-F238E27FC236}">
                <a16:creationId xmlns:a16="http://schemas.microsoft.com/office/drawing/2014/main" id="{8B07473A-2BC5-4772-94A8-486010064F7E}"/>
              </a:ext>
            </a:extLst>
          </p:cNvPr>
          <p:cNvSpPr>
            <a:spLocks xmlns:a="http://schemas.openxmlformats.org/drawingml/2006/main" noGrp="1"/>
          </p:cNvSpPr>
          <p:nvPr/>
        </p:nvSpPr>
        <p:spPr>
          <a:xfrm xmlns:a="http://schemas.openxmlformats.org/drawingml/2006/main">
            <a:off x="868680" y="12512040"/>
            <a:ext cx="2270760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80" b="0">
                <a:solidFill>
                  <a:srgbClr val="516178"/>
                </a:solidFill>
                <a:latin typeface="Arial"/>
                <a:ea typeface="Arial"/>
                <a:cs typeface="Arial"/>
              </a:defRPr>
            </a:pPr>
            <a:r>
              <a:rPr sz="2280" b="0">
                <a:solidFill>
                  <a:srgbClr val="516178"/>
                </a:solidFill>
                <a:latin typeface="Arial"/>
                <a:ea typeface="Arial"/>
                <a:cs typeface="Arial"/>
              </a:rPr>
              <a:t>Cached weights. No ground-truth input to reconstruction. Optional 3DGS fits appearance separately.</a:t>
            </a:r>
          </a:p>
        </p:txBody>
      </p:sp>
    </p:spTree>
    <p:extLst>
      <p:ext uri="{BB962C8B-B14F-4D97-AF65-F5344CB8AC3E}">
        <p14:creationId xmlns:p14="http://schemas.microsoft.com/office/powerpoint/2010/main" val="473688172"/>
      </p:ext>
    </p:extLst>
  </p:cSld>
</p:sld>
</file>

<file path=ppt/slides/slide4.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sp>
        <p:nvSpPr>
          <p:cNvPr id="22" name="shape-116">
            <a:extLst xmlns:a="http://schemas.openxmlformats.org/drawingml/2006/main">
              <a:ext uri="{FF2B5EF4-FFF2-40B4-BE49-F238E27FC236}">
                <a16:creationId xmlns:a16="http://schemas.microsoft.com/office/drawing/2014/main" id="{1D4C02A0-7537-4C9D-85B1-C8032836A258}"/>
              </a:ext>
            </a:extLst>
          </p:cNvPr>
          <p:cNvSpPr>
            <a:spLocks xmlns:a="http://schemas.openxmlformats.org/drawingml/2006/main" noGrp="1"/>
          </p:cNvSpPr>
          <p:nvPr/>
        </p:nvSpPr>
        <p:spPr>
          <a:xfrm xmlns:a="http://schemas.openxmlformats.org/drawingml/2006/main">
            <a:off x="91440" y="76200"/>
            <a:ext cx="24201120" cy="13563600"/>
          </a:xfrm>
          <a:prstGeom xmlns:a="http://schemas.openxmlformats.org/drawingml/2006/main" prst="rect">
            <a:avLst/>
          </a:prstGeom>
          <a:noFill xmlns:a="http://schemas.openxmlformats.org/drawingml/2006/main"/>
          <a:ln xmlns:a="http://schemas.openxmlformats.org/drawingml/2006/main" w="15240">
            <a:solidFill>
              <a:srgbClr val="E4E7EB"/>
            </a:solidFill>
            <a:prstDash val="solid"/>
          </a:ln>
        </p:spPr>
      </p:sp>
      <p:sp>
        <p:nvSpPr>
          <p:cNvPr id="2" name="shape-117">
            <a:extLst xmlns:a="http://schemas.openxmlformats.org/drawingml/2006/main">
              <a:ext uri="{FF2B5EF4-FFF2-40B4-BE49-F238E27FC236}">
                <a16:creationId xmlns:a16="http://schemas.microsoft.com/office/drawing/2014/main" id="{8DF16540-AAEB-4046-8D3F-FBB5B1D26E39}"/>
              </a:ext>
            </a:extLst>
          </p:cNvPr>
          <p:cNvSpPr>
            <a:spLocks xmlns:a="http://schemas.openxmlformats.org/drawingml/2006/main" noGrp="1"/>
          </p:cNvSpPr>
          <p:nvPr/>
        </p:nvSpPr>
        <p:spPr>
          <a:xfrm xmlns:a="http://schemas.openxmlformats.org/drawingml/2006/main">
            <a:off x="868680" y="640080"/>
            <a:ext cx="320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720" b="1">
                <a:solidFill>
                  <a:srgbClr val="087E70"/>
                </a:solidFill>
                <a:latin typeface="Arial"/>
                <a:ea typeface="Arial"/>
                <a:cs typeface="Arial"/>
              </a:defRPr>
            </a:pPr>
            <a:r>
              <a:rPr sz="3720" b="1">
                <a:solidFill>
                  <a:srgbClr val="087E70"/>
                </a:solidFill>
                <a:latin typeface="Arial"/>
                <a:ea typeface="Arial"/>
                <a:cs typeface="Arial"/>
              </a:rPr>
              <a:t>VoxelFlight</a:t>
            </a:r>
          </a:p>
        </p:txBody>
      </p:sp>
      <p:sp>
        <p:nvSpPr>
          <p:cNvPr id="3" name="shape-118">
            <a:extLst xmlns:a="http://schemas.openxmlformats.org/drawingml/2006/main">
              <a:ext uri="{FF2B5EF4-FFF2-40B4-BE49-F238E27FC236}">
                <a16:creationId xmlns:a16="http://schemas.microsoft.com/office/drawing/2014/main" id="{A233D545-9EE7-48EC-8EE1-38190AFC98B0}"/>
              </a:ext>
            </a:extLst>
          </p:cNvPr>
          <p:cNvSpPr>
            <a:spLocks xmlns:a="http://schemas.openxmlformats.org/drawingml/2006/main" noGrp="1"/>
          </p:cNvSpPr>
          <p:nvPr/>
        </p:nvSpPr>
        <p:spPr>
          <a:xfrm xmlns:a="http://schemas.openxmlformats.org/drawingml/2006/main">
            <a:off x="4343400" y="533400"/>
            <a:ext cx="15240000" cy="1082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760" b="1">
                <a:solidFill>
                  <a:srgbClr val="14243B"/>
                </a:solidFill>
                <a:latin typeface="Times New Roman"/>
                <a:ea typeface="Times New Roman"/>
                <a:cs typeface="Times New Roman"/>
              </a:defRPr>
            </a:pPr>
            <a:r>
              <a:rPr sz="5760" b="1">
                <a:solidFill>
                  <a:srgbClr val="14243B"/>
                </a:solidFill>
                <a:latin typeface="Times New Roman"/>
                <a:ea typeface="Times New Roman"/>
                <a:cs typeface="Times New Roman"/>
              </a:rPr>
              <a:t>FEASIBILITY AND VIABILITY</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ad09ce1241c40a3"/>
          <a:stretch xmlns:a="http://schemas.openxmlformats.org/drawingml/2006/main"/>
        </p:blipFill>
        <p:spPr>
          <a:xfrm xmlns:a="http://schemas.openxmlformats.org/drawingml/2006/main">
            <a:off x="19903440" y="220568"/>
            <a:ext cx="1219200" cy="1433384"/>
          </a:xfrm>
          <a:prstGeom xmlns:a="http://schemas.openxmlformats.org/drawingml/2006/main" prst="rect">
            <a:avLst/>
          </a:prstGeom>
        </p:spPr>
      </p:pic>
      <p:sp>
        <p:nvSpPr>
          <p:cNvPr id="5" name="shape-119">
            <a:extLst xmlns:a="http://schemas.openxmlformats.org/drawingml/2006/main">
              <a:ext uri="{FF2B5EF4-FFF2-40B4-BE49-F238E27FC236}">
                <a16:creationId xmlns:a16="http://schemas.microsoft.com/office/drawing/2014/main" id="{3F7C9049-1F57-42A5-AFB2-98E49CAE0335}"/>
              </a:ext>
            </a:extLst>
          </p:cNvPr>
          <p:cNvSpPr>
            <a:spLocks xmlns:a="http://schemas.openxmlformats.org/drawingml/2006/main" noGrp="1"/>
          </p:cNvSpPr>
          <p:nvPr/>
        </p:nvSpPr>
        <p:spPr>
          <a:xfrm xmlns:a="http://schemas.openxmlformats.org/drawingml/2006/main">
            <a:off x="21305520" y="563880"/>
            <a:ext cx="240792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SMART INDIA</a:t>
            </a:r>
          </a:p>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HACKATHON 2026</a:t>
            </a:r>
          </a:p>
        </p:txBody>
      </p:sp>
      <p:sp>
        <p:nvSpPr>
          <p:cNvPr id="6" name="shape-120">
            <a:extLst xmlns:a="http://schemas.openxmlformats.org/drawingml/2006/main">
              <a:ext uri="{FF2B5EF4-FFF2-40B4-BE49-F238E27FC236}">
                <a16:creationId xmlns:a16="http://schemas.microsoft.com/office/drawing/2014/main" id="{679DE7B3-D276-40DA-8171-CF0EC3B38CD7}"/>
              </a:ext>
            </a:extLst>
          </p:cNvPr>
          <p:cNvSpPr>
            <a:spLocks xmlns:a="http://schemas.openxmlformats.org/drawingml/2006/main" noGrp="1"/>
          </p:cNvSpPr>
          <p:nvPr/>
        </p:nvSpPr>
        <p:spPr>
          <a:xfrm xmlns:a="http://schemas.openxmlformats.org/drawingml/2006/main">
            <a:off x="868680" y="1905000"/>
            <a:ext cx="22768560" cy="0"/>
          </a:xfrm>
          <a:prstGeom xmlns:a="http://schemas.openxmlformats.org/drawingml/2006/main" prst="line">
            <a:avLst/>
          </a:prstGeom>
          <a:noFill xmlns:a="http://schemas.openxmlformats.org/drawingml/2006/main"/>
          <a:ln xmlns:a="http://schemas.openxmlformats.org/drawingml/2006/main" w="15240">
            <a:solidFill>
              <a:srgbClr val="C84D35"/>
            </a:solidFill>
            <a:prstDash val="solid"/>
          </a:ln>
        </p:spPr>
      </p:sp>
      <p:sp>
        <p:nvSpPr>
          <p:cNvPr id="7" name="shape-121">
            <a:extLst xmlns:a="http://schemas.openxmlformats.org/drawingml/2006/main">
              <a:ext uri="{FF2B5EF4-FFF2-40B4-BE49-F238E27FC236}">
                <a16:creationId xmlns:a16="http://schemas.microsoft.com/office/drawing/2014/main" id="{2D17E3F2-1B7B-488E-8698-551ED0AD5716}"/>
              </a:ext>
            </a:extLst>
          </p:cNvPr>
          <p:cNvSpPr>
            <a:spLocks xmlns:a="http://schemas.openxmlformats.org/drawingml/2006/main" noGrp="1"/>
          </p:cNvSpPr>
          <p:nvPr/>
        </p:nvSpPr>
        <p:spPr>
          <a:xfrm xmlns:a="http://schemas.openxmlformats.org/drawingml/2006/main">
            <a:off x="868680" y="13060680"/>
            <a:ext cx="182880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20" b="0">
                <a:solidFill>
                  <a:srgbClr val="516178"/>
                </a:solidFill>
                <a:latin typeface="Arial"/>
                <a:ea typeface="Arial"/>
                <a:cs typeface="Arial"/>
              </a:defRPr>
            </a:pPr>
            <a:r>
              <a:rPr sz="1920" b="0">
                <a:solidFill>
                  <a:srgbClr val="516178"/>
                </a:solidFill>
                <a:latin typeface="Arial"/>
                <a:ea typeface="Arial"/>
                <a:cs typeface="Arial"/>
              </a:rPr>
              <a:t>SIH26158  /  SOFTWARE  /  DRONE &amp; ROBOTICS</a:t>
            </a:r>
          </a:p>
        </p:txBody>
      </p:sp>
      <p:sp>
        <p:nvSpPr>
          <p:cNvPr id="8" name="shape-122">
            <a:extLst xmlns:a="http://schemas.openxmlformats.org/drawingml/2006/main">
              <a:ext uri="{FF2B5EF4-FFF2-40B4-BE49-F238E27FC236}">
                <a16:creationId xmlns:a16="http://schemas.microsoft.com/office/drawing/2014/main" id="{5AD9D7C7-1B2A-4702-828D-E15BC0A9167A}"/>
              </a:ext>
            </a:extLst>
          </p:cNvPr>
          <p:cNvSpPr>
            <a:spLocks xmlns:a="http://schemas.openxmlformats.org/drawingml/2006/main" noGrp="1"/>
          </p:cNvSpPr>
          <p:nvPr/>
        </p:nvSpPr>
        <p:spPr>
          <a:xfrm xmlns:a="http://schemas.openxmlformats.org/drawingml/2006/main">
            <a:off x="22555200" y="13060680"/>
            <a:ext cx="109728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2040" b="0">
                <a:solidFill>
                  <a:srgbClr val="516178"/>
                </a:solidFill>
                <a:latin typeface="Arial"/>
                <a:ea typeface="Arial"/>
                <a:cs typeface="Arial"/>
              </a:defRPr>
            </a:pPr>
            <a:r>
              <a:rPr sz="2040" b="0">
                <a:solidFill>
                  <a:srgbClr val="516178"/>
                </a:solidFill>
                <a:latin typeface="Arial"/>
                <a:ea typeface="Arial"/>
                <a:cs typeface="Arial"/>
              </a:rPr>
              <a:t>04 / 06</a:t>
            </a:r>
          </a:p>
        </p:txBody>
      </p:sp>
      <p:sp>
        <p:nvSpPr>
          <p:cNvPr id="9" name="shape-123">
            <a:extLst xmlns:a="http://schemas.openxmlformats.org/drawingml/2006/main">
              <a:ext uri="{FF2B5EF4-FFF2-40B4-BE49-F238E27FC236}">
                <a16:creationId xmlns:a16="http://schemas.microsoft.com/office/drawing/2014/main" id="{87472735-E4B3-45C8-B60C-8DC6DBB730BF}"/>
              </a:ext>
            </a:extLst>
          </p:cNvPr>
          <p:cNvSpPr>
            <a:spLocks xmlns:a="http://schemas.openxmlformats.org/drawingml/2006/main" noGrp="1"/>
          </p:cNvSpPr>
          <p:nvPr/>
        </p:nvSpPr>
        <p:spPr>
          <a:xfrm xmlns:a="http://schemas.openxmlformats.org/drawingml/2006/main">
            <a:off x="868680" y="2301240"/>
            <a:ext cx="22707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800" b="1">
                <a:solidFill>
                  <a:srgbClr val="14243B"/>
                </a:solidFill>
                <a:latin typeface="Arial"/>
                <a:ea typeface="Arial"/>
                <a:cs typeface="Arial"/>
              </a:defRPr>
            </a:pPr>
            <a:r>
              <a:rPr sz="4800" b="1">
                <a:solidFill>
                  <a:srgbClr val="14243B"/>
                </a:solidFill>
                <a:latin typeface="Arial"/>
                <a:ea typeface="Arial"/>
                <a:cs typeface="Arial"/>
              </a:rPr>
              <a:t>Prototype performance and engineering strategy</a:t>
            </a:r>
          </a:p>
        </p:txBody>
      </p:sp>
      <p:sp>
        <p:nvSpPr>
          <p:cNvPr id="10" name="shape-124">
            <a:extLst xmlns:a="http://schemas.openxmlformats.org/drawingml/2006/main">
              <a:ext uri="{FF2B5EF4-FFF2-40B4-BE49-F238E27FC236}">
                <a16:creationId xmlns:a16="http://schemas.microsoft.com/office/drawing/2014/main" id="{78F4472F-376F-44BF-9FD3-546E64F40DD9}"/>
              </a:ext>
            </a:extLst>
          </p:cNvPr>
          <p:cNvSpPr>
            <a:spLocks xmlns:a="http://schemas.openxmlformats.org/drawingml/2006/main" noGrp="1"/>
          </p:cNvSpPr>
          <p:nvPr/>
        </p:nvSpPr>
        <p:spPr>
          <a:xfrm xmlns:a="http://schemas.openxmlformats.org/drawingml/2006/main">
            <a:off x="899160" y="3261360"/>
            <a:ext cx="22631400"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Recorded reconstruction of a 60-second Zurich flight with 180 keyframes on an NVIDIA L40S GPU.</a:t>
            </a:r>
          </a:p>
        </p:txBody>
      </p:sp>
      <p:graphicFrame>
        <p:nvGraphicFramePr>
          <p:cNvPr id="32" name=""/>
          <p:cNvGraphicFramePr/>
          <p:nvPr/>
        </p:nvGraphicFramePr>
        <p:xfrm>
          <a:off xmlns:a="http://schemas.openxmlformats.org/drawingml/2006/main" x="883920" y="4358640"/>
          <a:ext xmlns:a="http://schemas.openxmlformats.org/drawingml/2006/main" cx="11673840" cy="5882640"/>
        </p:xfrm>
        <a:graphic xmlns:a="http://schemas.openxmlformats.org/drawingml/2006/main">
          <a:graphicData uri="http://schemas.openxmlformats.org/drawingml/2006/table">
            <a:tbl>
              <a:tblPr firstRow="0" bandRow="0"/>
              <a:tblGrid>
                <a:gridCol w="7025640"/>
                <a:gridCol w="4648200"/>
              </a:tblGrid>
              <a:tr h="853440">
                <a:tc>
                  <a:txBody>
                    <a:bodyPr lIns="213360" tIns="137160" rIns="213360" bIns="137160">
                      <a:noAutofit/>
                    </a:bodyPr>
                    <a:lstStyle/>
                    <a:p>
                      <a:pPr algn="l">
                        <a:lnSpc>
                          <a:spcPct val="105000"/>
                        </a:lnSpc>
                        <a:buNone/>
                      </a:pPr>
                      <a:r>
                        <a:rPr sz="2880" b="1">
                          <a:solidFill>
                            <a:srgbClr val="FFFFFF"/>
                          </a:solidFill>
                          <a:latin typeface="Arial"/>
                          <a:ea typeface="Arial"/>
                          <a:cs typeface="Arial"/>
                        </a:rPr>
                        <a:t>Measured property</a:t>
                      </a:r>
                    </a:p>
                  </a:txBody>
                  <a:tcPr marL="91440" marR="91440" marT="45720" marB="45720" anchor="ctr">
                    <a:solidFill>
                      <a:srgbClr val="14243B"/>
                    </a:solidFill>
                  </a:tcPr>
                </a:tc>
                <a:tc>
                  <a:txBody>
                    <a:bodyPr lIns="213360" tIns="137160" rIns="213360" bIns="137160">
                      <a:noAutofit/>
                    </a:bodyPr>
                    <a:lstStyle/>
                    <a:p>
                      <a:pPr algn="l">
                        <a:lnSpc>
                          <a:spcPct val="105000"/>
                        </a:lnSpc>
                        <a:buNone/>
                      </a:pPr>
                      <a:r>
                        <a:rPr sz="2880" b="1">
                          <a:solidFill>
                            <a:srgbClr val="FFFFFF"/>
                          </a:solidFill>
                          <a:latin typeface="Arial"/>
                          <a:ea typeface="Arial"/>
                          <a:cs typeface="Arial"/>
                        </a:rPr>
                        <a:t>Recorded result</a:t>
                      </a:r>
                    </a:p>
                  </a:txBody>
                  <a:tcPr marL="91440" marR="91440" marT="45720" marB="45720" anchor="ctr">
                    <a:solidFill>
                      <a:srgbClr val="14243B"/>
                    </a:solidFill>
                  </a:tcPr>
                </a:tc>
              </a:tr>
              <a:tr h="838200">
                <a:tc>
                  <a:txBody>
                    <a:bodyPr lIns="213360" tIns="137160" rIns="213360" bIns="137160">
                      <a:noAutofit/>
                    </a:bodyPr>
                    <a:lstStyle/>
                    <a:p>
                      <a:pPr algn="l">
                        <a:lnSpc>
                          <a:spcPct val="105000"/>
                        </a:lnSpc>
                        <a:buNone/>
                      </a:pPr>
                      <a:r>
                        <a:rPr sz="2880" b="0">
                          <a:solidFill>
                            <a:srgbClr val="14243B"/>
                          </a:solidFill>
                          <a:latin typeface="Arial"/>
                          <a:ea typeface="Arial"/>
                          <a:cs typeface="Arial"/>
                        </a:rPr>
                        <a:t>Core reconstruction</a:t>
                      </a:r>
                    </a:p>
                  </a:txBody>
                  <a:tcPr marL="91440" marR="91440" marT="45720" marB="45720" anchor="ctr">
                    <a:solidFill>
                      <a:srgbClr val="FFFFFF"/>
                    </a:solidFill>
                  </a:tcPr>
                </a:tc>
                <a:tc>
                  <a:txBody>
                    <a:bodyPr lIns="213360" tIns="137160" rIns="213360" bIns="137160">
                      <a:noAutofit/>
                    </a:bodyPr>
                    <a:lstStyle/>
                    <a:p>
                      <a:pPr algn="l">
                        <a:lnSpc>
                          <a:spcPct val="105000"/>
                        </a:lnSpc>
                        <a:buNone/>
                      </a:pPr>
                      <a:r>
                        <a:rPr sz="2880" b="0">
                          <a:solidFill>
                            <a:srgbClr val="14243B"/>
                          </a:solidFill>
                          <a:latin typeface="Arial"/>
                          <a:ea typeface="Arial"/>
                          <a:cs typeface="Arial"/>
                        </a:rPr>
                        <a:t>3 min 29 s</a:t>
                      </a:r>
                    </a:p>
                  </a:txBody>
                  <a:tcPr marL="91440" marR="91440" marT="45720" marB="45720" anchor="ctr">
                    <a:solidFill>
                      <a:srgbClr val="FFFFFF"/>
                    </a:solidFill>
                  </a:tcPr>
                </a:tc>
              </a:tr>
              <a:tr h="838200">
                <a:tc>
                  <a:txBody>
                    <a:bodyPr lIns="213360" tIns="137160" rIns="213360" bIns="137160">
                      <a:noAutofit/>
                    </a:bodyPr>
                    <a:lstStyle/>
                    <a:p>
                      <a:pPr algn="l">
                        <a:lnSpc>
                          <a:spcPct val="105000"/>
                        </a:lnSpc>
                        <a:buNone/>
                      </a:pPr>
                      <a:r>
                        <a:rPr sz="2880" b="0">
                          <a:solidFill>
                            <a:srgbClr val="14243B"/>
                          </a:solidFill>
                          <a:latin typeface="Arial"/>
                          <a:ea typeface="Arial"/>
                          <a:cs typeface="Arial"/>
                        </a:rPr>
                        <a:t>With appearance refinement</a:t>
                      </a:r>
                    </a:p>
                  </a:txBody>
                  <a:tcPr marL="91440" marR="91440" marT="45720" marB="45720" anchor="ctr">
                    <a:solidFill>
                      <a:srgbClr val="F4F7FA"/>
                    </a:solidFill>
                  </a:tcPr>
                </a:tc>
                <a:tc>
                  <a:txBody>
                    <a:bodyPr lIns="213360" tIns="137160" rIns="213360" bIns="137160">
                      <a:noAutofit/>
                    </a:bodyPr>
                    <a:lstStyle/>
                    <a:p>
                      <a:pPr algn="l">
                        <a:lnSpc>
                          <a:spcPct val="105000"/>
                        </a:lnSpc>
                        <a:buNone/>
                      </a:pPr>
                      <a:r>
                        <a:rPr sz="2880" b="0">
                          <a:solidFill>
                            <a:srgbClr val="14243B"/>
                          </a:solidFill>
                          <a:latin typeface="Arial"/>
                          <a:ea typeface="Arial"/>
                          <a:cs typeface="Arial"/>
                        </a:rPr>
                        <a:t>5 min 34 s total</a:t>
                      </a:r>
                    </a:p>
                  </a:txBody>
                  <a:tcPr marL="91440" marR="91440" marT="45720" marB="45720" anchor="ctr">
                    <a:solidFill>
                      <a:srgbClr val="F4F7FA"/>
                    </a:solidFill>
                  </a:tcPr>
                </a:tc>
              </a:tr>
              <a:tr h="838200">
                <a:tc>
                  <a:txBody>
                    <a:bodyPr lIns="213360" tIns="137160" rIns="213360" bIns="137160">
                      <a:noAutofit/>
                    </a:bodyPr>
                    <a:lstStyle/>
                    <a:p>
                      <a:pPr algn="l">
                        <a:lnSpc>
                          <a:spcPct val="105000"/>
                        </a:lnSpc>
                        <a:buNone/>
                      </a:pPr>
                      <a:r>
                        <a:rPr sz="2880" b="0">
                          <a:solidFill>
                            <a:srgbClr val="14243B"/>
                          </a:solidFill>
                          <a:latin typeface="Arial"/>
                          <a:ea typeface="Arial"/>
                          <a:cs typeface="Arial"/>
                        </a:rPr>
                        <a:t>Clean point cloud</a:t>
                      </a:r>
                    </a:p>
                  </a:txBody>
                  <a:tcPr marL="91440" marR="91440" marT="45720" marB="45720" anchor="ctr">
                    <a:solidFill>
                      <a:srgbClr val="FFFFFF"/>
                    </a:solidFill>
                  </a:tcPr>
                </a:tc>
                <a:tc>
                  <a:txBody>
                    <a:bodyPr lIns="213360" tIns="137160" rIns="213360" bIns="137160">
                      <a:noAutofit/>
                    </a:bodyPr>
                    <a:lstStyle/>
                    <a:p>
                      <a:pPr algn="l">
                        <a:lnSpc>
                          <a:spcPct val="105000"/>
                        </a:lnSpc>
                        <a:buNone/>
                      </a:pPr>
                      <a:r>
                        <a:rPr sz="2880" b="0">
                          <a:solidFill>
                            <a:srgbClr val="14243B"/>
                          </a:solidFill>
                          <a:latin typeface="Arial"/>
                          <a:ea typeface="Arial"/>
                          <a:cs typeface="Arial"/>
                        </a:rPr>
                        <a:t>518,786 points</a:t>
                      </a:r>
                    </a:p>
                  </a:txBody>
                  <a:tcPr marL="91440" marR="91440" marT="45720" marB="45720" anchor="ctr">
                    <a:solidFill>
                      <a:srgbClr val="FFFFFF"/>
                    </a:solidFill>
                  </a:tcPr>
                </a:tc>
              </a:tr>
              <a:tr h="838200">
                <a:tc>
                  <a:txBody>
                    <a:bodyPr lIns="213360" tIns="137160" rIns="213360" bIns="137160">
                      <a:noAutofit/>
                    </a:bodyPr>
                    <a:lstStyle/>
                    <a:p>
                      <a:pPr algn="l">
                        <a:lnSpc>
                          <a:spcPct val="105000"/>
                        </a:lnSpc>
                        <a:buNone/>
                      </a:pPr>
                      <a:r>
                        <a:rPr sz="2880" b="0">
                          <a:solidFill>
                            <a:srgbClr val="14243B"/>
                          </a:solidFill>
                          <a:latin typeface="Arial"/>
                          <a:ea typeface="Arial"/>
                          <a:cs typeface="Arial"/>
                        </a:rPr>
                        <a:t>Exported mesh</a:t>
                      </a:r>
                    </a:p>
                  </a:txBody>
                  <a:tcPr marL="91440" marR="91440" marT="45720" marB="45720" anchor="ctr">
                    <a:solidFill>
                      <a:srgbClr val="F4F7FA"/>
                    </a:solidFill>
                  </a:tcPr>
                </a:tc>
                <a:tc>
                  <a:txBody>
                    <a:bodyPr lIns="213360" tIns="137160" rIns="213360" bIns="137160">
                      <a:noAutofit/>
                    </a:bodyPr>
                    <a:lstStyle/>
                    <a:p>
                      <a:pPr algn="l">
                        <a:lnSpc>
                          <a:spcPct val="105000"/>
                        </a:lnSpc>
                        <a:buNone/>
                      </a:pPr>
                      <a:r>
                        <a:rPr sz="2880" b="0">
                          <a:solidFill>
                            <a:srgbClr val="14243B"/>
                          </a:solidFill>
                          <a:latin typeface="Arial"/>
                          <a:ea typeface="Arial"/>
                          <a:cs typeface="Arial"/>
                        </a:rPr>
                        <a:t>450,000 triangles</a:t>
                      </a:r>
                    </a:p>
                  </a:txBody>
                  <a:tcPr marL="91440" marR="91440" marT="45720" marB="45720" anchor="ctr">
                    <a:solidFill>
                      <a:srgbClr val="F4F7FA"/>
                    </a:solidFill>
                  </a:tcPr>
                </a:tc>
              </a:tr>
              <a:tr h="838200">
                <a:tc>
                  <a:txBody>
                    <a:bodyPr lIns="213360" tIns="137160" rIns="213360" bIns="137160">
                      <a:noAutofit/>
                    </a:bodyPr>
                    <a:lstStyle/>
                    <a:p>
                      <a:pPr algn="l">
                        <a:lnSpc>
                          <a:spcPct val="105000"/>
                        </a:lnSpc>
                        <a:buNone/>
                      </a:pPr>
                      <a:r>
                        <a:rPr sz="2880" b="0">
                          <a:solidFill>
                            <a:srgbClr val="14243B"/>
                          </a:solidFill>
                          <a:latin typeface="Arial"/>
                          <a:ea typeface="Arial"/>
                          <a:cs typeface="Arial"/>
                        </a:rPr>
                        <a:t>Trajectory RMSE, Sim(3)-aligned</a:t>
                      </a:r>
                    </a:p>
                  </a:txBody>
                  <a:tcPr marL="91440" marR="91440" marT="45720" marB="45720" anchor="ctr">
                    <a:solidFill>
                      <a:srgbClr val="FFFFFF"/>
                    </a:solidFill>
                  </a:tcPr>
                </a:tc>
                <a:tc>
                  <a:txBody>
                    <a:bodyPr lIns="213360" tIns="137160" rIns="213360" bIns="137160">
                      <a:noAutofit/>
                    </a:bodyPr>
                    <a:lstStyle/>
                    <a:p>
                      <a:pPr algn="l">
                        <a:lnSpc>
                          <a:spcPct val="105000"/>
                        </a:lnSpc>
                        <a:buNone/>
                      </a:pPr>
                      <a:r>
                        <a:rPr sz="2880" b="0">
                          <a:solidFill>
                            <a:srgbClr val="14243B"/>
                          </a:solidFill>
                          <a:latin typeface="Arial"/>
                          <a:ea typeface="Arial"/>
                          <a:cs typeface="Arial"/>
                        </a:rPr>
                        <a:t>0.810 m</a:t>
                      </a:r>
                    </a:p>
                  </a:txBody>
                  <a:tcPr marL="91440" marR="91440" marT="45720" marB="45720" anchor="ctr">
                    <a:solidFill>
                      <a:srgbClr val="FFFFFF"/>
                    </a:solidFill>
                  </a:tcPr>
                </a:tc>
              </a:tr>
              <a:tr h="838200">
                <a:tc>
                  <a:txBody>
                    <a:bodyPr lIns="213360" tIns="137160" rIns="213360" bIns="137160">
                      <a:noAutofit/>
                    </a:bodyPr>
                    <a:lstStyle/>
                    <a:p>
                      <a:pPr algn="l">
                        <a:lnSpc>
                          <a:spcPct val="105000"/>
                        </a:lnSpc>
                        <a:buNone/>
                      </a:pPr>
                      <a:r>
                        <a:rPr sz="2880" b="0">
                          <a:solidFill>
                            <a:srgbClr val="14243B"/>
                          </a:solidFill>
                          <a:latin typeface="Arial"/>
                          <a:ea typeface="Arial"/>
                          <a:cs typeface="Arial"/>
                        </a:rPr>
                        <a:t>Trajectory RMSE, absolute</a:t>
                      </a:r>
                    </a:p>
                  </a:txBody>
                  <a:tcPr marL="91440" marR="91440" marT="45720" marB="45720" anchor="ctr">
                    <a:solidFill>
                      <a:srgbClr val="F4F7FA"/>
                    </a:solidFill>
                  </a:tcPr>
                </a:tc>
                <a:tc>
                  <a:txBody>
                    <a:bodyPr lIns="213360" tIns="137160" rIns="213360" bIns="137160">
                      <a:noAutofit/>
                    </a:bodyPr>
                    <a:lstStyle/>
                    <a:p>
                      <a:pPr algn="l">
                        <a:lnSpc>
                          <a:spcPct val="105000"/>
                        </a:lnSpc>
                        <a:buNone/>
                      </a:pPr>
                      <a:r>
                        <a:rPr sz="2880" b="0">
                          <a:solidFill>
                            <a:srgbClr val="14243B"/>
                          </a:solidFill>
                          <a:latin typeface="Arial"/>
                          <a:ea typeface="Arial"/>
                          <a:cs typeface="Arial"/>
                        </a:rPr>
                        <a:t>8.797 m</a:t>
                      </a:r>
                    </a:p>
                  </a:txBody>
                  <a:tcPr marL="91440" marR="91440" marT="45720" marB="45720" anchor="ctr">
                    <a:solidFill>
                      <a:srgbClr val="F4F7FA"/>
                    </a:solidFill>
                  </a:tcPr>
                </a:tc>
              </a:tr>
            </a:tbl>
          </a:graphicData>
        </a:graphic>
      </p:graphicFrame>
      <p:sp>
        <p:nvSpPr>
          <p:cNvPr id="12" name="shape-125">
            <a:extLst xmlns:a="http://schemas.openxmlformats.org/drawingml/2006/main">
              <a:ext uri="{FF2B5EF4-FFF2-40B4-BE49-F238E27FC236}">
                <a16:creationId xmlns:a16="http://schemas.microsoft.com/office/drawing/2014/main" id="{216F6749-9421-40EA-A774-75B5B12EF81F}"/>
              </a:ext>
            </a:extLst>
          </p:cNvPr>
          <p:cNvSpPr>
            <a:spLocks xmlns:a="http://schemas.openxmlformats.org/drawingml/2006/main" noGrp="1"/>
          </p:cNvSpPr>
          <p:nvPr/>
        </p:nvSpPr>
        <p:spPr>
          <a:xfrm xmlns:a="http://schemas.openxmlformats.org/drawingml/2006/main">
            <a:off x="914400" y="10713720"/>
            <a:ext cx="11551920" cy="563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360" b="1">
                <a:solidFill>
                  <a:srgbClr val="087E70"/>
                </a:solidFill>
                <a:latin typeface="Arial"/>
                <a:ea typeface="Arial"/>
                <a:cs typeface="Arial"/>
              </a:defRPr>
            </a:pPr>
            <a:r>
              <a:rPr sz="3360" b="1">
                <a:solidFill>
                  <a:srgbClr val="087E70"/>
                </a:solidFill>
                <a:latin typeface="Arial"/>
                <a:ea typeface="Arial"/>
                <a:cs typeface="Arial"/>
              </a:rPr>
              <a:t>Geospatial output package</a:t>
            </a:r>
          </a:p>
        </p:txBody>
      </p:sp>
      <p:sp>
        <p:nvSpPr>
          <p:cNvPr id="13" name="shape-126">
            <a:extLst xmlns:a="http://schemas.openxmlformats.org/drawingml/2006/main">
              <a:ext uri="{FF2B5EF4-FFF2-40B4-BE49-F238E27FC236}">
                <a16:creationId xmlns:a16="http://schemas.microsoft.com/office/drawing/2014/main" id="{6B203422-DFE0-4F97-A1A6-A3E0B0B98285}"/>
              </a:ext>
            </a:extLst>
          </p:cNvPr>
          <p:cNvSpPr>
            <a:spLocks xmlns:a="http://schemas.openxmlformats.org/drawingml/2006/main" noGrp="1"/>
          </p:cNvSpPr>
          <p:nvPr/>
        </p:nvSpPr>
        <p:spPr>
          <a:xfrm xmlns:a="http://schemas.openxmlformats.org/drawingml/2006/main">
            <a:off x="929640" y="11430000"/>
            <a:ext cx="11612880" cy="1036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OBJ, PLY, LAS, GLB and GeoTIFF</a:t>
            </a:r>
          </a:p>
          <a:p xmlns:a="http://schemas.openxmlformats.org/drawingml/2006/main">
            <a:pPr algn="l">
              <a:lnSpc>
                <a:spcPct val="108000"/>
              </a:lnSpc>
              <a:buNone/>
              <a:defRPr sz="2760" b="0">
                <a:solidFill>
                  <a:srgbClr val="516178"/>
                </a:solidFill>
                <a:latin typeface="Arial"/>
                <a:ea typeface="Arial"/>
                <a:cs typeface="Arial"/>
              </a:defRPr>
            </a:pPr>
            <a:r>
              <a:rPr sz="2760" b="0">
                <a:solidFill>
                  <a:srgbClr val="516178"/>
                </a:solidFill>
                <a:latin typeface="Arial"/>
                <a:ea typeface="Arial"/>
                <a:cs typeface="Arial"/>
              </a:rPr>
              <a:t>Local ENU geometry with UTM-referenced exports</a:t>
            </a:r>
          </a:p>
        </p:txBody>
      </p:sp>
      <p:sp>
        <p:nvSpPr>
          <p:cNvPr id="14" name="shape-127">
            <a:extLst xmlns:a="http://schemas.openxmlformats.org/drawingml/2006/main">
              <a:ext uri="{FF2B5EF4-FFF2-40B4-BE49-F238E27FC236}">
                <a16:creationId xmlns:a16="http://schemas.microsoft.com/office/drawing/2014/main" id="{019B6189-53F5-41F2-9087-7A531D49DCC1}"/>
              </a:ext>
            </a:extLst>
          </p:cNvPr>
          <p:cNvSpPr>
            <a:spLocks xmlns:a="http://schemas.openxmlformats.org/drawingml/2006/main" noGrp="1"/>
          </p:cNvSpPr>
          <p:nvPr/>
        </p:nvSpPr>
        <p:spPr>
          <a:xfrm xmlns:a="http://schemas.openxmlformats.org/drawingml/2006/main">
            <a:off x="13426440" y="4389120"/>
            <a:ext cx="1025652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1">
                <a:solidFill>
                  <a:srgbClr val="2464C7"/>
                </a:solidFill>
                <a:latin typeface="Arial"/>
                <a:ea typeface="Arial"/>
                <a:cs typeface="Arial"/>
              </a:defRPr>
            </a:pPr>
            <a:r>
              <a:rPr sz="3480" b="1">
                <a:solidFill>
                  <a:srgbClr val="2464C7"/>
                </a:solidFill>
                <a:latin typeface="Arial"/>
                <a:ea typeface="Arial"/>
                <a:cs typeface="Arial"/>
              </a:rPr>
              <a:t>Limited views and scene motion</a:t>
            </a:r>
          </a:p>
        </p:txBody>
      </p:sp>
      <p:sp>
        <p:nvSpPr>
          <p:cNvPr id="15" name="shape-128">
            <a:extLst xmlns:a="http://schemas.openxmlformats.org/drawingml/2006/main">
              <a:ext uri="{FF2B5EF4-FFF2-40B4-BE49-F238E27FC236}">
                <a16:creationId xmlns:a16="http://schemas.microsoft.com/office/drawing/2014/main" id="{09D0DF21-58EE-43FA-B4B6-C5A04F2397DF}"/>
              </a:ext>
            </a:extLst>
          </p:cNvPr>
          <p:cNvSpPr>
            <a:spLocks xmlns:a="http://schemas.openxmlformats.org/drawingml/2006/main" noGrp="1"/>
          </p:cNvSpPr>
          <p:nvPr/>
        </p:nvSpPr>
        <p:spPr>
          <a:xfrm xmlns:a="http://schemas.openxmlformats.org/drawingml/2006/main">
            <a:off x="13456920" y="5166360"/>
            <a:ext cx="10195560" cy="1341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Overlapping windows retain shared observations.</a:t>
            </a:r>
          </a:p>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Semantic masks exclude sky and potentially</a:t>
            </a:r>
          </a:p>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moving classes.</a:t>
            </a:r>
          </a:p>
        </p:txBody>
      </p:sp>
      <p:sp>
        <p:nvSpPr>
          <p:cNvPr id="16" name="shape-129">
            <a:extLst xmlns:a="http://schemas.openxmlformats.org/drawingml/2006/main">
              <a:ext uri="{FF2B5EF4-FFF2-40B4-BE49-F238E27FC236}">
                <a16:creationId xmlns:a16="http://schemas.microsoft.com/office/drawing/2014/main" id="{E64336C5-AE0E-4453-B6A2-5223A67F5BF9}"/>
              </a:ext>
            </a:extLst>
          </p:cNvPr>
          <p:cNvSpPr>
            <a:spLocks xmlns:a="http://schemas.openxmlformats.org/drawingml/2006/main" noGrp="1"/>
          </p:cNvSpPr>
          <p:nvPr/>
        </p:nvSpPr>
        <p:spPr>
          <a:xfrm xmlns:a="http://schemas.openxmlformats.org/drawingml/2006/main">
            <a:off x="13426440" y="6598920"/>
            <a:ext cx="1025652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1">
                <a:solidFill>
                  <a:srgbClr val="7544C4"/>
                </a:solidFill>
                <a:latin typeface="Arial"/>
                <a:ea typeface="Arial"/>
                <a:cs typeface="Arial"/>
              </a:defRPr>
            </a:pPr>
            <a:r>
              <a:rPr sz="3480" b="1">
                <a:solidFill>
                  <a:srgbClr val="7544C4"/>
                </a:solidFill>
                <a:latin typeface="Arial"/>
                <a:ea typeface="Arial"/>
                <a:cs typeface="Arial"/>
              </a:rPr>
              <a:t>Metric scene placement</a:t>
            </a:r>
          </a:p>
        </p:txBody>
      </p:sp>
      <p:sp>
        <p:nvSpPr>
          <p:cNvPr id="17" name="shape-130">
            <a:extLst xmlns:a="http://schemas.openxmlformats.org/drawingml/2006/main">
              <a:ext uri="{FF2B5EF4-FFF2-40B4-BE49-F238E27FC236}">
                <a16:creationId xmlns:a16="http://schemas.microsoft.com/office/drawing/2014/main" id="{182ED690-3811-4C94-8B69-F2829B0A4123}"/>
              </a:ext>
            </a:extLst>
          </p:cNvPr>
          <p:cNvSpPr>
            <a:spLocks xmlns:a="http://schemas.openxmlformats.org/drawingml/2006/main" noGrp="1"/>
          </p:cNvSpPr>
          <p:nvPr/>
        </p:nvSpPr>
        <p:spPr>
          <a:xfrm xmlns:a="http://schemas.openxmlformats.org/drawingml/2006/main">
            <a:off x="13456920" y="7376160"/>
            <a:ext cx="10195560" cy="1341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Visual anchors and GNSS/altitude constrain</a:t>
            </a:r>
          </a:p>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window placement. Reference poses enter</a:t>
            </a:r>
          </a:p>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evaluation only.</a:t>
            </a:r>
          </a:p>
        </p:txBody>
      </p:sp>
      <p:sp>
        <p:nvSpPr>
          <p:cNvPr id="18" name="shape-131">
            <a:extLst xmlns:a="http://schemas.openxmlformats.org/drawingml/2006/main">
              <a:ext uri="{FF2B5EF4-FFF2-40B4-BE49-F238E27FC236}">
                <a16:creationId xmlns:a16="http://schemas.microsoft.com/office/drawing/2014/main" id="{4F9830CE-07FF-4278-B1B9-F56A29C58206}"/>
              </a:ext>
            </a:extLst>
          </p:cNvPr>
          <p:cNvSpPr>
            <a:spLocks xmlns:a="http://schemas.openxmlformats.org/drawingml/2006/main" noGrp="1"/>
          </p:cNvSpPr>
          <p:nvPr/>
        </p:nvSpPr>
        <p:spPr>
          <a:xfrm xmlns:a="http://schemas.openxmlformats.org/drawingml/2006/main">
            <a:off x="13426440" y="8808720"/>
            <a:ext cx="1025652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1">
                <a:solidFill>
                  <a:srgbClr val="087E70"/>
                </a:solidFill>
                <a:latin typeface="Arial"/>
                <a:ea typeface="Arial"/>
                <a:cs typeface="Arial"/>
              </a:defRPr>
            </a:pPr>
            <a:r>
              <a:rPr sz="3480" b="1">
                <a:solidFill>
                  <a:srgbClr val="087E70"/>
                </a:solidFill>
                <a:latin typeface="Arial"/>
                <a:ea typeface="Arial"/>
                <a:cs typeface="Arial"/>
              </a:rPr>
              <a:t>Execution and deployment</a:t>
            </a:r>
          </a:p>
        </p:txBody>
      </p:sp>
      <p:sp>
        <p:nvSpPr>
          <p:cNvPr id="19" name="shape-132">
            <a:extLst xmlns:a="http://schemas.openxmlformats.org/drawingml/2006/main">
              <a:ext uri="{FF2B5EF4-FFF2-40B4-BE49-F238E27FC236}">
                <a16:creationId xmlns:a16="http://schemas.microsoft.com/office/drawing/2014/main" id="{684D33E5-7777-4B85-9011-8F2EB0B60752}"/>
              </a:ext>
            </a:extLst>
          </p:cNvPr>
          <p:cNvSpPr>
            <a:spLocks xmlns:a="http://schemas.openxmlformats.org/drawingml/2006/main" noGrp="1"/>
          </p:cNvSpPr>
          <p:nvPr/>
        </p:nvSpPr>
        <p:spPr>
          <a:xfrm xmlns:a="http://schemas.openxmlformats.org/drawingml/2006/main">
            <a:off x="13456920" y="9585960"/>
            <a:ext cx="10195560" cy="1341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Cached model weights and bounded windows</a:t>
            </a:r>
          </a:p>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control the workload. A separate processing</a:t>
            </a:r>
          </a:p>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service supports the web interface.</a:t>
            </a:r>
          </a:p>
        </p:txBody>
      </p:sp>
      <p:sp>
        <p:nvSpPr>
          <p:cNvPr id="20" name="shape-133">
            <a:extLst xmlns:a="http://schemas.openxmlformats.org/drawingml/2006/main">
              <a:ext uri="{FF2B5EF4-FFF2-40B4-BE49-F238E27FC236}">
                <a16:creationId xmlns:a16="http://schemas.microsoft.com/office/drawing/2014/main" id="{37D612A4-AA20-42C0-8C8F-325D721142C0}"/>
              </a:ext>
            </a:extLst>
          </p:cNvPr>
          <p:cNvSpPr>
            <a:spLocks xmlns:a="http://schemas.openxmlformats.org/drawingml/2006/main" noGrp="1"/>
          </p:cNvSpPr>
          <p:nvPr/>
        </p:nvSpPr>
        <p:spPr>
          <a:xfrm xmlns:a="http://schemas.openxmlformats.org/drawingml/2006/main">
            <a:off x="13441680" y="11170920"/>
            <a:ext cx="10195560" cy="502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C84D35"/>
                </a:solidFill>
                <a:latin typeface="Arial"/>
                <a:ea typeface="Arial"/>
                <a:cs typeface="Arial"/>
              </a:defRPr>
            </a:pPr>
            <a:r>
              <a:rPr sz="3000" b="1">
                <a:solidFill>
                  <a:srgbClr val="C84D35"/>
                </a:solidFill>
                <a:latin typeface="Arial"/>
                <a:ea typeface="Arial"/>
                <a:cs typeface="Arial"/>
              </a:rPr>
              <a:t>Validation scope</a:t>
            </a:r>
          </a:p>
        </p:txBody>
      </p:sp>
      <p:sp>
        <p:nvSpPr>
          <p:cNvPr id="21" name="shape-134">
            <a:extLst xmlns:a="http://schemas.openxmlformats.org/drawingml/2006/main">
              <a:ext uri="{FF2B5EF4-FFF2-40B4-BE49-F238E27FC236}">
                <a16:creationId xmlns:a16="http://schemas.microsoft.com/office/drawing/2014/main" id="{E67C4636-69DD-4BD2-936C-B62C28F33FA6}"/>
              </a:ext>
            </a:extLst>
          </p:cNvPr>
          <p:cNvSpPr>
            <a:spLocks xmlns:a="http://schemas.openxmlformats.org/drawingml/2006/main" noGrp="1"/>
          </p:cNvSpPr>
          <p:nvPr/>
        </p:nvSpPr>
        <p:spPr>
          <a:xfrm xmlns:a="http://schemas.openxmlformats.org/drawingml/2006/main">
            <a:off x="13456920" y="11826240"/>
            <a:ext cx="1021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Geometry is partial. Independent spatial accuracy and</a:t>
            </a:r>
          </a:p>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the 10-minute-video benchmark remain pending.</a:t>
            </a:r>
          </a:p>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Trajectory RMSE does not measure surface accuracy.</a:t>
            </a:r>
          </a:p>
        </p:txBody>
      </p:sp>
    </p:spTree>
    <p:extLst>
      <p:ext uri="{BB962C8B-B14F-4D97-AF65-F5344CB8AC3E}">
        <p14:creationId xmlns:p14="http://schemas.microsoft.com/office/powerpoint/2010/main" val="636239454"/>
      </p:ext>
    </p:extLst>
  </p:cSld>
</p:sld>
</file>

<file path=ppt/slides/slide5.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sp>
        <p:nvSpPr>
          <p:cNvPr id="23" name="shape-135">
            <a:extLst xmlns:a="http://schemas.openxmlformats.org/drawingml/2006/main">
              <a:ext uri="{FF2B5EF4-FFF2-40B4-BE49-F238E27FC236}">
                <a16:creationId xmlns:a16="http://schemas.microsoft.com/office/drawing/2014/main" id="{E2B98E72-E015-406D-BEF8-9413912BCBAA}"/>
              </a:ext>
            </a:extLst>
          </p:cNvPr>
          <p:cNvSpPr>
            <a:spLocks xmlns:a="http://schemas.openxmlformats.org/drawingml/2006/main" noGrp="1"/>
          </p:cNvSpPr>
          <p:nvPr/>
        </p:nvSpPr>
        <p:spPr>
          <a:xfrm xmlns:a="http://schemas.openxmlformats.org/drawingml/2006/main">
            <a:off x="91440" y="76200"/>
            <a:ext cx="24201120" cy="13563600"/>
          </a:xfrm>
          <a:prstGeom xmlns:a="http://schemas.openxmlformats.org/drawingml/2006/main" prst="rect">
            <a:avLst/>
          </a:prstGeom>
          <a:noFill xmlns:a="http://schemas.openxmlformats.org/drawingml/2006/main"/>
          <a:ln xmlns:a="http://schemas.openxmlformats.org/drawingml/2006/main" w="15240">
            <a:solidFill>
              <a:srgbClr val="E4E7EB"/>
            </a:solidFill>
            <a:prstDash val="solid"/>
          </a:ln>
        </p:spPr>
      </p:sp>
      <p:sp>
        <p:nvSpPr>
          <p:cNvPr id="2" name="shape-136">
            <a:extLst xmlns:a="http://schemas.openxmlformats.org/drawingml/2006/main">
              <a:ext uri="{FF2B5EF4-FFF2-40B4-BE49-F238E27FC236}">
                <a16:creationId xmlns:a16="http://schemas.microsoft.com/office/drawing/2014/main" id="{59DA73EA-8B6D-4A8E-ACD8-5E587FEAD060}"/>
              </a:ext>
            </a:extLst>
          </p:cNvPr>
          <p:cNvSpPr>
            <a:spLocks xmlns:a="http://schemas.openxmlformats.org/drawingml/2006/main" noGrp="1"/>
          </p:cNvSpPr>
          <p:nvPr/>
        </p:nvSpPr>
        <p:spPr>
          <a:xfrm xmlns:a="http://schemas.openxmlformats.org/drawingml/2006/main">
            <a:off x="868680" y="640080"/>
            <a:ext cx="320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720" b="1">
                <a:solidFill>
                  <a:srgbClr val="087E70"/>
                </a:solidFill>
                <a:latin typeface="Arial"/>
                <a:ea typeface="Arial"/>
                <a:cs typeface="Arial"/>
              </a:defRPr>
            </a:pPr>
            <a:r>
              <a:rPr sz="3720" b="1">
                <a:solidFill>
                  <a:srgbClr val="087E70"/>
                </a:solidFill>
                <a:latin typeface="Arial"/>
                <a:ea typeface="Arial"/>
                <a:cs typeface="Arial"/>
              </a:rPr>
              <a:t>VoxelFlight</a:t>
            </a:r>
          </a:p>
        </p:txBody>
      </p:sp>
      <p:sp>
        <p:nvSpPr>
          <p:cNvPr id="3" name="shape-137">
            <a:extLst xmlns:a="http://schemas.openxmlformats.org/drawingml/2006/main">
              <a:ext uri="{FF2B5EF4-FFF2-40B4-BE49-F238E27FC236}">
                <a16:creationId xmlns:a16="http://schemas.microsoft.com/office/drawing/2014/main" id="{AAADB404-379C-4E4F-A289-B3D060540926}"/>
              </a:ext>
            </a:extLst>
          </p:cNvPr>
          <p:cNvSpPr>
            <a:spLocks xmlns:a="http://schemas.openxmlformats.org/drawingml/2006/main" noGrp="1"/>
          </p:cNvSpPr>
          <p:nvPr/>
        </p:nvSpPr>
        <p:spPr>
          <a:xfrm xmlns:a="http://schemas.openxmlformats.org/drawingml/2006/main">
            <a:off x="4343400" y="533400"/>
            <a:ext cx="15240000" cy="1082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760" b="1">
                <a:solidFill>
                  <a:srgbClr val="14243B"/>
                </a:solidFill>
                <a:latin typeface="Times New Roman"/>
                <a:ea typeface="Times New Roman"/>
                <a:cs typeface="Times New Roman"/>
              </a:defRPr>
            </a:pPr>
            <a:r>
              <a:rPr sz="5760" b="1">
                <a:solidFill>
                  <a:srgbClr val="14243B"/>
                </a:solidFill>
                <a:latin typeface="Times New Roman"/>
                <a:ea typeface="Times New Roman"/>
                <a:cs typeface="Times New Roman"/>
              </a:rPr>
              <a:t>IMPACT AND BENEFITS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9e56514dad34a2e"/>
          <a:stretch xmlns:a="http://schemas.openxmlformats.org/drawingml/2006/main"/>
        </p:blipFill>
        <p:spPr>
          <a:xfrm xmlns:a="http://schemas.openxmlformats.org/drawingml/2006/main">
            <a:off x="19903440" y="220568"/>
            <a:ext cx="1219200" cy="1433384"/>
          </a:xfrm>
          <a:prstGeom xmlns:a="http://schemas.openxmlformats.org/drawingml/2006/main" prst="rect">
            <a:avLst/>
          </a:prstGeom>
        </p:spPr>
      </p:pic>
      <p:sp>
        <p:nvSpPr>
          <p:cNvPr id="5" name="shape-138">
            <a:extLst xmlns:a="http://schemas.openxmlformats.org/drawingml/2006/main">
              <a:ext uri="{FF2B5EF4-FFF2-40B4-BE49-F238E27FC236}">
                <a16:creationId xmlns:a16="http://schemas.microsoft.com/office/drawing/2014/main" id="{1357EE43-752D-4E2F-AF46-3CA0E88BDC4E}"/>
              </a:ext>
            </a:extLst>
          </p:cNvPr>
          <p:cNvSpPr>
            <a:spLocks xmlns:a="http://schemas.openxmlformats.org/drawingml/2006/main" noGrp="1"/>
          </p:cNvSpPr>
          <p:nvPr/>
        </p:nvSpPr>
        <p:spPr>
          <a:xfrm xmlns:a="http://schemas.openxmlformats.org/drawingml/2006/main">
            <a:off x="21305520" y="563880"/>
            <a:ext cx="240792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SMART INDIA</a:t>
            </a:r>
          </a:p>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HACKATHON 2026</a:t>
            </a:r>
          </a:p>
        </p:txBody>
      </p:sp>
      <p:sp>
        <p:nvSpPr>
          <p:cNvPr id="6" name="shape-139">
            <a:extLst xmlns:a="http://schemas.openxmlformats.org/drawingml/2006/main">
              <a:ext uri="{FF2B5EF4-FFF2-40B4-BE49-F238E27FC236}">
                <a16:creationId xmlns:a16="http://schemas.microsoft.com/office/drawing/2014/main" id="{914D3587-4B7F-4F8C-9B21-2F9D67CC5E31}"/>
              </a:ext>
            </a:extLst>
          </p:cNvPr>
          <p:cNvSpPr>
            <a:spLocks xmlns:a="http://schemas.openxmlformats.org/drawingml/2006/main" noGrp="1"/>
          </p:cNvSpPr>
          <p:nvPr/>
        </p:nvSpPr>
        <p:spPr>
          <a:xfrm xmlns:a="http://schemas.openxmlformats.org/drawingml/2006/main">
            <a:off x="868680" y="1905000"/>
            <a:ext cx="22768560" cy="0"/>
          </a:xfrm>
          <a:prstGeom xmlns:a="http://schemas.openxmlformats.org/drawingml/2006/main" prst="line">
            <a:avLst/>
          </a:prstGeom>
          <a:noFill xmlns:a="http://schemas.openxmlformats.org/drawingml/2006/main"/>
          <a:ln xmlns:a="http://schemas.openxmlformats.org/drawingml/2006/main" w="15240">
            <a:solidFill>
              <a:srgbClr val="087E70"/>
            </a:solidFill>
            <a:prstDash val="solid"/>
          </a:ln>
        </p:spPr>
      </p:sp>
      <p:sp>
        <p:nvSpPr>
          <p:cNvPr id="7" name="shape-140">
            <a:extLst xmlns:a="http://schemas.openxmlformats.org/drawingml/2006/main">
              <a:ext uri="{FF2B5EF4-FFF2-40B4-BE49-F238E27FC236}">
                <a16:creationId xmlns:a16="http://schemas.microsoft.com/office/drawing/2014/main" id="{9FE4FCD0-9328-4A62-9090-F8F9A7195AB6}"/>
              </a:ext>
            </a:extLst>
          </p:cNvPr>
          <p:cNvSpPr>
            <a:spLocks xmlns:a="http://schemas.openxmlformats.org/drawingml/2006/main" noGrp="1"/>
          </p:cNvSpPr>
          <p:nvPr/>
        </p:nvSpPr>
        <p:spPr>
          <a:xfrm xmlns:a="http://schemas.openxmlformats.org/drawingml/2006/main">
            <a:off x="868680" y="13060680"/>
            <a:ext cx="182880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20" b="0">
                <a:solidFill>
                  <a:srgbClr val="516178"/>
                </a:solidFill>
                <a:latin typeface="Arial"/>
                <a:ea typeface="Arial"/>
                <a:cs typeface="Arial"/>
              </a:defRPr>
            </a:pPr>
            <a:r>
              <a:rPr sz="1920" b="0">
                <a:solidFill>
                  <a:srgbClr val="516178"/>
                </a:solidFill>
                <a:latin typeface="Arial"/>
                <a:ea typeface="Arial"/>
                <a:cs typeface="Arial"/>
              </a:rPr>
              <a:t>SIH26158  /  SOFTWARE  /  DRONE &amp; ROBOTICS</a:t>
            </a:r>
          </a:p>
        </p:txBody>
      </p:sp>
      <p:sp>
        <p:nvSpPr>
          <p:cNvPr id="8" name="shape-141">
            <a:extLst xmlns:a="http://schemas.openxmlformats.org/drawingml/2006/main">
              <a:ext uri="{FF2B5EF4-FFF2-40B4-BE49-F238E27FC236}">
                <a16:creationId xmlns:a16="http://schemas.microsoft.com/office/drawing/2014/main" id="{7BCDE771-1396-4521-BAD8-E7DE7BD4F3F0}"/>
              </a:ext>
            </a:extLst>
          </p:cNvPr>
          <p:cNvSpPr>
            <a:spLocks xmlns:a="http://schemas.openxmlformats.org/drawingml/2006/main" noGrp="1"/>
          </p:cNvSpPr>
          <p:nvPr/>
        </p:nvSpPr>
        <p:spPr>
          <a:xfrm xmlns:a="http://schemas.openxmlformats.org/drawingml/2006/main">
            <a:off x="22555200" y="13060680"/>
            <a:ext cx="109728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2040" b="0">
                <a:solidFill>
                  <a:srgbClr val="516178"/>
                </a:solidFill>
                <a:latin typeface="Arial"/>
                <a:ea typeface="Arial"/>
                <a:cs typeface="Arial"/>
              </a:defRPr>
            </a:pPr>
            <a:r>
              <a:rPr sz="2040" b="0">
                <a:solidFill>
                  <a:srgbClr val="516178"/>
                </a:solidFill>
                <a:latin typeface="Arial"/>
                <a:ea typeface="Arial"/>
                <a:cs typeface="Arial"/>
              </a:rPr>
              <a:t>05 / 06</a:t>
            </a:r>
          </a:p>
        </p:txBody>
      </p:sp>
      <p:sp>
        <p:nvSpPr>
          <p:cNvPr id="9" name="shape-142">
            <a:extLst xmlns:a="http://schemas.openxmlformats.org/drawingml/2006/main">
              <a:ext uri="{FF2B5EF4-FFF2-40B4-BE49-F238E27FC236}">
                <a16:creationId xmlns:a16="http://schemas.microsoft.com/office/drawing/2014/main" id="{4CFB6643-810C-4264-87F0-7D0711B5F2A9}"/>
              </a:ext>
            </a:extLst>
          </p:cNvPr>
          <p:cNvSpPr>
            <a:spLocks xmlns:a="http://schemas.openxmlformats.org/drawingml/2006/main" noGrp="1"/>
          </p:cNvSpPr>
          <p:nvPr/>
        </p:nvSpPr>
        <p:spPr>
          <a:xfrm xmlns:a="http://schemas.openxmlformats.org/drawingml/2006/main">
            <a:off x="868680" y="2301240"/>
            <a:ext cx="22707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800" b="1">
                <a:solidFill>
                  <a:srgbClr val="14243B"/>
                </a:solidFill>
                <a:latin typeface="Arial"/>
                <a:ea typeface="Arial"/>
                <a:cs typeface="Arial"/>
              </a:defRPr>
            </a:pPr>
            <a:r>
              <a:rPr sz="4800" b="1">
                <a:solidFill>
                  <a:srgbClr val="14243B"/>
                </a:solidFill>
                <a:latin typeface="Arial"/>
                <a:ea typeface="Arial"/>
                <a:cs typeface="Arial"/>
              </a:rPr>
              <a:t>Spatial context for inspection and planning</a:t>
            </a:r>
          </a:p>
        </p:txBody>
      </p:sp>
      <p:sp>
        <p:nvSpPr>
          <p:cNvPr id="10" name="shape-143">
            <a:extLst xmlns:a="http://schemas.openxmlformats.org/drawingml/2006/main">
              <a:ext uri="{FF2B5EF4-FFF2-40B4-BE49-F238E27FC236}">
                <a16:creationId xmlns:a16="http://schemas.microsoft.com/office/drawing/2014/main" id="{00A77556-41C4-49F1-8C75-008B46B7FA4C}"/>
              </a:ext>
            </a:extLst>
          </p:cNvPr>
          <p:cNvSpPr>
            <a:spLocks xmlns:a="http://schemas.openxmlformats.org/drawingml/2006/main" noGrp="1"/>
          </p:cNvSpPr>
          <p:nvPr/>
        </p:nvSpPr>
        <p:spPr>
          <a:xfrm xmlns:a="http://schemas.openxmlformats.org/drawingml/2006/main">
            <a:off x="899160" y="3261360"/>
            <a:ext cx="22631400"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A browser workspace connects source imagery, reconstructed geometry and geospatial downloads.</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ae8b1e58f1247cb"/>
          <a:stretch xmlns:a="http://schemas.openxmlformats.org/drawingml/2006/main"/>
        </p:blipFill>
        <p:spPr>
          <a:xfrm xmlns:a="http://schemas.openxmlformats.org/drawingml/2006/main">
            <a:off x="892277" y="4236720"/>
            <a:ext cx="6185967" cy="751332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296ebfd8f77404f"/>
          <a:stretch xmlns:a="http://schemas.openxmlformats.org/drawingml/2006/main"/>
        </p:blipFill>
        <p:spPr>
          <a:xfrm xmlns:a="http://schemas.openxmlformats.org/drawingml/2006/main">
            <a:off x="7594625" y="4236720"/>
            <a:ext cx="6085789" cy="7513320"/>
          </a:xfrm>
          <a:prstGeom xmlns:a="http://schemas.openxmlformats.org/drawingml/2006/main" prst="rect">
            <a:avLst/>
          </a:prstGeom>
        </p:spPr>
      </p:pic>
      <p:sp>
        <p:nvSpPr>
          <p:cNvPr id="13" name="shape-144">
            <a:extLst xmlns:a="http://schemas.openxmlformats.org/drawingml/2006/main">
              <a:ext uri="{FF2B5EF4-FFF2-40B4-BE49-F238E27FC236}">
                <a16:creationId xmlns:a16="http://schemas.microsoft.com/office/drawing/2014/main" id="{D8B60085-C287-4F2A-96C4-7426D6F4C939}"/>
              </a:ext>
            </a:extLst>
          </p:cNvPr>
          <p:cNvSpPr>
            <a:spLocks xmlns:a="http://schemas.openxmlformats.org/drawingml/2006/main" noGrp="1"/>
          </p:cNvSpPr>
          <p:nvPr/>
        </p:nvSpPr>
        <p:spPr>
          <a:xfrm xmlns:a="http://schemas.openxmlformats.org/drawingml/2006/main">
            <a:off x="914400" y="12039600"/>
            <a:ext cx="6141720" cy="518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7544C4"/>
                </a:solidFill>
                <a:latin typeface="Arial"/>
                <a:ea typeface="Arial"/>
                <a:cs typeface="Arial"/>
              </a:defRPr>
            </a:pPr>
            <a:r>
              <a:rPr sz="3000" b="1">
                <a:solidFill>
                  <a:srgbClr val="7544C4"/>
                </a:solidFill>
                <a:latin typeface="Arial"/>
                <a:ea typeface="Arial"/>
                <a:cs typeface="Arial"/>
              </a:rPr>
              <a:t>Entrance + sign-in</a:t>
            </a:r>
          </a:p>
        </p:txBody>
      </p:sp>
      <p:sp>
        <p:nvSpPr>
          <p:cNvPr id="14" name="shape-145">
            <a:extLst xmlns:a="http://schemas.openxmlformats.org/drawingml/2006/main">
              <a:ext uri="{FF2B5EF4-FFF2-40B4-BE49-F238E27FC236}">
                <a16:creationId xmlns:a16="http://schemas.microsoft.com/office/drawing/2014/main" id="{D0A71201-2C43-49DF-BDCF-D85B354713DD}"/>
              </a:ext>
            </a:extLst>
          </p:cNvPr>
          <p:cNvSpPr>
            <a:spLocks xmlns:a="http://schemas.openxmlformats.org/drawingml/2006/main" noGrp="1"/>
          </p:cNvSpPr>
          <p:nvPr/>
        </p:nvSpPr>
        <p:spPr>
          <a:xfrm xmlns:a="http://schemas.openxmlformats.org/drawingml/2006/main">
            <a:off x="7559040" y="12039600"/>
            <a:ext cx="6248400" cy="518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087E70"/>
                </a:solidFill>
                <a:latin typeface="Arial"/>
                <a:ea typeface="Arial"/>
                <a:cs typeface="Arial"/>
              </a:defRPr>
            </a:pPr>
            <a:r>
              <a:rPr sz="3000" b="1">
                <a:solidFill>
                  <a:srgbClr val="087E70"/>
                </a:solidFill>
                <a:latin typeface="Arial"/>
                <a:ea typeface="Arial"/>
                <a:cs typeface="Arial"/>
              </a:rPr>
              <a:t>Reconstruction workspace</a:t>
            </a:r>
          </a:p>
        </p:txBody>
      </p:sp>
      <p:sp>
        <p:nvSpPr>
          <p:cNvPr id="15" name="shape-146">
            <a:extLst xmlns:a="http://schemas.openxmlformats.org/drawingml/2006/main">
              <a:ext uri="{FF2B5EF4-FFF2-40B4-BE49-F238E27FC236}">
                <a16:creationId xmlns:a16="http://schemas.microsoft.com/office/drawing/2014/main" id="{CCAF3C95-782E-451A-9FB4-F3B9ED6C4921}"/>
              </a:ext>
            </a:extLst>
          </p:cNvPr>
          <p:cNvSpPr>
            <a:spLocks xmlns:a="http://schemas.openxmlformats.org/drawingml/2006/main" noGrp="1"/>
          </p:cNvSpPr>
          <p:nvPr/>
        </p:nvSpPr>
        <p:spPr>
          <a:xfrm xmlns:a="http://schemas.openxmlformats.org/drawingml/2006/main">
            <a:off x="14493240" y="4465320"/>
            <a:ext cx="9189720" cy="594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1">
                <a:solidFill>
                  <a:srgbClr val="2464C7"/>
                </a:solidFill>
                <a:latin typeface="Arial"/>
                <a:ea typeface="Arial"/>
                <a:cs typeface="Arial"/>
              </a:defRPr>
            </a:pPr>
            <a:r>
              <a:rPr sz="3480" b="1">
                <a:solidFill>
                  <a:srgbClr val="2464C7"/>
                </a:solidFill>
                <a:latin typeface="Arial"/>
                <a:ea typeface="Arial"/>
                <a:cs typeface="Arial"/>
              </a:rPr>
              <a:t>Infrastructure inspection</a:t>
            </a:r>
          </a:p>
        </p:txBody>
      </p:sp>
      <p:sp>
        <p:nvSpPr>
          <p:cNvPr id="16" name="shape-147">
            <a:extLst xmlns:a="http://schemas.openxmlformats.org/drawingml/2006/main">
              <a:ext uri="{FF2B5EF4-FFF2-40B4-BE49-F238E27FC236}">
                <a16:creationId xmlns:a16="http://schemas.microsoft.com/office/drawing/2014/main" id="{BEDE89D5-2D0A-4B8F-A731-DD5679866979}"/>
              </a:ext>
            </a:extLst>
          </p:cNvPr>
          <p:cNvSpPr>
            <a:spLocks xmlns:a="http://schemas.openxmlformats.org/drawingml/2006/main" noGrp="1"/>
          </p:cNvSpPr>
          <p:nvPr/>
        </p:nvSpPr>
        <p:spPr>
          <a:xfrm xmlns:a="http://schemas.openxmlformats.org/drawingml/2006/main">
            <a:off x="14508480" y="5273040"/>
            <a:ext cx="9144000" cy="1036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Review façade and road context</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before a targeted follow-up survey.</a:t>
            </a:r>
          </a:p>
        </p:txBody>
      </p:sp>
      <p:sp>
        <p:nvSpPr>
          <p:cNvPr id="17" name="shape-148">
            <a:extLst xmlns:a="http://schemas.openxmlformats.org/drawingml/2006/main">
              <a:ext uri="{FF2B5EF4-FFF2-40B4-BE49-F238E27FC236}">
                <a16:creationId xmlns:a16="http://schemas.microsoft.com/office/drawing/2014/main" id="{0BFB3963-2538-4016-BFD6-6A9D9D6F48D9}"/>
              </a:ext>
            </a:extLst>
          </p:cNvPr>
          <p:cNvSpPr>
            <a:spLocks xmlns:a="http://schemas.openxmlformats.org/drawingml/2006/main" noGrp="1"/>
          </p:cNvSpPr>
          <p:nvPr/>
        </p:nvSpPr>
        <p:spPr>
          <a:xfrm xmlns:a="http://schemas.openxmlformats.org/drawingml/2006/main">
            <a:off x="14493240" y="6644640"/>
            <a:ext cx="9189720" cy="594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1">
                <a:solidFill>
                  <a:srgbClr val="C84D35"/>
                </a:solidFill>
                <a:latin typeface="Arial"/>
                <a:ea typeface="Arial"/>
                <a:cs typeface="Arial"/>
              </a:defRPr>
            </a:pPr>
            <a:r>
              <a:rPr sz="3480" b="1">
                <a:solidFill>
                  <a:srgbClr val="C84D35"/>
                </a:solidFill>
                <a:latin typeface="Arial"/>
                <a:ea typeface="Arial"/>
                <a:cs typeface="Arial"/>
              </a:rPr>
              <a:t>Disaster assessment</a:t>
            </a:r>
          </a:p>
        </p:txBody>
      </p:sp>
      <p:sp>
        <p:nvSpPr>
          <p:cNvPr id="18" name="shape-149">
            <a:extLst xmlns:a="http://schemas.openxmlformats.org/drawingml/2006/main">
              <a:ext uri="{FF2B5EF4-FFF2-40B4-BE49-F238E27FC236}">
                <a16:creationId xmlns:a16="http://schemas.microsoft.com/office/drawing/2014/main" id="{44B36560-0A8A-485E-A1F2-3DED51FD4432}"/>
              </a:ext>
            </a:extLst>
          </p:cNvPr>
          <p:cNvSpPr>
            <a:spLocks xmlns:a="http://schemas.openxmlformats.org/drawingml/2006/main" noGrp="1"/>
          </p:cNvSpPr>
          <p:nvPr/>
        </p:nvSpPr>
        <p:spPr>
          <a:xfrm xmlns:a="http://schemas.openxmlformats.org/drawingml/2006/main">
            <a:off x="14508480" y="7452360"/>
            <a:ext cx="9144000" cy="1036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Review visible damage remotely.</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Keep unseen regions explicit.</a:t>
            </a:r>
          </a:p>
        </p:txBody>
      </p:sp>
      <p:sp>
        <p:nvSpPr>
          <p:cNvPr id="19" name="shape-150">
            <a:extLst xmlns:a="http://schemas.openxmlformats.org/drawingml/2006/main">
              <a:ext uri="{FF2B5EF4-FFF2-40B4-BE49-F238E27FC236}">
                <a16:creationId xmlns:a16="http://schemas.microsoft.com/office/drawing/2014/main" id="{32E3138D-256C-4FC4-B012-5E2A4CECBA4B}"/>
              </a:ext>
            </a:extLst>
          </p:cNvPr>
          <p:cNvSpPr>
            <a:spLocks xmlns:a="http://schemas.openxmlformats.org/drawingml/2006/main" noGrp="1"/>
          </p:cNvSpPr>
          <p:nvPr/>
        </p:nvSpPr>
        <p:spPr>
          <a:xfrm xmlns:a="http://schemas.openxmlformats.org/drawingml/2006/main">
            <a:off x="14493240" y="8823960"/>
            <a:ext cx="9189720" cy="594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80" b="1">
                <a:solidFill>
                  <a:srgbClr val="087E70"/>
                </a:solidFill>
                <a:latin typeface="Arial"/>
                <a:ea typeface="Arial"/>
                <a:cs typeface="Arial"/>
              </a:defRPr>
            </a:pPr>
            <a:r>
              <a:rPr sz="3480" b="1">
                <a:solidFill>
                  <a:srgbClr val="087E70"/>
                </a:solidFill>
                <a:latin typeface="Arial"/>
                <a:ea typeface="Arial"/>
                <a:cs typeface="Arial"/>
              </a:rPr>
              <a:t>Planning and documentation</a:t>
            </a:r>
          </a:p>
        </p:txBody>
      </p:sp>
      <p:sp>
        <p:nvSpPr>
          <p:cNvPr id="20" name="shape-151">
            <a:extLst xmlns:a="http://schemas.openxmlformats.org/drawingml/2006/main">
              <a:ext uri="{FF2B5EF4-FFF2-40B4-BE49-F238E27FC236}">
                <a16:creationId xmlns:a16="http://schemas.microsoft.com/office/drawing/2014/main" id="{734926FA-A6B4-483F-BFA1-935D35728592}"/>
              </a:ext>
            </a:extLst>
          </p:cNvPr>
          <p:cNvSpPr>
            <a:spLocks xmlns:a="http://schemas.openxmlformats.org/drawingml/2006/main" noGrp="1"/>
          </p:cNvSpPr>
          <p:nvPr/>
        </p:nvSpPr>
        <p:spPr>
          <a:xfrm xmlns:a="http://schemas.openxmlformats.org/drawingml/2006/main">
            <a:off x="14508480" y="9631680"/>
            <a:ext cx="9144000" cy="1036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Reuse scene files with their</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coordinate reference information.</a:t>
            </a:r>
          </a:p>
        </p:txBody>
      </p:sp>
      <p:sp>
        <p:nvSpPr>
          <p:cNvPr id="21" name="shape-152">
            <a:extLst xmlns:a="http://schemas.openxmlformats.org/drawingml/2006/main">
              <a:ext uri="{FF2B5EF4-FFF2-40B4-BE49-F238E27FC236}">
                <a16:creationId xmlns:a16="http://schemas.microsoft.com/office/drawing/2014/main" id="{24F660CF-F4F5-4332-8169-F19DE0114002}"/>
              </a:ext>
            </a:extLst>
          </p:cNvPr>
          <p:cNvSpPr>
            <a:spLocks xmlns:a="http://schemas.openxmlformats.org/drawingml/2006/main" noGrp="1"/>
          </p:cNvSpPr>
          <p:nvPr/>
        </p:nvSpPr>
        <p:spPr>
          <a:xfrm xmlns:a="http://schemas.openxmlformats.org/drawingml/2006/main">
            <a:off x="14493240" y="11079480"/>
            <a:ext cx="9083040" cy="640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087E70"/>
                </a:solidFill>
                <a:latin typeface="Arial"/>
                <a:ea typeface="Arial"/>
                <a:cs typeface="Arial"/>
              </a:defRPr>
            </a:pPr>
            <a:r>
              <a:rPr sz="3600" b="1">
                <a:solidFill>
                  <a:srgbClr val="087E70"/>
                </a:solidFill>
                <a:latin typeface="Arial"/>
                <a:ea typeface="Arial"/>
                <a:cs typeface="Arial"/>
                <a:hlinkClick xmlns:r="http://schemas.openxmlformats.org/officeDocument/2006/relationships" r:id="Rf430a8ddaac04ae4"/>
              </a:rPr>
              <a:t>voxelflight-3d.web.app</a:t>
            </a:r>
          </a:p>
        </p:txBody>
      </p:sp>
      <p:sp>
        <p:nvSpPr>
          <p:cNvPr id="22" name="shape-153">
            <a:extLst xmlns:a="http://schemas.openxmlformats.org/drawingml/2006/main">
              <a:ext uri="{FF2B5EF4-FFF2-40B4-BE49-F238E27FC236}">
                <a16:creationId xmlns:a16="http://schemas.microsoft.com/office/drawing/2014/main" id="{CF1CF235-AF7F-4532-8971-BED720FEA5FB}"/>
              </a:ext>
            </a:extLst>
          </p:cNvPr>
          <p:cNvSpPr>
            <a:spLocks xmlns:a="http://schemas.openxmlformats.org/drawingml/2006/main" noGrp="1"/>
          </p:cNvSpPr>
          <p:nvPr/>
        </p:nvSpPr>
        <p:spPr>
          <a:xfrm xmlns:a="http://schemas.openxmlformats.org/drawingml/2006/main">
            <a:off x="14508480" y="11917680"/>
            <a:ext cx="9113520" cy="899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20" b="0">
                <a:solidFill>
                  <a:srgbClr val="516178"/>
                </a:solidFill>
                <a:latin typeface="Arial"/>
                <a:ea typeface="Arial"/>
                <a:cs typeface="Arial"/>
              </a:defRPr>
            </a:pPr>
            <a:r>
              <a:rPr sz="2520" b="0">
                <a:solidFill>
                  <a:srgbClr val="516178"/>
                </a:solidFill>
                <a:latin typeface="Arial"/>
                <a:ea typeface="Arial"/>
                <a:cs typeface="Arial"/>
              </a:rPr>
              <a:t>Public prototype interface with saved reconstruction.</a:t>
            </a:r>
          </a:p>
          <a:p xmlns:a="http://schemas.openxmlformats.org/drawingml/2006/main">
            <a:pPr algn="l">
              <a:lnSpc>
                <a:spcPct val="108000"/>
              </a:lnSpc>
              <a:buNone/>
              <a:defRPr sz="2520" b="0">
                <a:solidFill>
                  <a:srgbClr val="516178"/>
                </a:solidFill>
                <a:latin typeface="Arial"/>
                <a:ea typeface="Arial"/>
                <a:cs typeface="Arial"/>
              </a:defRPr>
            </a:pPr>
            <a:r>
              <a:rPr sz="2520" b="0">
                <a:solidFill>
                  <a:srgbClr val="516178"/>
                </a:solidFill>
                <a:latin typeface="Arial"/>
                <a:ea typeface="Arial"/>
                <a:cs typeface="Arial"/>
              </a:rPr>
              <a:t>Inference runs through a separate processing service.</a:t>
            </a:r>
          </a:p>
        </p:txBody>
      </p:sp>
    </p:spTree>
    <p:extLst>
      <p:ext uri="{BB962C8B-B14F-4D97-AF65-F5344CB8AC3E}">
        <p14:creationId xmlns:p14="http://schemas.microsoft.com/office/powerpoint/2010/main" val="1371307984"/>
      </p:ext>
    </p:extLst>
  </p:cSld>
</p:sld>
</file>

<file path=ppt/slides/slide6.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sp>
        <p:nvSpPr>
          <p:cNvPr id="30" name="shape-154">
            <a:extLst xmlns:a="http://schemas.openxmlformats.org/drawingml/2006/main">
              <a:ext uri="{FF2B5EF4-FFF2-40B4-BE49-F238E27FC236}">
                <a16:creationId xmlns:a16="http://schemas.microsoft.com/office/drawing/2014/main" id="{AD673CBC-F54C-45D6-A8D7-EE93E7DE8911}"/>
              </a:ext>
            </a:extLst>
          </p:cNvPr>
          <p:cNvSpPr>
            <a:spLocks xmlns:a="http://schemas.openxmlformats.org/drawingml/2006/main" noGrp="1"/>
          </p:cNvSpPr>
          <p:nvPr/>
        </p:nvSpPr>
        <p:spPr>
          <a:xfrm xmlns:a="http://schemas.openxmlformats.org/drawingml/2006/main">
            <a:off x="91440" y="76200"/>
            <a:ext cx="24201120" cy="13563600"/>
          </a:xfrm>
          <a:prstGeom xmlns:a="http://schemas.openxmlformats.org/drawingml/2006/main" prst="rect">
            <a:avLst/>
          </a:prstGeom>
          <a:noFill xmlns:a="http://schemas.openxmlformats.org/drawingml/2006/main"/>
          <a:ln xmlns:a="http://schemas.openxmlformats.org/drawingml/2006/main" w="15240">
            <a:solidFill>
              <a:srgbClr val="E4E7EB"/>
            </a:solidFill>
            <a:prstDash val="solid"/>
          </a:ln>
        </p:spPr>
      </p:sp>
      <p:sp>
        <p:nvSpPr>
          <p:cNvPr id="2" name="shape-155">
            <a:extLst xmlns:a="http://schemas.openxmlformats.org/drawingml/2006/main">
              <a:ext uri="{FF2B5EF4-FFF2-40B4-BE49-F238E27FC236}">
                <a16:creationId xmlns:a16="http://schemas.microsoft.com/office/drawing/2014/main" id="{684979A7-127E-496E-9E14-05ABC31E2C30}"/>
              </a:ext>
            </a:extLst>
          </p:cNvPr>
          <p:cNvSpPr>
            <a:spLocks xmlns:a="http://schemas.openxmlformats.org/drawingml/2006/main" noGrp="1"/>
          </p:cNvSpPr>
          <p:nvPr/>
        </p:nvSpPr>
        <p:spPr>
          <a:xfrm xmlns:a="http://schemas.openxmlformats.org/drawingml/2006/main">
            <a:off x="868680" y="640080"/>
            <a:ext cx="320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720" b="1">
                <a:solidFill>
                  <a:srgbClr val="087E70"/>
                </a:solidFill>
                <a:latin typeface="Arial"/>
                <a:ea typeface="Arial"/>
                <a:cs typeface="Arial"/>
              </a:defRPr>
            </a:pPr>
            <a:r>
              <a:rPr sz="3720" b="1">
                <a:solidFill>
                  <a:srgbClr val="087E70"/>
                </a:solidFill>
                <a:latin typeface="Arial"/>
                <a:ea typeface="Arial"/>
                <a:cs typeface="Arial"/>
              </a:rPr>
              <a:t>VoxelFlight</a:t>
            </a:r>
          </a:p>
        </p:txBody>
      </p:sp>
      <p:sp>
        <p:nvSpPr>
          <p:cNvPr id="3" name="shape-156">
            <a:extLst xmlns:a="http://schemas.openxmlformats.org/drawingml/2006/main">
              <a:ext uri="{FF2B5EF4-FFF2-40B4-BE49-F238E27FC236}">
                <a16:creationId xmlns:a16="http://schemas.microsoft.com/office/drawing/2014/main" id="{0C0AFE6C-1537-45C5-A6FB-B456C4E84989}"/>
              </a:ext>
            </a:extLst>
          </p:cNvPr>
          <p:cNvSpPr>
            <a:spLocks xmlns:a="http://schemas.openxmlformats.org/drawingml/2006/main" noGrp="1"/>
          </p:cNvSpPr>
          <p:nvPr/>
        </p:nvSpPr>
        <p:spPr>
          <a:xfrm xmlns:a="http://schemas.openxmlformats.org/drawingml/2006/main">
            <a:off x="4343400" y="533400"/>
            <a:ext cx="15240000" cy="1082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760" b="1">
                <a:solidFill>
                  <a:srgbClr val="14243B"/>
                </a:solidFill>
                <a:latin typeface="Times New Roman"/>
                <a:ea typeface="Times New Roman"/>
                <a:cs typeface="Times New Roman"/>
              </a:defRPr>
            </a:pPr>
            <a:r>
              <a:rPr sz="5760" b="1">
                <a:solidFill>
                  <a:srgbClr val="14243B"/>
                </a:solidFill>
                <a:latin typeface="Times New Roman"/>
                <a:ea typeface="Times New Roman"/>
                <a:cs typeface="Times New Roman"/>
              </a:rPr>
              <a:t>RESEARCH AND REFERENCES</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c4cace345d04edf"/>
          <a:stretch xmlns:a="http://schemas.openxmlformats.org/drawingml/2006/main"/>
        </p:blipFill>
        <p:spPr>
          <a:xfrm xmlns:a="http://schemas.openxmlformats.org/drawingml/2006/main">
            <a:off x="19903440" y="220568"/>
            <a:ext cx="1219200" cy="1433384"/>
          </a:xfrm>
          <a:prstGeom xmlns:a="http://schemas.openxmlformats.org/drawingml/2006/main" prst="rect">
            <a:avLst/>
          </a:prstGeom>
        </p:spPr>
      </p:pic>
      <p:sp>
        <p:nvSpPr>
          <p:cNvPr id="5" name="shape-157">
            <a:extLst xmlns:a="http://schemas.openxmlformats.org/drawingml/2006/main">
              <a:ext uri="{FF2B5EF4-FFF2-40B4-BE49-F238E27FC236}">
                <a16:creationId xmlns:a16="http://schemas.microsoft.com/office/drawing/2014/main" id="{13A417CF-7C8D-4A87-BEDC-7D72D60922E8}"/>
              </a:ext>
            </a:extLst>
          </p:cNvPr>
          <p:cNvSpPr>
            <a:spLocks xmlns:a="http://schemas.openxmlformats.org/drawingml/2006/main" noGrp="1"/>
          </p:cNvSpPr>
          <p:nvPr/>
        </p:nvSpPr>
        <p:spPr>
          <a:xfrm xmlns:a="http://schemas.openxmlformats.org/drawingml/2006/main">
            <a:off x="21305520" y="563880"/>
            <a:ext cx="240792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SMART INDIA</a:t>
            </a:r>
          </a:p>
          <a:p xmlns:a="http://schemas.openxmlformats.org/drawingml/2006/main">
            <a:pPr algn="l">
              <a:lnSpc>
                <a:spcPct val="108000"/>
              </a:lnSpc>
              <a:buNone/>
              <a:defRPr sz="2160" b="1">
                <a:solidFill>
                  <a:srgbClr val="516178"/>
                </a:solidFill>
                <a:latin typeface="Arial"/>
                <a:ea typeface="Arial"/>
                <a:cs typeface="Arial"/>
              </a:defRPr>
            </a:pPr>
            <a:r>
              <a:rPr sz="2160" b="1">
                <a:solidFill>
                  <a:srgbClr val="516178"/>
                </a:solidFill>
                <a:latin typeface="Arial"/>
                <a:ea typeface="Arial"/>
                <a:cs typeface="Arial"/>
              </a:rPr>
              <a:t>HACKATHON 2026</a:t>
            </a:r>
          </a:p>
        </p:txBody>
      </p:sp>
      <p:sp>
        <p:nvSpPr>
          <p:cNvPr id="6" name="shape-158">
            <a:extLst xmlns:a="http://schemas.openxmlformats.org/drawingml/2006/main">
              <a:ext uri="{FF2B5EF4-FFF2-40B4-BE49-F238E27FC236}">
                <a16:creationId xmlns:a16="http://schemas.microsoft.com/office/drawing/2014/main" id="{A0A74BED-A35E-4B44-9F83-727C3CFC7B7E}"/>
              </a:ext>
            </a:extLst>
          </p:cNvPr>
          <p:cNvSpPr>
            <a:spLocks xmlns:a="http://schemas.openxmlformats.org/drawingml/2006/main" noGrp="1"/>
          </p:cNvSpPr>
          <p:nvPr/>
        </p:nvSpPr>
        <p:spPr>
          <a:xfrm xmlns:a="http://schemas.openxmlformats.org/drawingml/2006/main">
            <a:off x="868680" y="1905000"/>
            <a:ext cx="22768560" cy="0"/>
          </a:xfrm>
          <a:prstGeom xmlns:a="http://schemas.openxmlformats.org/drawingml/2006/main" prst="line">
            <a:avLst/>
          </a:prstGeom>
          <a:noFill xmlns:a="http://schemas.openxmlformats.org/drawingml/2006/main"/>
          <a:ln xmlns:a="http://schemas.openxmlformats.org/drawingml/2006/main" w="15240">
            <a:solidFill>
              <a:srgbClr val="2464C7"/>
            </a:solidFill>
            <a:prstDash val="solid"/>
          </a:ln>
        </p:spPr>
      </p:sp>
      <p:sp>
        <p:nvSpPr>
          <p:cNvPr id="7" name="shape-159">
            <a:extLst xmlns:a="http://schemas.openxmlformats.org/drawingml/2006/main">
              <a:ext uri="{FF2B5EF4-FFF2-40B4-BE49-F238E27FC236}">
                <a16:creationId xmlns:a16="http://schemas.microsoft.com/office/drawing/2014/main" id="{F3AF50E3-17F4-492D-AFBB-4ECE13711AB0}"/>
              </a:ext>
            </a:extLst>
          </p:cNvPr>
          <p:cNvSpPr>
            <a:spLocks xmlns:a="http://schemas.openxmlformats.org/drawingml/2006/main" noGrp="1"/>
          </p:cNvSpPr>
          <p:nvPr/>
        </p:nvSpPr>
        <p:spPr>
          <a:xfrm xmlns:a="http://schemas.openxmlformats.org/drawingml/2006/main">
            <a:off x="868680" y="13060680"/>
            <a:ext cx="182880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20" b="0">
                <a:solidFill>
                  <a:srgbClr val="516178"/>
                </a:solidFill>
                <a:latin typeface="Arial"/>
                <a:ea typeface="Arial"/>
                <a:cs typeface="Arial"/>
              </a:defRPr>
            </a:pPr>
            <a:r>
              <a:rPr sz="1920" b="0">
                <a:solidFill>
                  <a:srgbClr val="516178"/>
                </a:solidFill>
                <a:latin typeface="Arial"/>
                <a:ea typeface="Arial"/>
                <a:cs typeface="Arial"/>
              </a:rPr>
              <a:t>SIH26158  /  SOFTWARE  /  DRONE &amp; ROBOTICS</a:t>
            </a:r>
          </a:p>
        </p:txBody>
      </p:sp>
      <p:sp>
        <p:nvSpPr>
          <p:cNvPr id="8" name="shape-160">
            <a:extLst xmlns:a="http://schemas.openxmlformats.org/drawingml/2006/main">
              <a:ext uri="{FF2B5EF4-FFF2-40B4-BE49-F238E27FC236}">
                <a16:creationId xmlns:a16="http://schemas.microsoft.com/office/drawing/2014/main" id="{0D9EB0BA-89ED-41F4-883B-8F984669A43A}"/>
              </a:ext>
            </a:extLst>
          </p:cNvPr>
          <p:cNvSpPr>
            <a:spLocks xmlns:a="http://schemas.openxmlformats.org/drawingml/2006/main" noGrp="1"/>
          </p:cNvSpPr>
          <p:nvPr/>
        </p:nvSpPr>
        <p:spPr>
          <a:xfrm xmlns:a="http://schemas.openxmlformats.org/drawingml/2006/main">
            <a:off x="22555200" y="13060680"/>
            <a:ext cx="109728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2040" b="0">
                <a:solidFill>
                  <a:srgbClr val="516178"/>
                </a:solidFill>
                <a:latin typeface="Arial"/>
                <a:ea typeface="Arial"/>
                <a:cs typeface="Arial"/>
              </a:defRPr>
            </a:pPr>
            <a:r>
              <a:rPr sz="2040" b="0">
                <a:solidFill>
                  <a:srgbClr val="516178"/>
                </a:solidFill>
                <a:latin typeface="Arial"/>
                <a:ea typeface="Arial"/>
                <a:cs typeface="Arial"/>
              </a:rPr>
              <a:t>06 / 06</a:t>
            </a:r>
          </a:p>
        </p:txBody>
      </p:sp>
      <p:sp>
        <p:nvSpPr>
          <p:cNvPr id="9" name="shape-161">
            <a:extLst xmlns:a="http://schemas.openxmlformats.org/drawingml/2006/main">
              <a:ext uri="{FF2B5EF4-FFF2-40B4-BE49-F238E27FC236}">
                <a16:creationId xmlns:a16="http://schemas.microsoft.com/office/drawing/2014/main" id="{F59DC93A-8F66-4603-A76C-DC361A6DB463}"/>
              </a:ext>
            </a:extLst>
          </p:cNvPr>
          <p:cNvSpPr>
            <a:spLocks xmlns:a="http://schemas.openxmlformats.org/drawingml/2006/main" noGrp="1"/>
          </p:cNvSpPr>
          <p:nvPr/>
        </p:nvSpPr>
        <p:spPr>
          <a:xfrm xmlns:a="http://schemas.openxmlformats.org/drawingml/2006/main">
            <a:off x="868680" y="2301240"/>
            <a:ext cx="22707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800" b="1">
                <a:solidFill>
                  <a:srgbClr val="14243B"/>
                </a:solidFill>
                <a:latin typeface="Arial"/>
                <a:ea typeface="Arial"/>
                <a:cs typeface="Arial"/>
              </a:defRPr>
            </a:pPr>
            <a:r>
              <a:rPr sz="4800" b="1">
                <a:solidFill>
                  <a:srgbClr val="14243B"/>
                </a:solidFill>
                <a:latin typeface="Arial"/>
                <a:ea typeface="Arial"/>
                <a:cs typeface="Arial"/>
              </a:rPr>
              <a:t>Technical foundations and implementation contribution</a:t>
            </a:r>
          </a:p>
        </p:txBody>
      </p:sp>
      <p:sp>
        <p:nvSpPr>
          <p:cNvPr id="10" name="shape-162">
            <a:extLst xmlns:a="http://schemas.openxmlformats.org/drawingml/2006/main">
              <a:ext uri="{FF2B5EF4-FFF2-40B4-BE49-F238E27FC236}">
                <a16:creationId xmlns:a16="http://schemas.microsoft.com/office/drawing/2014/main" id="{F80A05AC-7BD6-4A3F-8A80-5791857BA2E6}"/>
              </a:ext>
            </a:extLst>
          </p:cNvPr>
          <p:cNvSpPr>
            <a:spLocks xmlns:a="http://schemas.openxmlformats.org/drawingml/2006/main" noGrp="1"/>
          </p:cNvSpPr>
          <p:nvPr/>
        </p:nvSpPr>
        <p:spPr>
          <a:xfrm xmlns:a="http://schemas.openxmlformats.org/drawingml/2006/main">
            <a:off x="899160" y="3261360"/>
            <a:ext cx="22631400"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80" b="0">
                <a:solidFill>
                  <a:srgbClr val="516178"/>
                </a:solidFill>
                <a:latin typeface="Arial"/>
                <a:ea typeface="Arial"/>
                <a:cs typeface="Arial"/>
              </a:defRPr>
            </a:pPr>
            <a:r>
              <a:rPr sz="2880" b="0">
                <a:solidFill>
                  <a:srgbClr val="516178"/>
                </a:solidFill>
                <a:latin typeface="Arial"/>
                <a:ea typeface="Arial"/>
                <a:cs typeface="Arial"/>
              </a:rPr>
              <a:t>Published reconstruction methods form the basis of the integrated VoxelFlight workflow.</a:t>
            </a:r>
          </a:p>
        </p:txBody>
      </p:sp>
      <p:sp>
        <p:nvSpPr>
          <p:cNvPr id="11" name="shape-163">
            <a:extLst xmlns:a="http://schemas.openxmlformats.org/drawingml/2006/main">
              <a:ext uri="{FF2B5EF4-FFF2-40B4-BE49-F238E27FC236}">
                <a16:creationId xmlns:a16="http://schemas.microsoft.com/office/drawing/2014/main" id="{B73CF7A9-57EA-4E67-B5F6-1F048C4F1EA6}"/>
              </a:ext>
            </a:extLst>
          </p:cNvPr>
          <p:cNvSpPr>
            <a:spLocks xmlns:a="http://schemas.openxmlformats.org/drawingml/2006/main" noGrp="1"/>
          </p:cNvSpPr>
          <p:nvPr/>
        </p:nvSpPr>
        <p:spPr>
          <a:xfrm xmlns:a="http://schemas.openxmlformats.org/drawingml/2006/main">
            <a:off x="883920" y="4358640"/>
            <a:ext cx="1150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240" b="1">
                <a:solidFill>
                  <a:srgbClr val="2464C7"/>
                </a:solidFill>
                <a:latin typeface="Arial"/>
                <a:ea typeface="Arial"/>
                <a:cs typeface="Arial"/>
              </a:defRPr>
            </a:pPr>
            <a:r>
              <a:rPr sz="3240" b="1">
                <a:solidFill>
                  <a:srgbClr val="2464C7"/>
                </a:solidFill>
                <a:latin typeface="Arial"/>
                <a:ea typeface="Arial"/>
                <a:cs typeface="Arial"/>
                <a:hlinkClick xmlns:r="http://schemas.openxmlformats.org/officeDocument/2006/relationships" r:id="Re04fdac3b2994766"/>
              </a:rPr>
              <a:t>[1] MASt3R-SLAM</a:t>
            </a:r>
          </a:p>
        </p:txBody>
      </p:sp>
      <p:sp>
        <p:nvSpPr>
          <p:cNvPr id="12" name="shape-164">
            <a:extLst xmlns:a="http://schemas.openxmlformats.org/drawingml/2006/main">
              <a:ext uri="{FF2B5EF4-FFF2-40B4-BE49-F238E27FC236}">
                <a16:creationId xmlns:a16="http://schemas.microsoft.com/office/drawing/2014/main" id="{835D86A6-AAB4-4B94-BA39-412A82081473}"/>
              </a:ext>
            </a:extLst>
          </p:cNvPr>
          <p:cNvSpPr>
            <a:spLocks xmlns:a="http://schemas.openxmlformats.org/drawingml/2006/main" noGrp="1"/>
          </p:cNvSpPr>
          <p:nvPr/>
        </p:nvSpPr>
        <p:spPr>
          <a:xfrm xmlns:a="http://schemas.openxmlformats.org/drawingml/2006/main">
            <a:off x="899160" y="5013960"/>
            <a:ext cx="1153668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CVPR 2025  /  Visual camera tracking</a:t>
            </a:r>
          </a:p>
        </p:txBody>
      </p:sp>
      <p:sp>
        <p:nvSpPr>
          <p:cNvPr id="13" name="shape-165">
            <a:extLst xmlns:a="http://schemas.openxmlformats.org/drawingml/2006/main">
              <a:ext uri="{FF2B5EF4-FFF2-40B4-BE49-F238E27FC236}">
                <a16:creationId xmlns:a16="http://schemas.microsoft.com/office/drawing/2014/main" id="{7D49CD11-B246-45B3-8787-A6869BD6FEED}"/>
              </a:ext>
            </a:extLst>
          </p:cNvPr>
          <p:cNvSpPr>
            <a:spLocks xmlns:a="http://schemas.openxmlformats.org/drawingml/2006/main" noGrp="1"/>
          </p:cNvSpPr>
          <p:nvPr/>
        </p:nvSpPr>
        <p:spPr>
          <a:xfrm xmlns:a="http://schemas.openxmlformats.org/drawingml/2006/main">
            <a:off x="883920" y="5699760"/>
            <a:ext cx="1150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240" b="1">
                <a:solidFill>
                  <a:srgbClr val="7544C4"/>
                </a:solidFill>
                <a:latin typeface="Arial"/>
                <a:ea typeface="Arial"/>
                <a:cs typeface="Arial"/>
              </a:defRPr>
            </a:pPr>
            <a:r>
              <a:rPr sz="3240" b="1">
                <a:solidFill>
                  <a:srgbClr val="7544C4"/>
                </a:solidFill>
                <a:latin typeface="Arial"/>
                <a:ea typeface="Arial"/>
                <a:cs typeface="Arial"/>
                <a:hlinkClick xmlns:r="http://schemas.openxmlformats.org/officeDocument/2006/relationships" r:id="Rdaa1db4172024491"/>
              </a:rPr>
              <a:t>[2] MapAnything</a:t>
            </a:r>
          </a:p>
        </p:txBody>
      </p:sp>
      <p:sp>
        <p:nvSpPr>
          <p:cNvPr id="14" name="shape-166">
            <a:extLst xmlns:a="http://schemas.openxmlformats.org/drawingml/2006/main">
              <a:ext uri="{FF2B5EF4-FFF2-40B4-BE49-F238E27FC236}">
                <a16:creationId xmlns:a16="http://schemas.microsoft.com/office/drawing/2014/main" id="{0329C283-842E-4144-A288-6C5836A72672}"/>
              </a:ext>
            </a:extLst>
          </p:cNvPr>
          <p:cNvSpPr>
            <a:spLocks xmlns:a="http://schemas.openxmlformats.org/drawingml/2006/main" noGrp="1"/>
          </p:cNvSpPr>
          <p:nvPr/>
        </p:nvSpPr>
        <p:spPr>
          <a:xfrm xmlns:a="http://schemas.openxmlformats.org/drawingml/2006/main">
            <a:off x="899160" y="6355080"/>
            <a:ext cx="1153668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3DV 2026  /  Feed-forward metric geometry</a:t>
            </a:r>
          </a:p>
        </p:txBody>
      </p:sp>
      <p:sp>
        <p:nvSpPr>
          <p:cNvPr id="15" name="shape-167">
            <a:extLst xmlns:a="http://schemas.openxmlformats.org/drawingml/2006/main">
              <a:ext uri="{FF2B5EF4-FFF2-40B4-BE49-F238E27FC236}">
                <a16:creationId xmlns:a16="http://schemas.microsoft.com/office/drawing/2014/main" id="{C248C479-59E2-402B-AFEC-4E56363D32CD}"/>
              </a:ext>
            </a:extLst>
          </p:cNvPr>
          <p:cNvSpPr>
            <a:spLocks xmlns:a="http://schemas.openxmlformats.org/drawingml/2006/main" noGrp="1"/>
          </p:cNvSpPr>
          <p:nvPr/>
        </p:nvSpPr>
        <p:spPr>
          <a:xfrm xmlns:a="http://schemas.openxmlformats.org/drawingml/2006/main">
            <a:off x="883920" y="7040880"/>
            <a:ext cx="1150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240" b="1">
                <a:solidFill>
                  <a:srgbClr val="087E70"/>
                </a:solidFill>
                <a:latin typeface="Arial"/>
                <a:ea typeface="Arial"/>
                <a:cs typeface="Arial"/>
              </a:defRPr>
            </a:pPr>
            <a:r>
              <a:rPr sz="3240" b="1">
                <a:solidFill>
                  <a:srgbClr val="087E70"/>
                </a:solidFill>
                <a:latin typeface="Arial"/>
                <a:ea typeface="Arial"/>
                <a:cs typeface="Arial"/>
                <a:hlinkClick xmlns:r="http://schemas.openxmlformats.org/officeDocument/2006/relationships" r:id="Raf752e0164c94d05"/>
              </a:rPr>
              <a:t>[3] 3D Gaussian Splatting</a:t>
            </a:r>
          </a:p>
        </p:txBody>
      </p:sp>
      <p:sp>
        <p:nvSpPr>
          <p:cNvPr id="16" name="shape-168">
            <a:extLst xmlns:a="http://schemas.openxmlformats.org/drawingml/2006/main">
              <a:ext uri="{FF2B5EF4-FFF2-40B4-BE49-F238E27FC236}">
                <a16:creationId xmlns:a16="http://schemas.microsoft.com/office/drawing/2014/main" id="{3A9D0494-0EF0-401F-9431-B01BA29E35CE}"/>
              </a:ext>
            </a:extLst>
          </p:cNvPr>
          <p:cNvSpPr>
            <a:spLocks xmlns:a="http://schemas.openxmlformats.org/drawingml/2006/main" noGrp="1"/>
          </p:cNvSpPr>
          <p:nvPr/>
        </p:nvSpPr>
        <p:spPr>
          <a:xfrm xmlns:a="http://schemas.openxmlformats.org/drawingml/2006/main">
            <a:off x="899160" y="7696200"/>
            <a:ext cx="1153668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SIGGRAPH 2023  /  Optional appearance refinement</a:t>
            </a:r>
          </a:p>
        </p:txBody>
      </p:sp>
      <p:sp>
        <p:nvSpPr>
          <p:cNvPr id="17" name="shape-169">
            <a:extLst xmlns:a="http://schemas.openxmlformats.org/drawingml/2006/main">
              <a:ext uri="{FF2B5EF4-FFF2-40B4-BE49-F238E27FC236}">
                <a16:creationId xmlns:a16="http://schemas.microsoft.com/office/drawing/2014/main" id="{D50053EA-9800-4934-8779-79997ABE4005}"/>
              </a:ext>
            </a:extLst>
          </p:cNvPr>
          <p:cNvSpPr>
            <a:spLocks xmlns:a="http://schemas.openxmlformats.org/drawingml/2006/main" noGrp="1"/>
          </p:cNvSpPr>
          <p:nvPr/>
        </p:nvSpPr>
        <p:spPr>
          <a:xfrm xmlns:a="http://schemas.openxmlformats.org/drawingml/2006/main">
            <a:off x="883920" y="8382000"/>
            <a:ext cx="1150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240" b="1">
                <a:solidFill>
                  <a:srgbClr val="7544C4"/>
                </a:solidFill>
                <a:latin typeface="Arial"/>
                <a:ea typeface="Arial"/>
                <a:cs typeface="Arial"/>
              </a:defRPr>
            </a:pPr>
            <a:r>
              <a:rPr sz="3240" b="1">
                <a:solidFill>
                  <a:srgbClr val="7544C4"/>
                </a:solidFill>
                <a:latin typeface="Arial"/>
                <a:ea typeface="Arial"/>
                <a:cs typeface="Arial"/>
                <a:hlinkClick xmlns:r="http://schemas.openxmlformats.org/officeDocument/2006/relationships" r:id="Re08b43bd11a7408b"/>
              </a:rPr>
              <a:t>[4] SegFormer</a:t>
            </a:r>
          </a:p>
        </p:txBody>
      </p:sp>
      <p:sp>
        <p:nvSpPr>
          <p:cNvPr id="18" name="shape-170">
            <a:extLst xmlns:a="http://schemas.openxmlformats.org/drawingml/2006/main">
              <a:ext uri="{FF2B5EF4-FFF2-40B4-BE49-F238E27FC236}">
                <a16:creationId xmlns:a16="http://schemas.microsoft.com/office/drawing/2014/main" id="{942C4F0D-DB9D-46E7-9C4B-8FD4237A6CD5}"/>
              </a:ext>
            </a:extLst>
          </p:cNvPr>
          <p:cNvSpPr>
            <a:spLocks xmlns:a="http://schemas.openxmlformats.org/drawingml/2006/main" noGrp="1"/>
          </p:cNvSpPr>
          <p:nvPr/>
        </p:nvSpPr>
        <p:spPr>
          <a:xfrm xmlns:a="http://schemas.openxmlformats.org/drawingml/2006/main">
            <a:off x="899160" y="9037320"/>
            <a:ext cx="1153668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NeurIPS 2021  /  Semantic segmentation and exclusion masks</a:t>
            </a:r>
          </a:p>
        </p:txBody>
      </p:sp>
      <p:sp>
        <p:nvSpPr>
          <p:cNvPr id="19" name="shape-171">
            <a:extLst xmlns:a="http://schemas.openxmlformats.org/drawingml/2006/main">
              <a:ext uri="{FF2B5EF4-FFF2-40B4-BE49-F238E27FC236}">
                <a16:creationId xmlns:a16="http://schemas.microsoft.com/office/drawing/2014/main" id="{2B6BB550-6726-40B5-AD23-E3748A276BAC}"/>
              </a:ext>
            </a:extLst>
          </p:cNvPr>
          <p:cNvSpPr>
            <a:spLocks xmlns:a="http://schemas.openxmlformats.org/drawingml/2006/main" noGrp="1"/>
          </p:cNvSpPr>
          <p:nvPr/>
        </p:nvSpPr>
        <p:spPr>
          <a:xfrm xmlns:a="http://schemas.openxmlformats.org/drawingml/2006/main">
            <a:off x="883920" y="9723120"/>
            <a:ext cx="1150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240" b="1">
                <a:solidFill>
                  <a:srgbClr val="2464C7"/>
                </a:solidFill>
                <a:latin typeface="Arial"/>
                <a:ea typeface="Arial"/>
                <a:cs typeface="Arial"/>
              </a:defRPr>
            </a:pPr>
            <a:r>
              <a:rPr sz="3240" b="1">
                <a:solidFill>
                  <a:srgbClr val="2464C7"/>
                </a:solidFill>
                <a:latin typeface="Arial"/>
                <a:ea typeface="Arial"/>
                <a:cs typeface="Arial"/>
                <a:hlinkClick xmlns:r="http://schemas.openxmlformats.org/officeDocument/2006/relationships" r:id="R56092dce246a41e2"/>
              </a:rPr>
              <a:t>[5] COLMAP</a:t>
            </a:r>
          </a:p>
        </p:txBody>
      </p:sp>
      <p:sp>
        <p:nvSpPr>
          <p:cNvPr id="20" name="shape-172">
            <a:extLst xmlns:a="http://schemas.openxmlformats.org/drawingml/2006/main">
              <a:ext uri="{FF2B5EF4-FFF2-40B4-BE49-F238E27FC236}">
                <a16:creationId xmlns:a16="http://schemas.microsoft.com/office/drawing/2014/main" id="{69D9EF10-2AF1-48D5-BC50-62C051D0A4E4}"/>
              </a:ext>
            </a:extLst>
          </p:cNvPr>
          <p:cNvSpPr>
            <a:spLocks xmlns:a="http://schemas.openxmlformats.org/drawingml/2006/main" noGrp="1"/>
          </p:cNvSpPr>
          <p:nvPr/>
        </p:nvSpPr>
        <p:spPr>
          <a:xfrm xmlns:a="http://schemas.openxmlformats.org/drawingml/2006/main">
            <a:off x="899160" y="10378440"/>
            <a:ext cx="1153668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CVPR / ECCV 2016  /  Classical reconstruction baseline</a:t>
            </a:r>
          </a:p>
        </p:txBody>
      </p:sp>
      <p:sp>
        <p:nvSpPr>
          <p:cNvPr id="21" name="shape-173">
            <a:extLst xmlns:a="http://schemas.openxmlformats.org/drawingml/2006/main">
              <a:ext uri="{FF2B5EF4-FFF2-40B4-BE49-F238E27FC236}">
                <a16:creationId xmlns:a16="http://schemas.microsoft.com/office/drawing/2014/main" id="{4723B15D-1676-4C8B-A066-11C24B1BDE2B}"/>
              </a:ext>
            </a:extLst>
          </p:cNvPr>
          <p:cNvSpPr>
            <a:spLocks xmlns:a="http://schemas.openxmlformats.org/drawingml/2006/main" noGrp="1"/>
          </p:cNvSpPr>
          <p:nvPr/>
        </p:nvSpPr>
        <p:spPr>
          <a:xfrm xmlns:a="http://schemas.openxmlformats.org/drawingml/2006/main">
            <a:off x="883920" y="11064240"/>
            <a:ext cx="1150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240" b="1">
                <a:solidFill>
                  <a:srgbClr val="087E70"/>
                </a:solidFill>
                <a:latin typeface="Arial"/>
                <a:ea typeface="Arial"/>
                <a:cs typeface="Arial"/>
              </a:defRPr>
            </a:pPr>
            <a:r>
              <a:rPr sz="3240" b="1">
                <a:solidFill>
                  <a:srgbClr val="087E70"/>
                </a:solidFill>
                <a:latin typeface="Arial"/>
                <a:ea typeface="Arial"/>
                <a:cs typeface="Arial"/>
                <a:hlinkClick xmlns:r="http://schemas.openxmlformats.org/officeDocument/2006/relationships" r:id="R476b483fcdec45b7"/>
              </a:rPr>
              <a:t>[6] Zurich Urban MAV</a:t>
            </a:r>
          </a:p>
        </p:txBody>
      </p:sp>
      <p:sp>
        <p:nvSpPr>
          <p:cNvPr id="22" name="shape-174">
            <a:extLst xmlns:a="http://schemas.openxmlformats.org/drawingml/2006/main">
              <a:ext uri="{FF2B5EF4-FFF2-40B4-BE49-F238E27FC236}">
                <a16:creationId xmlns:a16="http://schemas.microsoft.com/office/drawing/2014/main" id="{14C5FAD1-9A9E-4403-8050-98FEA20170EF}"/>
              </a:ext>
            </a:extLst>
          </p:cNvPr>
          <p:cNvSpPr>
            <a:spLocks xmlns:a="http://schemas.openxmlformats.org/drawingml/2006/main" noGrp="1"/>
          </p:cNvSpPr>
          <p:nvPr/>
        </p:nvSpPr>
        <p:spPr>
          <a:xfrm xmlns:a="http://schemas.openxmlformats.org/drawingml/2006/main">
            <a:off x="899160" y="11719560"/>
            <a:ext cx="11536680" cy="487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516178"/>
                </a:solidFill>
                <a:latin typeface="Arial"/>
                <a:ea typeface="Arial"/>
                <a:cs typeface="Arial"/>
              </a:defRPr>
            </a:pPr>
            <a:r>
              <a:rPr sz="2400" b="0">
                <a:solidFill>
                  <a:srgbClr val="516178"/>
                </a:solidFill>
                <a:latin typeface="Arial"/>
                <a:ea typeface="Arial"/>
                <a:cs typeface="Arial"/>
              </a:rPr>
              <a:t>IJRR 2017  /  Public imagery, telemetry and reference poses</a:t>
            </a:r>
          </a:p>
        </p:txBody>
      </p:sp>
      <p:sp>
        <p:nvSpPr>
          <p:cNvPr id="23" name="shape-175">
            <a:extLst xmlns:a="http://schemas.openxmlformats.org/drawingml/2006/main">
              <a:ext uri="{FF2B5EF4-FFF2-40B4-BE49-F238E27FC236}">
                <a16:creationId xmlns:a16="http://schemas.microsoft.com/office/drawing/2014/main" id="{6CF49576-50E9-4F00-A3FE-002CAD8D53B5}"/>
              </a:ext>
            </a:extLst>
          </p:cNvPr>
          <p:cNvSpPr>
            <a:spLocks xmlns:a="http://schemas.openxmlformats.org/drawingml/2006/main" noGrp="1"/>
          </p:cNvSpPr>
          <p:nvPr/>
        </p:nvSpPr>
        <p:spPr>
          <a:xfrm xmlns:a="http://schemas.openxmlformats.org/drawingml/2006/main">
            <a:off x="13456920" y="4358640"/>
            <a:ext cx="1019556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2464C7"/>
                </a:solidFill>
                <a:latin typeface="Arial"/>
                <a:ea typeface="Arial"/>
                <a:cs typeface="Arial"/>
              </a:defRPr>
            </a:pPr>
            <a:r>
              <a:rPr sz="3600" b="1">
                <a:solidFill>
                  <a:srgbClr val="2464C7"/>
                </a:solidFill>
                <a:latin typeface="Arial"/>
                <a:ea typeface="Arial"/>
                <a:cs typeface="Arial"/>
              </a:rPr>
              <a:t>Sensor-guided alignment</a:t>
            </a:r>
          </a:p>
        </p:txBody>
      </p:sp>
      <p:sp>
        <p:nvSpPr>
          <p:cNvPr id="24" name="shape-176">
            <a:extLst xmlns:a="http://schemas.openxmlformats.org/drawingml/2006/main">
              <a:ext uri="{FF2B5EF4-FFF2-40B4-BE49-F238E27FC236}">
                <a16:creationId xmlns:a16="http://schemas.microsoft.com/office/drawing/2014/main" id="{35EC702C-013F-402E-8E21-3DCEB77A03E7}"/>
              </a:ext>
            </a:extLst>
          </p:cNvPr>
          <p:cNvSpPr>
            <a:spLocks xmlns:a="http://schemas.openxmlformats.org/drawingml/2006/main" noGrp="1"/>
          </p:cNvSpPr>
          <p:nvPr/>
        </p:nvSpPr>
        <p:spPr>
          <a:xfrm xmlns:a="http://schemas.openxmlformats.org/drawingml/2006/main">
            <a:off x="13487400" y="5227320"/>
            <a:ext cx="10195560" cy="1386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Combines visual motion, metric predictions and</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flight telemetry to place overlapping windows</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in a common coordinate system.</a:t>
            </a:r>
          </a:p>
        </p:txBody>
      </p:sp>
      <p:sp>
        <p:nvSpPr>
          <p:cNvPr id="25" name="shape-177">
            <a:extLst xmlns:a="http://schemas.openxmlformats.org/drawingml/2006/main">
              <a:ext uri="{FF2B5EF4-FFF2-40B4-BE49-F238E27FC236}">
                <a16:creationId xmlns:a16="http://schemas.microsoft.com/office/drawing/2014/main" id="{2A319652-9517-44E3-AFC9-CF02EDD6AC7E}"/>
              </a:ext>
            </a:extLst>
          </p:cNvPr>
          <p:cNvSpPr>
            <a:spLocks xmlns:a="http://schemas.openxmlformats.org/drawingml/2006/main" noGrp="1"/>
          </p:cNvSpPr>
          <p:nvPr/>
        </p:nvSpPr>
        <p:spPr>
          <a:xfrm xmlns:a="http://schemas.openxmlformats.org/drawingml/2006/main">
            <a:off x="13456920" y="6888480"/>
            <a:ext cx="1019556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7544C4"/>
                </a:solidFill>
                <a:latin typeface="Arial"/>
                <a:ea typeface="Arial"/>
                <a:cs typeface="Arial"/>
              </a:defRPr>
            </a:pPr>
            <a:r>
              <a:rPr sz="3600" b="1">
                <a:solidFill>
                  <a:srgbClr val="7544C4"/>
                </a:solidFill>
                <a:latin typeface="Arial"/>
                <a:ea typeface="Arial"/>
                <a:cs typeface="Arial"/>
              </a:rPr>
              <a:t>Geometry and appearance</a:t>
            </a:r>
          </a:p>
        </p:txBody>
      </p:sp>
      <p:sp>
        <p:nvSpPr>
          <p:cNvPr id="26" name="shape-178">
            <a:extLst xmlns:a="http://schemas.openxmlformats.org/drawingml/2006/main">
              <a:ext uri="{FF2B5EF4-FFF2-40B4-BE49-F238E27FC236}">
                <a16:creationId xmlns:a16="http://schemas.microsoft.com/office/drawing/2014/main" id="{7D5CEFA5-6A45-47AB-8CA0-ABA09E5496CA}"/>
              </a:ext>
            </a:extLst>
          </p:cNvPr>
          <p:cNvSpPr>
            <a:spLocks xmlns:a="http://schemas.openxmlformats.org/drawingml/2006/main" noGrp="1"/>
          </p:cNvSpPr>
          <p:nvPr/>
        </p:nvSpPr>
        <p:spPr>
          <a:xfrm xmlns:a="http://schemas.openxmlformats.org/drawingml/2006/main">
            <a:off x="13487400" y="7757160"/>
            <a:ext cx="10195560" cy="1386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Keeps mesh and point-cloud outputs separate</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from optional Gaussian rendering, with their</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respective validation results.</a:t>
            </a:r>
          </a:p>
        </p:txBody>
      </p:sp>
      <p:sp>
        <p:nvSpPr>
          <p:cNvPr id="27" name="shape-179">
            <a:extLst xmlns:a="http://schemas.openxmlformats.org/drawingml/2006/main">
              <a:ext uri="{FF2B5EF4-FFF2-40B4-BE49-F238E27FC236}">
                <a16:creationId xmlns:a16="http://schemas.microsoft.com/office/drawing/2014/main" id="{0E72B6C1-52AC-4475-AF9E-C52C42FFB135}"/>
              </a:ext>
            </a:extLst>
          </p:cNvPr>
          <p:cNvSpPr>
            <a:spLocks xmlns:a="http://schemas.openxmlformats.org/drawingml/2006/main" noGrp="1"/>
          </p:cNvSpPr>
          <p:nvPr/>
        </p:nvSpPr>
        <p:spPr>
          <a:xfrm xmlns:a="http://schemas.openxmlformats.org/drawingml/2006/main">
            <a:off x="13456920" y="9418320"/>
            <a:ext cx="1019556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087E70"/>
                </a:solidFill>
                <a:latin typeface="Arial"/>
                <a:ea typeface="Arial"/>
                <a:cs typeface="Arial"/>
              </a:defRPr>
            </a:pPr>
            <a:r>
              <a:rPr sz="3600" b="1">
                <a:solidFill>
                  <a:srgbClr val="087E70"/>
                </a:solidFill>
                <a:latin typeface="Arial"/>
                <a:ea typeface="Arial"/>
                <a:cs typeface="Arial"/>
              </a:rPr>
              <a:t>Connected geospatial delivery</a:t>
            </a:r>
          </a:p>
        </p:txBody>
      </p:sp>
      <p:sp>
        <p:nvSpPr>
          <p:cNvPr id="28" name="shape-180">
            <a:extLst xmlns:a="http://schemas.openxmlformats.org/drawingml/2006/main">
              <a:ext uri="{FF2B5EF4-FFF2-40B4-BE49-F238E27FC236}">
                <a16:creationId xmlns:a16="http://schemas.microsoft.com/office/drawing/2014/main" id="{0C59755C-14D0-470D-B02D-7F75B13472D4}"/>
              </a:ext>
            </a:extLst>
          </p:cNvPr>
          <p:cNvSpPr>
            <a:spLocks xmlns:a="http://schemas.openxmlformats.org/drawingml/2006/main" noGrp="1"/>
          </p:cNvSpPr>
          <p:nvPr/>
        </p:nvSpPr>
        <p:spPr>
          <a:xfrm xmlns:a="http://schemas.openxmlformats.org/drawingml/2006/main">
            <a:off x="13487400" y="10287000"/>
            <a:ext cx="10195560" cy="1386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Packages scene files with coordinate metadata</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and source imagery for browser inspection</a:t>
            </a:r>
          </a:p>
          <a:p xmlns:a="http://schemas.openxmlformats.org/drawingml/2006/main">
            <a:pPr algn="l">
              <a:lnSpc>
                <a:spcPct val="108000"/>
              </a:lnSpc>
              <a:buNone/>
              <a:defRPr sz="3000" b="0">
                <a:solidFill>
                  <a:srgbClr val="516178"/>
                </a:solidFill>
                <a:latin typeface="Arial"/>
                <a:ea typeface="Arial"/>
                <a:cs typeface="Arial"/>
              </a:defRPr>
            </a:pPr>
            <a:r>
              <a:rPr sz="3000" b="0">
                <a:solidFill>
                  <a:srgbClr val="516178"/>
                </a:solidFill>
                <a:latin typeface="Arial"/>
                <a:ea typeface="Arial"/>
                <a:cs typeface="Arial"/>
              </a:rPr>
              <a:t>and downstream GIS workflows.</a:t>
            </a:r>
          </a:p>
        </p:txBody>
      </p:sp>
      <p:sp>
        <p:nvSpPr>
          <p:cNvPr id="29" name="shape-181">
            <a:extLst xmlns:a="http://schemas.openxmlformats.org/drawingml/2006/main">
              <a:ext uri="{FF2B5EF4-FFF2-40B4-BE49-F238E27FC236}">
                <a16:creationId xmlns:a16="http://schemas.microsoft.com/office/drawing/2014/main" id="{1846EDC2-A523-4FBE-991B-9125D109D9CE}"/>
              </a:ext>
            </a:extLst>
          </p:cNvPr>
          <p:cNvSpPr>
            <a:spLocks xmlns:a="http://schemas.openxmlformats.org/drawingml/2006/main" noGrp="1"/>
          </p:cNvSpPr>
          <p:nvPr/>
        </p:nvSpPr>
        <p:spPr>
          <a:xfrm xmlns:a="http://schemas.openxmlformats.org/drawingml/2006/main">
            <a:off x="13456920" y="12085320"/>
            <a:ext cx="10210800" cy="899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20" b="0">
                <a:solidFill>
                  <a:srgbClr val="516178"/>
                </a:solidFill>
                <a:latin typeface="Arial"/>
                <a:ea typeface="Arial"/>
                <a:cs typeface="Arial"/>
              </a:defRPr>
            </a:pPr>
            <a:r>
              <a:rPr sz="2520" b="0">
                <a:solidFill>
                  <a:srgbClr val="516178"/>
                </a:solidFill>
                <a:latin typeface="Arial"/>
                <a:ea typeface="Arial"/>
                <a:cs typeface="Arial"/>
              </a:rPr>
              <a:t>Technical focus: integrating complementary models with</a:t>
            </a:r>
          </a:p>
          <a:p xmlns:a="http://schemas.openxmlformats.org/drawingml/2006/main">
            <a:pPr algn="l">
              <a:lnSpc>
                <a:spcPct val="108000"/>
              </a:lnSpc>
              <a:buNone/>
              <a:defRPr sz="2520" b="0">
                <a:solidFill>
                  <a:srgbClr val="516178"/>
                </a:solidFill>
                <a:latin typeface="Arial"/>
                <a:ea typeface="Arial"/>
                <a:cs typeface="Arial"/>
              </a:defRPr>
            </a:pPr>
            <a:r>
              <a:rPr sz="2520" b="0">
                <a:solidFill>
                  <a:srgbClr val="516178"/>
                </a:solidFill>
                <a:latin typeface="Arial"/>
                <a:ea typeface="Arial"/>
                <a:cs typeface="Arial"/>
              </a:rPr>
              <a:t>sensor-aware placement and inspectable scene outputs.</a:t>
            </a:r>
          </a:p>
        </p:txBody>
      </p:sp>
    </p:spTree>
    <p:extLst>
      <p:ext uri="{BB962C8B-B14F-4D97-AF65-F5344CB8AC3E}">
        <p14:creationId xmlns:p14="http://schemas.microsoft.com/office/powerpoint/2010/main" val="1904053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2026-09-10T10:08:49.2720000Z</dcterms:created>
  <dcterms:modified xsi:type="dcterms:W3CDTF">2026-09-10T10:08:49.2720000Z</dcterms:modified>
</coreProperties>
</file>