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64608487c74add" /><Relationship Type="http://schemas.openxmlformats.org/officeDocument/2006/relationships/extended-properties" Target="/docProps/app.xml" Id="R1c376e80882445bb" /><Relationship Type="http://schemas.openxmlformats.org/officeDocument/2006/relationships/officeDocument" Target="/ppt/presentation.xml" Id="R249d2cc2a59b449d" /></Relationships>
</file>

<file path=ppt/presentation.xml><?xml version="1.0" encoding="utf-8"?>
<p:presentation xmlns:p="http://schemas.openxmlformats.org/presentationml/2006/main">
  <p:sldMasterIdLst>
    <p:sldMasterId xmlns:r="http://schemas.openxmlformats.org/officeDocument/2006/relationships" id="2147483648" r:id="Rc4c6a1241642421e"/>
  </p:sldMasterIdLst>
  <p:notesMasterIdLst>
    <p:notesMasterId xmlns:r="http://schemas.openxmlformats.org/officeDocument/2006/relationships" r:id="Rb3927b6630b44ab6"/>
  </p:notesMasterIdLst>
  <p:sldIdLst>
    <p:sldId xmlns:r="http://schemas.openxmlformats.org/officeDocument/2006/relationships" id="256" r:id="Ra0e8c4f88744452a"/>
    <p:sldId xmlns:r="http://schemas.openxmlformats.org/officeDocument/2006/relationships" id="257" r:id="R1fed96fab8f447df"/>
    <p:sldId xmlns:r="http://schemas.openxmlformats.org/officeDocument/2006/relationships" id="258" r:id="R912a7a70b6294c64"/>
    <p:sldId xmlns:r="http://schemas.openxmlformats.org/officeDocument/2006/relationships" id="259" r:id="Rcceaf19911c0463d"/>
    <p:sldId xmlns:r="http://schemas.openxmlformats.org/officeDocument/2006/relationships" id="260" r:id="Rebbe3889ab8a4677"/>
    <p:sldId xmlns:r="http://schemas.openxmlformats.org/officeDocument/2006/relationships" id="261" r:id="R50885ba93359430b"/>
  </p:sldIdLst>
  <p:sldSz cx="24384000" cy="1371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0fece451d842bf" /><Relationship Type="http://schemas.openxmlformats.org/officeDocument/2006/relationships/slideMaster" Target="/ppt/slideMasters/slideMaster1.xml" Id="Rc4c6a1241642421e" /><Relationship Type="http://schemas.openxmlformats.org/officeDocument/2006/relationships/notesMaster" Target="/ppt/notesMasters/notesMaster1.xml" Id="Rb3927b6630b44ab6" /><Relationship Type="http://schemas.openxmlformats.org/officeDocument/2006/relationships/presProps" Target="/ppt/presProps.xml" Id="R7a4d70e776bd4dbd" /><Relationship Type="http://schemas.openxmlformats.org/officeDocument/2006/relationships/tableStyles" Target="/ppt/tableStyles.xml" Id="R48e5e176d7df4154" /><Relationship Type="http://schemas.openxmlformats.org/officeDocument/2006/relationships/slide" Target="/ppt/slides/slide1.xml" Id="Ra0e8c4f88744452a" /><Relationship Type="http://schemas.openxmlformats.org/officeDocument/2006/relationships/slide" Target="/ppt/slides/slide2.xml" Id="R1fed96fab8f447df" /><Relationship Type="http://schemas.openxmlformats.org/officeDocument/2006/relationships/slide" Target="/ppt/slides/slide3.xml" Id="R912a7a70b6294c64" /><Relationship Type="http://schemas.openxmlformats.org/officeDocument/2006/relationships/slide" Target="/ppt/slides/slide4.xml" Id="Rcceaf19911c0463d" /><Relationship Type="http://schemas.openxmlformats.org/officeDocument/2006/relationships/slide" Target="/ppt/slides/slide5.xml" Id="Rebbe3889ab8a4677" /><Relationship Type="http://schemas.openxmlformats.org/officeDocument/2006/relationships/slide" Target="/ppt/slides/slide6.xml" Id="R50885ba9335943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a99502be53a4d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1962017bf84c0f" /><Relationship Type="http://schemas.openxmlformats.org/officeDocument/2006/relationships/notesMaster" Target="/ppt/notesMasters/notesMaster1.xml" Id="R45581b11bc354d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835b910b564f02" /><Relationship Type="http://schemas.openxmlformats.org/officeDocument/2006/relationships/notesMaster" Target="/ppt/notesMasters/notesMaster1.xml" Id="Red36e03240d44740"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72992c5916426b" /><Relationship Type="http://schemas.openxmlformats.org/officeDocument/2006/relationships/notesMaster" Target="/ppt/notesMasters/notesMaster1.xml" Id="Recfd1a8c64b64d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91c2a21142ab" /><Relationship Type="http://schemas.openxmlformats.org/officeDocument/2006/relationships/notesMaster" Target="/ppt/notesMasters/notesMaster1.xml" Id="R680782a653984a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d29579c46c4c9d" /><Relationship Type="http://schemas.openxmlformats.org/officeDocument/2006/relationships/notesMaster" Target="/ppt/notesMasters/notesMaster1.xml" Id="Ra314e7392e3d4e5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e8b4179eaf4461" /><Relationship Type="http://schemas.openxmlformats.org/officeDocument/2006/relationships/notesMaster" Target="/ppt/notesMasters/notesMaster1.xml" Id="Rfa38b679648a4d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software challenge asks for a georeferenced, metrically accurate scene from one moving-UAV video. Single pass means multiple consecutive views from one path, not one photograph. Required inputs are 1080p/4K video, GPS coordinates and flight metadata. Optional inputs are IMU, barometric altitude, intrinsics and RTK/PPK. The system targets visible terrain, structures, facades, rooftops, roads, vegetation and obstacles. Manufacturing a drone is outside this proposed software scope. This cover uses a real input photograph, not generated geometry. Registered team details are pending user confirmation.</a:t>
            </a:r>
          </a:p>
          <a:p xmlns:a="http://schemas.openxmlformats.org/drawingml/2006/main">
            <a:r>
              <a:t/>
            </a:r>
          </a:p>
          <a:p xmlns:a="http://schemas.openxmlformats.org/drawingml/2006/main">
            <a:r>
              <a:t>SOURCES</a:t>
            </a:r>
          </a:p>
          <a:p xmlns:a="http://schemas.openxmlformats.org/drawingml/2006/main">
            <a:r>
              <a:t>Recorded source: viewer/assets/latest/scene.json, fusion.json, gps_transform.json and evaluation.json. Reconstruction scripts: run_video_sfm.py, mac_reconstruct.py, mac_refuse.py and texture_fused_mesh.py. Requirement source: supplied SIH26158.pdf, printed pages 37-39. Website screenshots are real captures from https://voxelflight-3d.web.app/ on 10 September 2026. The SIH emblem comes from the supplied prior-year reference.</a:t>
            </a:r>
          </a:p>
          <a:p xmlns:a="http://schemas.openxmlformats.org/drawingml/2006/main">
            <a:r>
              <a:t>https://map-anything.github.io/</a:t>
            </a:r>
          </a:p>
          <a:p xmlns:a="http://schemas.openxmlformats.org/drawingml/2006/main">
            <a:r>
              <a:t>https://colmap.github.io/</a:t>
            </a:r>
          </a:p>
          <a:p xmlns:a="http://schemas.openxmlformats.org/drawingml/2006/main">
            <a:r>
              <a:t>https://www.open3d.org/docs/release/tutorial/pipelines/rgbd_integration.html</a:t>
            </a:r>
          </a:p>
          <a:p xmlns:a="http://schemas.openxmlformats.org/drawingml/2006/main">
            <a:r>
              <a:t>https://rpg.ifi.uzh.ch/zurichmavdataset.html</a:t>
            </a:r>
          </a:p>
          <a:p xmlns:a="http://schemas.openxmlformats.org/drawingml/2006/main">
            <a:r>
              <a:t>https://github.com/Suman1108-beep/voxelflight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Latest saved experiment: Zurich Urban MAV images 61201-63000, representing 60 continuous seconds of the camera sequence. The system selects 90 calibrated views. Original source frames are 1080p. The website video is a 720p preview encoding of those images and is not the original camera MP4. The latest prediction contains 4,208,069 points and the supported TSDF mesh contains 646,019 triangles. Actual source camera images create the texture atlas. The shown model is a native crop of assets/screenshots/03-reconstructed-surface.png. It is not an AI-generated mockup or Gaussian rendering. The new mesh retains holes and disconnected surfaces. Higher point or triangle counts do not by themselves demonstrate better accuracy. The scope includes a visible urban corridor, not proof of complete coverage across every SIH target class.</a:t>
            </a:r>
          </a:p>
          <a:p xmlns:a="http://schemas.openxmlformats.org/drawingml/2006/main">
            <a:r>
              <a:t/>
            </a:r>
          </a:p>
          <a:p xmlns:a="http://schemas.openxmlformats.org/drawingml/2006/main">
            <a:r>
              <a:t>SOURCES</a:t>
            </a:r>
          </a:p>
          <a:p xmlns:a="http://schemas.openxmlformats.org/drawingml/2006/main">
            <a:r>
              <a:t>Recorded source: viewer/assets/latest/scene.json, fusion.json, gps_transform.json and evaluation.json. Reconstruction scripts: run_video_sfm.py, mac_reconstruct.py, mac_refuse.py and texture_fused_mesh.py. Requirement source: supplied SIH26158.pdf, printed pages 37-39. Website screenshots are real captures from https://voxelflight-3d.web.app/ on 10 September 2026. The SIH emblem comes from the supplied prior-year reference.</a:t>
            </a:r>
          </a:p>
          <a:p xmlns:a="http://schemas.openxmlformats.org/drawingml/2006/main">
            <a:r>
              <a:t>https://map-anything.github.io/</a:t>
            </a:r>
          </a:p>
          <a:p xmlns:a="http://schemas.openxmlformats.org/drawingml/2006/main">
            <a:r>
              <a:t>https://colmap.github.io/</a:t>
            </a:r>
          </a:p>
          <a:p xmlns:a="http://schemas.openxmlformats.org/drawingml/2006/main">
            <a:r>
              <a:t>https://www.open3d.org/docs/release/tutorial/pipelines/rgbd_integration.html</a:t>
            </a:r>
          </a:p>
          <a:p xmlns:a="http://schemas.openxmlformats.org/drawingml/2006/main">
            <a:r>
              <a:t>https://rpg.ifi.uzh.ch/zurichmavdataset.html</a:t>
            </a:r>
          </a:p>
          <a:p xmlns:a="http://schemas.openxmlformats.org/drawingml/2006/main">
            <a:r>
              <a:t>https://github.com/Suman1108-beep/voxelflight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Recorded quality pipeline: scripts/run_video_sfm.py estimates calibrated visual anchors using COLMAP/PyCOLMAP. mac_reconstruct.py uses facebook/map-anything-apache with those visual pose priors, 24 views per window and overlap 2 on Apple MPS. mac_refuse.py checks cross-view depth consistency before Open3D TSDF fusion. The recorded fusion uses 0.08 m voxels, relative tolerance 0.03, absolute tolerance 0.1 m and at least one other supporting view. These are processing thresholds, not certified errors. scripts/texture_fused_mesh.py projects actual source images onto supported geometry. GPS alignment generates separate provisional UTM zone 32N exports. The local visual mesh has learned scale and no north orientation before that transform. The GPS fit RMSE is an in-sample registration statistic, not independent spatial accuracy.</a:t>
            </a:r>
          </a:p>
          <a:p xmlns:a="http://schemas.openxmlformats.org/drawingml/2006/main">
            <a:r>
              <a:t/>
            </a:r>
          </a:p>
          <a:p xmlns:a="http://schemas.openxmlformats.org/drawingml/2006/main">
            <a:r>
              <a:t>The web stack uses plain JavaScript, Three.js, Firebase Hosting and Firebase Authentication. Firebase does not execute the reconstruction model. FastAPI verifies identity tokens and restricts jobs by user ID, validates upload bounds, uses a bounded queue and one inference worker, and stores job state/artifacts on disk. It is not a Firestore/SQL architecture. Interrupted runs receive explicit status on restart. Cached checkpoints avoid repeat initialization and 3D assets load only when requested. The default uploaded-video path is a MapAnything preview, not automatic execution of the full separately run SfM-assisted TSDF experiment. This distinction is a current integration limitation.</a:t>
            </a:r>
          </a:p>
          <a:p xmlns:a="http://schemas.openxmlformats.org/drawingml/2006/main">
            <a:r>
              <a:t/>
            </a:r>
          </a:p>
          <a:p xmlns:a="http://schemas.openxmlformats.org/drawingml/2006/main">
            <a:r>
              <a:t>The earlier 180-view NVIDIA L40S experiment used MASt3R-SLAM, MapAnything, SegFormer, a position-only telemetry graph and optional scene-specific Gaussian splatting. Those earlier components and scores remain in repository results as historical evidence. They are not the current saved mesh recipe.</a:t>
            </a:r>
          </a:p>
          <a:p xmlns:a="http://schemas.openxmlformats.org/drawingml/2006/main">
            <a:r>
              <a:t/>
            </a:r>
          </a:p>
          <a:p xmlns:a="http://schemas.openxmlformats.org/drawingml/2006/main">
            <a:r>
              <a:t>SOURCES</a:t>
            </a:r>
          </a:p>
          <a:p xmlns:a="http://schemas.openxmlformats.org/drawingml/2006/main">
            <a:r>
              <a:t>Recorded source: viewer/assets/latest/scene.json, fusion.json, gps_transform.json and evaluation.json. Reconstruction scripts: run_video_sfm.py, mac_reconstruct.py, mac_refuse.py and texture_fused_mesh.py. Requirement source: supplied SIH26158.pdf, printed pages 37-39. Website screenshots are real captures from https://voxelflight-3d.web.app/ on 10 September 2026. The SIH emblem comes from the supplied prior-year reference.</a:t>
            </a:r>
          </a:p>
          <a:p xmlns:a="http://schemas.openxmlformats.org/drawingml/2006/main">
            <a:r>
              <a:t>https://map-anything.github.io/</a:t>
            </a:r>
          </a:p>
          <a:p xmlns:a="http://schemas.openxmlformats.org/drawingml/2006/main">
            <a:r>
              <a:t>https://colmap.github.io/</a:t>
            </a:r>
          </a:p>
          <a:p xmlns:a="http://schemas.openxmlformats.org/drawingml/2006/main">
            <a:r>
              <a:t>https://www.open3d.org/docs/release/tutorial/pipelines/rgbd_integration.html</a:t>
            </a:r>
          </a:p>
          <a:p xmlns:a="http://schemas.openxmlformats.org/drawingml/2006/main">
            <a:r>
              <a:t>https://rpg.ifi.uzh.ch/zurichmavdataset.html</a:t>
            </a:r>
          </a:p>
          <a:p xmlns:a="http://schemas.openxmlformats.org/drawingml/2006/main">
            <a:r>
              <a:t>https://github.com/Suman1108-beep/voxelflight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Machine-readable evaluation.json gives absolute GPS-frame trajectory RMSE 8.649 m, SE(3)-aligned RMSE 0.451 m and Sim(3)-aligned RMSE 0.397 m, rounded on the slide. Reference association uses 3 exact and 87 interpolated matches, with source-frame gaps no greater than 30. Ground truth never enters reconstruction. A single rigid or similarity alignment fits the completed prediction to reference for evaluation. Lower aligned trajectory error is not evidence of an accurate georeferenced surface. Surface RMSE is null because no independent surface reference is available.</a:t>
            </a:r>
          </a:p>
          <a:p xmlns:a="http://schemas.openxmlformats.org/drawingml/2006/main">
            <a:r>
              <a:t/>
            </a:r>
          </a:p>
          <a:p xmlns:a="http://schemas.openxmlformats.org/drawingml/2006/main">
            <a:r>
              <a:t>Stage measurements are visual bundle adjustment 240.5745 s, depth/export 98.2827 s, surface fusion 25.8842 s and source texturing 5.1324 s, a sum of 369.8738 s. This is a sum of separately measured stages, not a timed end-to-end upload experiment. It excludes downloads, browser packaging and GPS export. No extrapolation establishes performance on a ten-minute video. Latest fusion retains 119 connected components and the largest contains about 35.5% of triangles. Internal depth agreement is not visible-surface completeness.</a:t>
            </a:r>
          </a:p>
          <a:p xmlns:a="http://schemas.openxmlformats.org/drawingml/2006/main">
            <a:r>
              <a:t/>
            </a:r>
          </a:p>
          <a:p xmlns:a="http://schemas.openxmlformats.org/drawingml/2006/main">
            <a:r>
              <a:t>The supplied statement requires spatial accuracy at most 1 m, the entire visible scene, processing below 15 minutes for a ten-minute video, and a web/desktop viewer. It lists OBJ, PLY, LAS, GeoTIFF, GLB/glTF and FBX. Several exports exist but FBX is not demonstrated. The exact spatial-error statistic, reference and permitted alignment are unspecified. A proper trial must agree on those, freeze weights/settings, use unseen video, assess independent surface error, completeness and total latency on fixed hardware. Blur, compression, illumination, moving objects, weak texture, occlusion and GPS noise require further robustness tests. Official rubric: accuracy 30%, completeness 20%, speed 20%, innovation 15%, scalability 10%, user interface 5%. These weights are not awarded scores.</a:t>
            </a:r>
          </a:p>
          <a:p xmlns:a="http://schemas.openxmlformats.org/drawingml/2006/main">
            <a:r>
              <a:t/>
            </a:r>
          </a:p>
          <a:p xmlns:a="http://schemas.openxmlformats.org/drawingml/2006/main">
            <a:r>
              <a:t>SOURCES</a:t>
            </a:r>
          </a:p>
          <a:p xmlns:a="http://schemas.openxmlformats.org/drawingml/2006/main">
            <a:r>
              <a:t>Recorded source: viewer/assets/latest/scene.json, fusion.json, gps_transform.json and evaluation.json. Reconstruction scripts: run_video_sfm.py, mac_reconstruct.py, mac_refuse.py and texture_fused_mesh.py. Requirement source: supplied SIH26158.pdf, printed pages 37-39. Website screenshots are real captures from https://voxelflight-3d.web.app/ on 10 September 2026. The SIH emblem comes from the supplied prior-year reference.</a:t>
            </a:r>
          </a:p>
          <a:p xmlns:a="http://schemas.openxmlformats.org/drawingml/2006/main">
            <a:r>
              <a:t>https://map-anything.github.io/</a:t>
            </a:r>
          </a:p>
          <a:p xmlns:a="http://schemas.openxmlformats.org/drawingml/2006/main">
            <a:r>
              <a:t>https://colmap.github.io/</a:t>
            </a:r>
          </a:p>
          <a:p xmlns:a="http://schemas.openxmlformats.org/drawingml/2006/main">
            <a:r>
              <a:t>https://www.open3d.org/docs/release/tutorial/pipelines/rgbd_integration.html</a:t>
            </a:r>
          </a:p>
          <a:p xmlns:a="http://schemas.openxmlformats.org/drawingml/2006/main">
            <a:r>
              <a:t>https://rpg.ifi.uzh.ch/zurichmavdataset.html</a:t>
            </a:r>
          </a:p>
          <a:p xmlns:a="http://schemas.openxmlformats.org/drawingml/2006/main">
            <a:r>
              <a:t>https://github.com/Suman1108-beep/voxelflight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actual public screenshots from assets/screenshots/01-login.png and 02-flight-workspace.png. Pixel-art artwork is decorative and does not depict reconstructed output. The second image shows a source camera video. Geometry is a separate viewer mode. The Google provider and guest route are visible. GitHub is not connected in the captured interface. Signing into the repository account does not configure GitHub OAuth for the website. No complete provider or upload reliability assertion follows from these screenshots. Firebase hosts the front end and identity layer, with reconstruction on a separate worker.</a:t>
            </a:r>
          </a:p>
          <a:p xmlns:a="http://schemas.openxmlformats.org/drawingml/2006/main">
            <a:r>
              <a:t/>
            </a:r>
          </a:p>
          <a:p xmlns:a="http://schemas.openxmlformats.org/drawingml/2006/main">
            <a:r>
              <a:t>Potential benefits are remote inspection of visible structures, disaster documentation and reuse of geospatial exports. These are intended applications, not validated safety outcomes or measured financial/environmental savings. A pilot should measure operator time, repeat-flight requirements, dimensional error and export usability. Operational decisions need validated geometry and qualified reviewers. Authorised acquisition, privacy, retention and code/checkpoint licence review remain deployment obligations.</a:t>
            </a:r>
          </a:p>
          <a:p xmlns:a="http://schemas.openxmlformats.org/drawingml/2006/main">
            <a:r>
              <a:t/>
            </a:r>
          </a:p>
          <a:p xmlns:a="http://schemas.openxmlformats.org/drawingml/2006/main">
            <a:r>
              <a:t>SOURCES</a:t>
            </a:r>
          </a:p>
          <a:p xmlns:a="http://schemas.openxmlformats.org/drawingml/2006/main">
            <a:r>
              <a:t>Recorded source: viewer/assets/latest/scene.json, fusion.json, gps_transform.json and evaluation.json. Reconstruction scripts: run_video_sfm.py, mac_reconstruct.py, mac_refuse.py and texture_fused_mesh.py. Requirement source: supplied SIH26158.pdf, printed pages 37-39. Website screenshots are real captures from https://voxelflight-3d.web.app/ on 10 September 2026. The SIH emblem comes from the supplied prior-year reference.</a:t>
            </a:r>
          </a:p>
          <a:p xmlns:a="http://schemas.openxmlformats.org/drawingml/2006/main">
            <a:r>
              <a:t>https://map-anything.github.io/</a:t>
            </a:r>
          </a:p>
          <a:p xmlns:a="http://schemas.openxmlformats.org/drawingml/2006/main">
            <a:r>
              <a:t>https://colmap.github.io/</a:t>
            </a:r>
          </a:p>
          <a:p xmlns:a="http://schemas.openxmlformats.org/drawingml/2006/main">
            <a:r>
              <a:t>https://www.open3d.org/docs/release/tutorial/pipelines/rgbd_integration.html</a:t>
            </a:r>
          </a:p>
          <a:p xmlns:a="http://schemas.openxmlformats.org/drawingml/2006/main">
            <a:r>
              <a:t>https://rpg.ifi.uzh.ch/zurichmavdataset.html</a:t>
            </a:r>
          </a:p>
          <a:p xmlns:a="http://schemas.openxmlformats.org/drawingml/2006/main">
            <a:r>
              <a:t>https://github.com/Suman1108-beep/voxelflight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COLMAP is the open-source SfM/MVS system associated with Schonberger and Frahm, Structure-from-Motion Revisited (CVPR 2016), and Schonberger et al., Pixelwise View Selection for Unstructured Multi-View Stereo (ECCV 2016). MapAnything provides feed-forward metric 3D geometry and is the downloaded pretrained model, not a newly trained model invented by the team. Open3D implements TSDF-based RGB-D integration. Zurich Urban MAV provides the source flight, telemetry and reference camera trajectory. That trajectory is not an independently surveyed surface reference. Official project/documentation links above provide primary sources.</a:t>
            </a:r>
          </a:p>
          <a:p xmlns:a="http://schemas.openxmlformats.org/drawingml/2006/main">
            <a:r>
              <a:t/>
            </a:r>
          </a:p>
          <a:p xmlns:a="http://schemas.openxmlformats.org/drawingml/2006/main">
            <a:r>
              <a:t>The engineering contribution is integration, supported fusion and transparent delivery. This is not a controlled SOTA result. Archived MASt3R-SLAM, SegFormer and Gaussian-splat experiments remain in docs/results.md and docs/references.md rather than being mixed into the new recipe. Reproduction needs appropriate source data, calibrated metadata and downloaded checkpoints. The repository excludes datasets, model weights, credentials and private runtime jobs. Public demo assets restore through a hash-checked manifest. Cached inference may run offline, while Firebase authentication and the public service require internet access. Compare to a classical COLMAP baseline under the same input, reference protocol, hardware and runtime accounting before claiming superiority.</a:t>
            </a:r>
          </a:p>
          <a:p xmlns:a="http://schemas.openxmlformats.org/drawingml/2006/main">
            <a:r>
              <a:t/>
            </a:r>
          </a:p>
          <a:p xmlns:a="http://schemas.openxmlformats.org/drawingml/2006/main">
            <a:r>
              <a:t>SOURCES</a:t>
            </a:r>
          </a:p>
          <a:p xmlns:a="http://schemas.openxmlformats.org/drawingml/2006/main">
            <a:r>
              <a:t>Recorded source: viewer/assets/latest/scene.json, fusion.json, gps_transform.json and evaluation.json. Reconstruction scripts: run_video_sfm.py, mac_reconstruct.py, mac_refuse.py and texture_fused_mesh.py. Requirement source: supplied SIH26158.pdf, printed pages 37-39. Website screenshots are real captures from https://voxelflight-3d.web.app/ on 10 September 2026. The SIH emblem comes from the supplied prior-year reference.</a:t>
            </a:r>
          </a:p>
          <a:p xmlns:a="http://schemas.openxmlformats.org/drawingml/2006/main">
            <a:r>
              <a:t>https://map-anything.github.io/</a:t>
            </a:r>
          </a:p>
          <a:p xmlns:a="http://schemas.openxmlformats.org/drawingml/2006/main">
            <a:r>
              <a:t>https://colmap.github.io/</a:t>
            </a:r>
          </a:p>
          <a:p xmlns:a="http://schemas.openxmlformats.org/drawingml/2006/main">
            <a:r>
              <a:t>https://www.open3d.org/docs/release/tutorial/pipelines/rgbd_integration.html</a:t>
            </a:r>
          </a:p>
          <a:p xmlns:a="http://schemas.openxmlformats.org/drawingml/2006/main">
            <a:r>
              <a:t>https://rpg.ifi.uzh.ch/zurichmavdataset.html</a:t>
            </a:r>
          </a:p>
          <a:p xmlns:a="http://schemas.openxmlformats.org/drawingml/2006/main">
            <a:r>
              <a:t>https://github.com/Suman1108-beep/voxelflight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f326b5029a43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728147d7cd45e8" /><Relationship Type="http://schemas.openxmlformats.org/officeDocument/2006/relationships/slideLayout" Target="/ppt/slideLayouts/slideLayout1.xml" Id="Rf76e17a32cd84a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6e17a32cd84a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f14c24415f45f6" /><Relationship Type="http://schemas.openxmlformats.org/officeDocument/2006/relationships/image" Target="/ppt/media/image.png" Id="Re334181dd290448c" /><Relationship Type="http://schemas.openxmlformats.org/officeDocument/2006/relationships/image" Target="/ppt/media/image2.png" Id="R0521e81b514946cb" /><Relationship Type="http://schemas.openxmlformats.org/officeDocument/2006/relationships/notesSlide" Target="/ppt/notesSlides/notesSlide1.xml" Id="R50be495e4a2f47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7d307ba6ad4155" /><Relationship Type="http://schemas.openxmlformats.org/officeDocument/2006/relationships/image" Target="/ppt/media/image3.png" Id="R80de6dd9fd1442f8" /><Relationship Type="http://schemas.openxmlformats.org/officeDocument/2006/relationships/image" Target="/ppt/media/image4.png" Id="R545b533547c348e4" /><Relationship Type="http://schemas.openxmlformats.org/officeDocument/2006/relationships/image" Target="/ppt/media/image.jpeg" Id="Rc7f55fba4bad46f7" /><Relationship Type="http://schemas.openxmlformats.org/officeDocument/2006/relationships/notesSlide" Target="/ppt/notesSlides/notesSlide2.xml" Id="Rd767f3bf5a384a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27440600e84a61" /><Relationship Type="http://schemas.openxmlformats.org/officeDocument/2006/relationships/image" Target="/ppt/media/image5.png" Id="R5b8149bbcbf4403b" /><Relationship Type="http://schemas.openxmlformats.org/officeDocument/2006/relationships/notesSlide" Target="/ppt/notesSlides/notesSlide3.xml" Id="R7f074206b5ee4f4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4b5fc4d4b514adf" /><Relationship Type="http://schemas.openxmlformats.org/officeDocument/2006/relationships/image" Target="/ppt/media/image6.png" Id="Rc34b7fc624fb4edc" /><Relationship Type="http://schemas.openxmlformats.org/officeDocument/2006/relationships/notesSlide" Target="/ppt/notesSlides/notesSlide4.xml" Id="R60e12b0f24f345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6a107771f54b48" /><Relationship Type="http://schemas.openxmlformats.org/officeDocument/2006/relationships/image" Target="/ppt/media/image7.png" Id="Rc9f9fd7193494367" /><Relationship Type="http://schemas.openxmlformats.org/officeDocument/2006/relationships/image" Target="/ppt/media/image2.jpeg" Id="R8cd550976a45429e" /><Relationship Type="http://schemas.openxmlformats.org/officeDocument/2006/relationships/image" Target="/ppt/media/image3.jpeg" Id="Reb58f23faab842f2" /><Relationship Type="http://schemas.openxmlformats.org/officeDocument/2006/relationships/hyperlink" Target="https://voxelflight-3d.web.app/" TargetMode="External" Id="R3d2999bfd90f4e1a" /><Relationship Type="http://schemas.openxmlformats.org/officeDocument/2006/relationships/notesSlide" Target="/ppt/notesSlides/notesSlide5.xml" Id="R6020affbf68b44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4dc692c7f3240de" /><Relationship Type="http://schemas.openxmlformats.org/officeDocument/2006/relationships/image" Target="/ppt/media/image8.png" Id="Re0d48b583be24bf7" /><Relationship Type="http://schemas.openxmlformats.org/officeDocument/2006/relationships/hyperlink" Target="https://colmap.github.io/" TargetMode="External" Id="R1f3434eb28414449" /><Relationship Type="http://schemas.openxmlformats.org/officeDocument/2006/relationships/hyperlink" Target="https://map-anything.github.io/" TargetMode="External" Id="Rfb3041848c2c4fe3" /><Relationship Type="http://schemas.openxmlformats.org/officeDocument/2006/relationships/hyperlink" Target="https://www.open3d.org/docs/release/tutorial/pipelines/rgbd_integration.html" TargetMode="External" Id="R1dc1d2fa0dee424b" /><Relationship Type="http://schemas.openxmlformats.org/officeDocument/2006/relationships/hyperlink" Target="https://rpg.ifi.uzh.ch/zurichmavdataset.html" TargetMode="External" Id="R00d8679775774843" /><Relationship Type="http://schemas.openxmlformats.org/officeDocument/2006/relationships/hyperlink" Target="https://github.com/Suman1108-beep/voxelflight" TargetMode="External" Id="R81bbb86b272e4810" /><Relationship Type="http://schemas.openxmlformats.org/officeDocument/2006/relationships/notesSlide" Target="/ppt/notesSlides/notesSlide6.xml" Id="R0f2f59d830674cf0" /></Relationships>
</file>

<file path=ppt/slides/slide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19" name="shape-1">
            <a:extLst xmlns:a="http://schemas.openxmlformats.org/drawingml/2006/main">
              <a:ext uri="{FF2B5EF4-FFF2-40B4-BE49-F238E27FC236}">
                <a16:creationId xmlns:a16="http://schemas.microsoft.com/office/drawing/2014/main" id="{16344A72-025A-49FD-81B0-E437C71C16B0}"/>
              </a:ext>
            </a:extLst>
          </p:cNvPr>
          <p:cNvSpPr>
            <a:spLocks xmlns:a="http://schemas.openxmlformats.org/drawingml/2006/main" noGrp="1"/>
          </p:cNvSpPr>
          <p:nvPr/>
        </p:nvSpPr>
        <p:spPr>
          <a:xfrm xmlns:a="http://schemas.openxmlformats.org/drawingml/2006/main">
            <a:off x="91440" y="76200"/>
            <a:ext cx="24201120" cy="13563600"/>
          </a:xfrm>
          <a:prstGeom xmlns:a="http://schemas.openxmlformats.org/drawingml/2006/main" prst="rect">
            <a:avLst/>
          </a:prstGeom>
          <a:noFill xmlns:a="http://schemas.openxmlformats.org/drawingml/2006/main"/>
          <a:ln xmlns:a="http://schemas.openxmlformats.org/drawingml/2006/main" w="15240">
            <a:solidFill>
              <a:srgbClr val="E4E7EB"/>
            </a:solidFill>
            <a:prstDash val="solid"/>
          </a:ln>
        </p:spPr>
      </p:sp>
      <p:sp>
        <p:nvSpPr>
          <p:cNvPr id="2" name="shape-2">
            <a:extLst xmlns:a="http://schemas.openxmlformats.org/drawingml/2006/main">
              <a:ext uri="{FF2B5EF4-FFF2-40B4-BE49-F238E27FC236}">
                <a16:creationId xmlns:a16="http://schemas.microsoft.com/office/drawing/2014/main" id="{67872BDE-E93B-45B1-BCAC-D1D1D7031981}"/>
              </a:ext>
            </a:extLst>
          </p:cNvPr>
          <p:cNvSpPr>
            <a:spLocks xmlns:a="http://schemas.openxmlformats.org/drawingml/2006/main" noGrp="1"/>
          </p:cNvSpPr>
          <p:nvPr/>
        </p:nvSpPr>
        <p:spPr>
          <a:xfrm xmlns:a="http://schemas.openxmlformats.org/drawingml/2006/main">
            <a:off x="868680" y="640080"/>
            <a:ext cx="320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VoxelFlight</a:t>
            </a:r>
          </a:p>
        </p:txBody>
      </p:sp>
      <p:sp>
        <p:nvSpPr>
          <p:cNvPr id="3" name="shape-3">
            <a:extLst xmlns:a="http://schemas.openxmlformats.org/drawingml/2006/main">
              <a:ext uri="{FF2B5EF4-FFF2-40B4-BE49-F238E27FC236}">
                <a16:creationId xmlns:a16="http://schemas.microsoft.com/office/drawing/2014/main" id="{302DB512-A722-4B42-9411-533DC4F7B8B1}"/>
              </a:ext>
            </a:extLst>
          </p:cNvPr>
          <p:cNvSpPr>
            <a:spLocks xmlns:a="http://schemas.openxmlformats.org/drawingml/2006/main" noGrp="1"/>
          </p:cNvSpPr>
          <p:nvPr/>
        </p:nvSpPr>
        <p:spPr>
          <a:xfrm xmlns:a="http://schemas.openxmlformats.org/drawingml/2006/main">
            <a:off x="4343400" y="533400"/>
            <a:ext cx="15240000" cy="1082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760" b="1">
                <a:solidFill>
                  <a:srgbClr val="14243B"/>
                </a:solidFill>
                <a:latin typeface="Times New Roman"/>
                <a:ea typeface="Times New Roman"/>
                <a:cs typeface="Times New Roman"/>
              </a:defRPr>
            </a:pPr>
            <a:r>
              <a:rPr sz="5760" b="1">
                <a:solidFill>
                  <a:srgbClr val="14243B"/>
                </a:solidFill>
                <a:latin typeface="Times New Roman"/>
                <a:ea typeface="Times New Roman"/>
                <a:cs typeface="Times New Roman"/>
              </a:rPr>
              <a:t>SMART INDIA HACKATHON 2026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334181dd290448c"/>
          <a:stretch xmlns:a="http://schemas.openxmlformats.org/drawingml/2006/main"/>
        </p:blipFill>
        <p:spPr>
          <a:xfrm xmlns:a="http://schemas.openxmlformats.org/drawingml/2006/main">
            <a:off x="19903440" y="220568"/>
            <a:ext cx="1219200" cy="1433384"/>
          </a:xfrm>
          <a:prstGeom xmlns:a="http://schemas.openxmlformats.org/drawingml/2006/main" prst="rect">
            <a:avLst/>
          </a:prstGeom>
        </p:spPr>
      </p:pic>
      <p:sp>
        <p:nvSpPr>
          <p:cNvPr id="5" name="shape-4">
            <a:extLst xmlns:a="http://schemas.openxmlformats.org/drawingml/2006/main">
              <a:ext uri="{FF2B5EF4-FFF2-40B4-BE49-F238E27FC236}">
                <a16:creationId xmlns:a16="http://schemas.microsoft.com/office/drawing/2014/main" id="{F0BD86F3-2C53-4D2A-B7C7-57536D953847}"/>
              </a:ext>
            </a:extLst>
          </p:cNvPr>
          <p:cNvSpPr>
            <a:spLocks xmlns:a="http://schemas.openxmlformats.org/drawingml/2006/main" noGrp="1"/>
          </p:cNvSpPr>
          <p:nvPr/>
        </p:nvSpPr>
        <p:spPr>
          <a:xfrm xmlns:a="http://schemas.openxmlformats.org/drawingml/2006/main">
            <a:off x="21305520" y="563880"/>
            <a:ext cx="240792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SMART INDIA</a:t>
            </a:r>
          </a:p>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HACKATHON 2026</a:t>
            </a:r>
          </a:p>
        </p:txBody>
      </p:sp>
      <p:sp>
        <p:nvSpPr>
          <p:cNvPr id="6" name="shape-5">
            <a:extLst xmlns:a="http://schemas.openxmlformats.org/drawingml/2006/main">
              <a:ext uri="{FF2B5EF4-FFF2-40B4-BE49-F238E27FC236}">
                <a16:creationId xmlns:a16="http://schemas.microsoft.com/office/drawing/2014/main" id="{50AFC97C-2B55-440A-B631-889256F00F30}"/>
              </a:ext>
            </a:extLst>
          </p:cNvPr>
          <p:cNvSpPr>
            <a:spLocks xmlns:a="http://schemas.openxmlformats.org/drawingml/2006/main" noGrp="1"/>
          </p:cNvSpPr>
          <p:nvPr/>
        </p:nvSpPr>
        <p:spPr>
          <a:xfrm xmlns:a="http://schemas.openxmlformats.org/drawingml/2006/main">
            <a:off x="868680" y="1905000"/>
            <a:ext cx="22768560" cy="0"/>
          </a:xfrm>
          <a:prstGeom xmlns:a="http://schemas.openxmlformats.org/drawingml/2006/main" prst="line">
            <a:avLst/>
          </a:prstGeom>
          <a:noFill xmlns:a="http://schemas.openxmlformats.org/drawingml/2006/main"/>
          <a:ln xmlns:a="http://schemas.openxmlformats.org/drawingml/2006/main" w="15240">
            <a:solidFill>
              <a:srgbClr val="087E70"/>
            </a:solidFill>
            <a:prstDash val="solid"/>
          </a:ln>
        </p:spPr>
      </p:sp>
      <p:sp>
        <p:nvSpPr>
          <p:cNvPr id="7" name="shape-6">
            <a:extLst xmlns:a="http://schemas.openxmlformats.org/drawingml/2006/main">
              <a:ext uri="{FF2B5EF4-FFF2-40B4-BE49-F238E27FC236}">
                <a16:creationId xmlns:a16="http://schemas.microsoft.com/office/drawing/2014/main" id="{14CC9B73-B269-4D2C-A67B-1A7DCB2ECDE9}"/>
              </a:ext>
            </a:extLst>
          </p:cNvPr>
          <p:cNvSpPr>
            <a:spLocks xmlns:a="http://schemas.openxmlformats.org/drawingml/2006/main" noGrp="1"/>
          </p:cNvSpPr>
          <p:nvPr/>
        </p:nvSpPr>
        <p:spPr>
          <a:xfrm xmlns:a="http://schemas.openxmlformats.org/drawingml/2006/main">
            <a:off x="868680" y="13060680"/>
            <a:ext cx="1828800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20" b="0">
                <a:solidFill>
                  <a:srgbClr val="516178"/>
                </a:solidFill>
                <a:latin typeface="Arial"/>
                <a:ea typeface="Arial"/>
                <a:cs typeface="Arial"/>
              </a:defRPr>
            </a:pPr>
            <a:r>
              <a:rPr sz="1920" b="0">
                <a:solidFill>
                  <a:srgbClr val="516178"/>
                </a:solidFill>
                <a:latin typeface="Arial"/>
                <a:ea typeface="Arial"/>
                <a:cs typeface="Arial"/>
              </a:rPr>
              <a:t>SIH26158  /  SOFTWARE  /  DRONE &amp; ROBOTICS</a:t>
            </a:r>
          </a:p>
        </p:txBody>
      </p:sp>
      <p:sp>
        <p:nvSpPr>
          <p:cNvPr id="8" name="shape-7">
            <a:extLst xmlns:a="http://schemas.openxmlformats.org/drawingml/2006/main">
              <a:ext uri="{FF2B5EF4-FFF2-40B4-BE49-F238E27FC236}">
                <a16:creationId xmlns:a16="http://schemas.microsoft.com/office/drawing/2014/main" id="{3EC18B2C-115A-457D-85A7-D6B7F8C18639}"/>
              </a:ext>
            </a:extLst>
          </p:cNvPr>
          <p:cNvSpPr>
            <a:spLocks xmlns:a="http://schemas.openxmlformats.org/drawingml/2006/main" noGrp="1"/>
          </p:cNvSpPr>
          <p:nvPr/>
        </p:nvSpPr>
        <p:spPr>
          <a:xfrm xmlns:a="http://schemas.openxmlformats.org/drawingml/2006/main">
            <a:off x="22555200" y="13060680"/>
            <a:ext cx="109728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2040" b="0">
                <a:solidFill>
                  <a:srgbClr val="516178"/>
                </a:solidFill>
                <a:latin typeface="Arial"/>
                <a:ea typeface="Arial"/>
                <a:cs typeface="Arial"/>
              </a:defRPr>
            </a:pPr>
            <a:r>
              <a:rPr sz="2040" b="0">
                <a:solidFill>
                  <a:srgbClr val="516178"/>
                </a:solidFill>
                <a:latin typeface="Arial"/>
                <a:ea typeface="Arial"/>
                <a:cs typeface="Arial"/>
              </a:rPr>
              <a:t>01 / 06</a:t>
            </a:r>
          </a:p>
        </p:txBody>
      </p:sp>
      <p:sp>
        <p:nvSpPr>
          <p:cNvPr id="9" name="shape-8">
            <a:extLst xmlns:a="http://schemas.openxmlformats.org/drawingml/2006/main">
              <a:ext uri="{FF2B5EF4-FFF2-40B4-BE49-F238E27FC236}">
                <a16:creationId xmlns:a16="http://schemas.microsoft.com/office/drawing/2014/main" id="{6A180D97-8370-4ECD-8D95-D64DF18B377E}"/>
              </a:ext>
            </a:extLst>
          </p:cNvPr>
          <p:cNvSpPr>
            <a:spLocks xmlns:a="http://schemas.openxmlformats.org/drawingml/2006/main" noGrp="1"/>
          </p:cNvSpPr>
          <p:nvPr/>
        </p:nvSpPr>
        <p:spPr>
          <a:xfrm xmlns:a="http://schemas.openxmlformats.org/drawingml/2006/main">
            <a:off x="868680" y="2773680"/>
            <a:ext cx="12496800" cy="1767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1040" b="1">
                <a:solidFill>
                  <a:srgbClr val="087E70"/>
                </a:solidFill>
                <a:latin typeface="Times New Roman"/>
                <a:ea typeface="Times New Roman"/>
                <a:cs typeface="Times New Roman"/>
              </a:defRPr>
            </a:pPr>
            <a:r>
              <a:rPr sz="11040" b="1">
                <a:solidFill>
                  <a:srgbClr val="087E70"/>
                </a:solidFill>
                <a:latin typeface="Times New Roman"/>
                <a:ea typeface="Times New Roman"/>
                <a:cs typeface="Times New Roman"/>
              </a:rPr>
              <a:t>VOXELFLIGHT</a:t>
            </a:r>
          </a:p>
        </p:txBody>
      </p:sp>
      <p:sp>
        <p:nvSpPr>
          <p:cNvPr id="10" name="shape-9">
            <a:extLst xmlns:a="http://schemas.openxmlformats.org/drawingml/2006/main">
              <a:ext uri="{FF2B5EF4-FFF2-40B4-BE49-F238E27FC236}">
                <a16:creationId xmlns:a16="http://schemas.microsoft.com/office/drawing/2014/main" id="{8B87CA45-0DF7-4F9E-931C-F30F65193C26}"/>
              </a:ext>
            </a:extLst>
          </p:cNvPr>
          <p:cNvSpPr>
            <a:spLocks xmlns:a="http://schemas.openxmlformats.org/drawingml/2006/main" noGrp="1"/>
          </p:cNvSpPr>
          <p:nvPr/>
        </p:nvSpPr>
        <p:spPr>
          <a:xfrm xmlns:a="http://schemas.openxmlformats.org/drawingml/2006/main">
            <a:off x="929640" y="4785360"/>
            <a:ext cx="11201400" cy="16611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60" b="1">
                <a:solidFill>
                  <a:srgbClr val="14243B"/>
                </a:solidFill>
                <a:latin typeface="Arial"/>
                <a:ea typeface="Arial"/>
                <a:cs typeface="Arial"/>
              </a:defRPr>
            </a:pPr>
            <a:r>
              <a:rPr sz="5160" b="1">
                <a:solidFill>
                  <a:srgbClr val="14243B"/>
                </a:solidFill>
                <a:latin typeface="Arial"/>
                <a:ea typeface="Arial"/>
                <a:cs typeface="Arial"/>
              </a:rPr>
              <a:t>Single-pass drone video</a:t>
            </a:r>
          </a:p>
          <a:p xmlns:a="http://schemas.openxmlformats.org/drawingml/2006/main">
            <a:pPr algn="l">
              <a:lnSpc>
                <a:spcPct val="108000"/>
              </a:lnSpc>
              <a:buNone/>
              <a:defRPr sz="5160" b="1">
                <a:solidFill>
                  <a:srgbClr val="14243B"/>
                </a:solidFill>
                <a:latin typeface="Arial"/>
                <a:ea typeface="Arial"/>
                <a:cs typeface="Arial"/>
              </a:defRPr>
            </a:pPr>
            <a:r>
              <a:rPr sz="5160" b="1">
                <a:solidFill>
                  <a:srgbClr val="14243B"/>
                </a:solidFill>
                <a:latin typeface="Arial"/>
                <a:ea typeface="Arial"/>
                <a:cs typeface="Arial"/>
              </a:rPr>
              <a:t>to an explorable 3D scene</a:t>
            </a:r>
          </a:p>
        </p:txBody>
      </p:sp>
      <p:sp>
        <p:nvSpPr>
          <p:cNvPr id="11" name="shape-10">
            <a:extLst xmlns:a="http://schemas.openxmlformats.org/drawingml/2006/main">
              <a:ext uri="{FF2B5EF4-FFF2-40B4-BE49-F238E27FC236}">
                <a16:creationId xmlns:a16="http://schemas.microsoft.com/office/drawing/2014/main" id="{37179AA9-48F1-45B4-8411-E0826BB5AD83}"/>
              </a:ext>
            </a:extLst>
          </p:cNvPr>
          <p:cNvSpPr>
            <a:spLocks xmlns:a="http://schemas.openxmlformats.org/drawingml/2006/main" noGrp="1"/>
          </p:cNvSpPr>
          <p:nvPr/>
        </p:nvSpPr>
        <p:spPr>
          <a:xfrm xmlns:a="http://schemas.openxmlformats.org/drawingml/2006/main">
            <a:off x="960120" y="7101840"/>
            <a:ext cx="10363200" cy="1173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0">
                <a:solidFill>
                  <a:srgbClr val="516178"/>
                </a:solidFill>
                <a:latin typeface="Arial"/>
                <a:ea typeface="Arial"/>
                <a:cs typeface="Arial"/>
              </a:defRPr>
            </a:pPr>
            <a:r>
              <a:rPr sz="3480" b="0">
                <a:solidFill>
                  <a:srgbClr val="516178"/>
                </a:solidFill>
                <a:latin typeface="Arial"/>
                <a:ea typeface="Arial"/>
                <a:cs typeface="Arial"/>
              </a:rPr>
              <a:t>For missions where another flight</a:t>
            </a:r>
          </a:p>
          <a:p xmlns:a="http://schemas.openxmlformats.org/drawingml/2006/main">
            <a:pPr algn="l">
              <a:lnSpc>
                <a:spcPct val="108000"/>
              </a:lnSpc>
              <a:buNone/>
              <a:defRPr sz="3480" b="0">
                <a:solidFill>
                  <a:srgbClr val="516178"/>
                </a:solidFill>
                <a:latin typeface="Arial"/>
                <a:ea typeface="Arial"/>
                <a:cs typeface="Arial"/>
              </a:defRPr>
            </a:pPr>
            <a:r>
              <a:rPr sz="3480" b="0">
                <a:solidFill>
                  <a:srgbClr val="516178"/>
                </a:solidFill>
                <a:latin typeface="Arial"/>
                <a:ea typeface="Arial"/>
                <a:cs typeface="Arial"/>
              </a:rPr>
              <a:t>may not be possible.</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0521e81b514946cb"/>
          <a:stretch xmlns:a="http://schemas.openxmlformats.org/drawingml/2006/main"/>
        </p:blipFill>
        <p:spPr>
          <a:xfrm xmlns:a="http://schemas.openxmlformats.org/drawingml/2006/main">
            <a:off x="12808373" y="3124200"/>
            <a:ext cx="10837333" cy="6096000"/>
          </a:xfrm>
          <a:prstGeom xmlns:a="http://schemas.openxmlformats.org/drawingml/2006/main" prst="rect">
            <a:avLst/>
          </a:prstGeom>
        </p:spPr>
      </p:pic>
      <p:sp>
        <p:nvSpPr>
          <p:cNvPr id="13" name="shape-11">
            <a:extLst xmlns:a="http://schemas.openxmlformats.org/drawingml/2006/main">
              <a:ext uri="{FF2B5EF4-FFF2-40B4-BE49-F238E27FC236}">
                <a16:creationId xmlns:a16="http://schemas.microsoft.com/office/drawing/2014/main" id="{CA2A8051-883C-4D2C-B731-70FDD988A758}"/>
              </a:ext>
            </a:extLst>
          </p:cNvPr>
          <p:cNvSpPr>
            <a:spLocks xmlns:a="http://schemas.openxmlformats.org/drawingml/2006/main" noGrp="1"/>
          </p:cNvSpPr>
          <p:nvPr/>
        </p:nvSpPr>
        <p:spPr>
          <a:xfrm xmlns:a="http://schemas.openxmlformats.org/drawingml/2006/main">
            <a:off x="12832080" y="9464040"/>
            <a:ext cx="1072896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280" b="1">
                <a:solidFill>
                  <a:srgbClr val="2464C7"/>
                </a:solidFill>
                <a:latin typeface="Arial"/>
                <a:ea typeface="Arial"/>
                <a:cs typeface="Arial"/>
              </a:defRPr>
            </a:pPr>
            <a:r>
              <a:rPr sz="2280" b="1">
                <a:solidFill>
                  <a:srgbClr val="2464C7"/>
                </a:solidFill>
                <a:latin typeface="Arial"/>
                <a:ea typeface="Arial"/>
                <a:cs typeface="Arial"/>
              </a:rPr>
              <a:t>ACTUAL INPUT FRAME</a:t>
            </a:r>
          </a:p>
        </p:txBody>
      </p:sp>
      <p:sp>
        <p:nvSpPr>
          <p:cNvPr id="14" name="shape-12">
            <a:extLst xmlns:a="http://schemas.openxmlformats.org/drawingml/2006/main">
              <a:ext uri="{FF2B5EF4-FFF2-40B4-BE49-F238E27FC236}">
                <a16:creationId xmlns:a16="http://schemas.microsoft.com/office/drawing/2014/main" id="{ABBF176F-1622-4E1B-8029-1F860FCBEF99}"/>
              </a:ext>
            </a:extLst>
          </p:cNvPr>
          <p:cNvSpPr>
            <a:spLocks xmlns:a="http://schemas.openxmlformats.org/drawingml/2006/main" noGrp="1"/>
          </p:cNvSpPr>
          <p:nvPr/>
        </p:nvSpPr>
        <p:spPr>
          <a:xfrm xmlns:a="http://schemas.openxmlformats.org/drawingml/2006/main">
            <a:off x="929640" y="9052560"/>
            <a:ext cx="11247120" cy="1264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14243B"/>
                </a:solidFill>
                <a:latin typeface="Arial"/>
                <a:ea typeface="Arial"/>
                <a:cs typeface="Arial"/>
              </a:defRPr>
            </a:pPr>
            <a:r>
              <a:rPr sz="3480" b="1">
                <a:solidFill>
                  <a:srgbClr val="14243B"/>
                </a:solidFill>
                <a:latin typeface="Arial"/>
                <a:ea typeface="Arial"/>
                <a:cs typeface="Arial"/>
              </a:rPr>
              <a:t>Single-Pass Drone Video to Accurate 3D</a:t>
            </a:r>
          </a:p>
          <a:p xmlns:a="http://schemas.openxmlformats.org/drawingml/2006/main">
            <a:pPr algn="l">
              <a:lnSpc>
                <a:spcPct val="108000"/>
              </a:lnSpc>
              <a:buNone/>
              <a:defRPr sz="3480" b="1">
                <a:solidFill>
                  <a:srgbClr val="14243B"/>
                </a:solidFill>
                <a:latin typeface="Arial"/>
                <a:ea typeface="Arial"/>
                <a:cs typeface="Arial"/>
              </a:defRPr>
            </a:pPr>
            <a:r>
              <a:rPr sz="3480" b="1">
                <a:solidFill>
                  <a:srgbClr val="14243B"/>
                </a:solidFill>
                <a:latin typeface="Arial"/>
                <a:ea typeface="Arial"/>
                <a:cs typeface="Arial"/>
              </a:rPr>
              <a:t>Model Generation System</a:t>
            </a:r>
          </a:p>
        </p:txBody>
      </p:sp>
      <p:sp>
        <p:nvSpPr>
          <p:cNvPr id="15" name="shape-13">
            <a:extLst xmlns:a="http://schemas.openxmlformats.org/drawingml/2006/main">
              <a:ext uri="{FF2B5EF4-FFF2-40B4-BE49-F238E27FC236}">
                <a16:creationId xmlns:a16="http://schemas.microsoft.com/office/drawing/2014/main" id="{3E250C6D-5F74-4E29-BE42-A6478C58D08D}"/>
              </a:ext>
            </a:extLst>
          </p:cNvPr>
          <p:cNvSpPr>
            <a:spLocks xmlns:a="http://schemas.openxmlformats.org/drawingml/2006/main" noGrp="1"/>
          </p:cNvSpPr>
          <p:nvPr/>
        </p:nvSpPr>
        <p:spPr>
          <a:xfrm xmlns:a="http://schemas.openxmlformats.org/drawingml/2006/main">
            <a:off x="899160" y="10728960"/>
            <a:ext cx="22722840" cy="0"/>
          </a:xfrm>
          <a:prstGeom xmlns:a="http://schemas.openxmlformats.org/drawingml/2006/main" prst="line">
            <a:avLst/>
          </a:prstGeom>
          <a:noFill xmlns:a="http://schemas.openxmlformats.org/drawingml/2006/main"/>
          <a:ln xmlns:a="http://schemas.openxmlformats.org/drawingml/2006/main" w="15240">
            <a:solidFill>
              <a:srgbClr val="D5DDE5"/>
            </a:solidFill>
            <a:prstDash val="solid"/>
          </a:ln>
        </p:spPr>
      </p:sp>
      <p:sp>
        <p:nvSpPr>
          <p:cNvPr id="16" name="shape-14">
            <a:extLst xmlns:a="http://schemas.openxmlformats.org/drawingml/2006/main">
              <a:ext uri="{FF2B5EF4-FFF2-40B4-BE49-F238E27FC236}">
                <a16:creationId xmlns:a16="http://schemas.microsoft.com/office/drawing/2014/main" id="{6B451DE3-13C0-4055-BA42-5C5B608D683D}"/>
              </a:ext>
            </a:extLst>
          </p:cNvPr>
          <p:cNvSpPr>
            <a:spLocks xmlns:a="http://schemas.openxmlformats.org/drawingml/2006/main" noGrp="1"/>
          </p:cNvSpPr>
          <p:nvPr/>
        </p:nvSpPr>
        <p:spPr>
          <a:xfrm xmlns:a="http://schemas.openxmlformats.org/drawingml/2006/main">
            <a:off x="929640" y="11094720"/>
            <a:ext cx="4953000" cy="563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7544C4"/>
                </a:solidFill>
                <a:latin typeface="Arial"/>
                <a:ea typeface="Arial"/>
                <a:cs typeface="Arial"/>
              </a:defRPr>
            </a:pPr>
            <a:r>
              <a:rPr sz="3360" b="1">
                <a:solidFill>
                  <a:srgbClr val="7544C4"/>
                </a:solidFill>
                <a:latin typeface="Arial"/>
                <a:ea typeface="Arial"/>
                <a:cs typeface="Arial"/>
              </a:rPr>
              <a:t>SIH26158</a:t>
            </a:r>
          </a:p>
        </p:txBody>
      </p:sp>
      <p:sp>
        <p:nvSpPr>
          <p:cNvPr id="17" name="shape-15">
            <a:extLst xmlns:a="http://schemas.openxmlformats.org/drawingml/2006/main">
              <a:ext uri="{FF2B5EF4-FFF2-40B4-BE49-F238E27FC236}">
                <a16:creationId xmlns:a16="http://schemas.microsoft.com/office/drawing/2014/main" id="{A7582CC0-298C-4C0C-AB41-430BB6EAF977}"/>
              </a:ext>
            </a:extLst>
          </p:cNvPr>
          <p:cNvSpPr>
            <a:spLocks xmlns:a="http://schemas.openxmlformats.org/drawingml/2006/main" noGrp="1"/>
          </p:cNvSpPr>
          <p:nvPr/>
        </p:nvSpPr>
        <p:spPr>
          <a:xfrm xmlns:a="http://schemas.openxmlformats.org/drawingml/2006/main">
            <a:off x="6233160" y="11094720"/>
            <a:ext cx="173736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240" b="0">
                <a:solidFill>
                  <a:srgbClr val="14243B"/>
                </a:solidFill>
                <a:latin typeface="Arial"/>
                <a:ea typeface="Arial"/>
                <a:cs typeface="Arial"/>
              </a:defRPr>
            </a:pPr>
            <a:r>
              <a:rPr sz="3240" b="0">
                <a:solidFill>
                  <a:srgbClr val="14243B"/>
                </a:solidFill>
                <a:latin typeface="Arial"/>
                <a:ea typeface="Arial"/>
                <a:cs typeface="Arial"/>
              </a:rPr>
              <a:t>National Technical Research Organisation</a:t>
            </a:r>
          </a:p>
        </p:txBody>
      </p:sp>
      <p:sp>
        <p:nvSpPr>
          <p:cNvPr id="18" name="shape-16">
            <a:extLst xmlns:a="http://schemas.openxmlformats.org/drawingml/2006/main">
              <a:ext uri="{FF2B5EF4-FFF2-40B4-BE49-F238E27FC236}">
                <a16:creationId xmlns:a16="http://schemas.microsoft.com/office/drawing/2014/main" id="{92E1FF76-0075-458D-AC20-0D3A17F74FFE}"/>
              </a:ext>
            </a:extLst>
          </p:cNvPr>
          <p:cNvSpPr>
            <a:spLocks xmlns:a="http://schemas.openxmlformats.org/drawingml/2006/main" noGrp="1"/>
          </p:cNvSpPr>
          <p:nvPr/>
        </p:nvSpPr>
        <p:spPr>
          <a:xfrm xmlns:a="http://schemas.openxmlformats.org/drawingml/2006/main">
            <a:off x="929640" y="12024360"/>
            <a:ext cx="22250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Team name: [To be added]     Team ID: [To be added]</a:t>
            </a:r>
          </a:p>
        </p:txBody>
      </p:sp>
    </p:spTree>
    <p:extLst>
      <p:ext uri="{BB962C8B-B14F-4D97-AF65-F5344CB8AC3E}">
        <p14:creationId xmlns:p14="http://schemas.microsoft.com/office/powerpoint/2010/main" val="1255374338"/>
      </p:ext>
    </p:extLst>
  </p:cSld>
</p:sld>
</file>

<file path=ppt/slides/slide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25" name="shape-17">
            <a:extLst xmlns:a="http://schemas.openxmlformats.org/drawingml/2006/main">
              <a:ext uri="{FF2B5EF4-FFF2-40B4-BE49-F238E27FC236}">
                <a16:creationId xmlns:a16="http://schemas.microsoft.com/office/drawing/2014/main" id="{5A854203-EBD4-4D5F-B54C-2C71C704D9CD}"/>
              </a:ext>
            </a:extLst>
          </p:cNvPr>
          <p:cNvSpPr>
            <a:spLocks xmlns:a="http://schemas.openxmlformats.org/drawingml/2006/main" noGrp="1"/>
          </p:cNvSpPr>
          <p:nvPr/>
        </p:nvSpPr>
        <p:spPr>
          <a:xfrm xmlns:a="http://schemas.openxmlformats.org/drawingml/2006/main">
            <a:off x="91440" y="76200"/>
            <a:ext cx="24201120" cy="13563600"/>
          </a:xfrm>
          <a:prstGeom xmlns:a="http://schemas.openxmlformats.org/drawingml/2006/main" prst="rect">
            <a:avLst/>
          </a:prstGeom>
          <a:noFill xmlns:a="http://schemas.openxmlformats.org/drawingml/2006/main"/>
          <a:ln xmlns:a="http://schemas.openxmlformats.org/drawingml/2006/main" w="15240">
            <a:solidFill>
              <a:srgbClr val="E4E7EB"/>
            </a:solidFill>
            <a:prstDash val="solid"/>
          </a:ln>
        </p:spPr>
      </p:sp>
      <p:sp>
        <p:nvSpPr>
          <p:cNvPr id="2" name="shape-18">
            <a:extLst xmlns:a="http://schemas.openxmlformats.org/drawingml/2006/main">
              <a:ext uri="{FF2B5EF4-FFF2-40B4-BE49-F238E27FC236}">
                <a16:creationId xmlns:a16="http://schemas.microsoft.com/office/drawing/2014/main" id="{C0E0C91C-37F0-4FB1-BA42-3C206B52F27F}"/>
              </a:ext>
            </a:extLst>
          </p:cNvPr>
          <p:cNvSpPr>
            <a:spLocks xmlns:a="http://schemas.openxmlformats.org/drawingml/2006/main" noGrp="1"/>
          </p:cNvSpPr>
          <p:nvPr/>
        </p:nvSpPr>
        <p:spPr>
          <a:xfrm xmlns:a="http://schemas.openxmlformats.org/drawingml/2006/main">
            <a:off x="868680" y="640080"/>
            <a:ext cx="320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VoxelFlight</a:t>
            </a:r>
          </a:p>
        </p:txBody>
      </p:sp>
      <p:sp>
        <p:nvSpPr>
          <p:cNvPr id="3" name="shape-19">
            <a:extLst xmlns:a="http://schemas.openxmlformats.org/drawingml/2006/main">
              <a:ext uri="{FF2B5EF4-FFF2-40B4-BE49-F238E27FC236}">
                <a16:creationId xmlns:a16="http://schemas.microsoft.com/office/drawing/2014/main" id="{31110A60-2CA5-4983-876D-3511FA1F9B12}"/>
              </a:ext>
            </a:extLst>
          </p:cNvPr>
          <p:cNvSpPr>
            <a:spLocks xmlns:a="http://schemas.openxmlformats.org/drawingml/2006/main" noGrp="1"/>
          </p:cNvSpPr>
          <p:nvPr/>
        </p:nvSpPr>
        <p:spPr>
          <a:xfrm xmlns:a="http://schemas.openxmlformats.org/drawingml/2006/main">
            <a:off x="4343400" y="533400"/>
            <a:ext cx="15240000" cy="1082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760" b="1">
                <a:solidFill>
                  <a:srgbClr val="14243B"/>
                </a:solidFill>
                <a:latin typeface="Times New Roman"/>
                <a:ea typeface="Times New Roman"/>
                <a:cs typeface="Times New Roman"/>
              </a:defRPr>
            </a:pPr>
            <a:r>
              <a:rPr sz="5760" b="1">
                <a:solidFill>
                  <a:srgbClr val="14243B"/>
                </a:solidFill>
                <a:latin typeface="Times New Roman"/>
                <a:ea typeface="Times New Roman"/>
                <a:cs typeface="Times New Roman"/>
              </a:rPr>
              <a:t>PROPOSED SOLUTION</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0de6dd9fd1442f8"/>
          <a:stretch xmlns:a="http://schemas.openxmlformats.org/drawingml/2006/main"/>
        </p:blipFill>
        <p:spPr>
          <a:xfrm xmlns:a="http://schemas.openxmlformats.org/drawingml/2006/main">
            <a:off x="19903440" y="220568"/>
            <a:ext cx="1219200" cy="1433384"/>
          </a:xfrm>
          <a:prstGeom xmlns:a="http://schemas.openxmlformats.org/drawingml/2006/main" prst="rect">
            <a:avLst/>
          </a:prstGeom>
        </p:spPr>
      </p:pic>
      <p:sp>
        <p:nvSpPr>
          <p:cNvPr id="5" name="shape-20">
            <a:extLst xmlns:a="http://schemas.openxmlformats.org/drawingml/2006/main">
              <a:ext uri="{FF2B5EF4-FFF2-40B4-BE49-F238E27FC236}">
                <a16:creationId xmlns:a16="http://schemas.microsoft.com/office/drawing/2014/main" id="{2AD94CBC-F74B-41F5-A2FA-4CD0CCFF2ECB}"/>
              </a:ext>
            </a:extLst>
          </p:cNvPr>
          <p:cNvSpPr>
            <a:spLocks xmlns:a="http://schemas.openxmlformats.org/drawingml/2006/main" noGrp="1"/>
          </p:cNvSpPr>
          <p:nvPr/>
        </p:nvSpPr>
        <p:spPr>
          <a:xfrm xmlns:a="http://schemas.openxmlformats.org/drawingml/2006/main">
            <a:off x="21305520" y="563880"/>
            <a:ext cx="240792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SMART INDIA</a:t>
            </a:r>
          </a:p>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HACKATHON 2026</a:t>
            </a:r>
          </a:p>
        </p:txBody>
      </p:sp>
      <p:sp>
        <p:nvSpPr>
          <p:cNvPr id="6" name="shape-21">
            <a:extLst xmlns:a="http://schemas.openxmlformats.org/drawingml/2006/main">
              <a:ext uri="{FF2B5EF4-FFF2-40B4-BE49-F238E27FC236}">
                <a16:creationId xmlns:a16="http://schemas.microsoft.com/office/drawing/2014/main" id="{A517B959-7448-4CFA-8419-0F7385449005}"/>
              </a:ext>
            </a:extLst>
          </p:cNvPr>
          <p:cNvSpPr>
            <a:spLocks xmlns:a="http://schemas.openxmlformats.org/drawingml/2006/main" noGrp="1"/>
          </p:cNvSpPr>
          <p:nvPr/>
        </p:nvSpPr>
        <p:spPr>
          <a:xfrm xmlns:a="http://schemas.openxmlformats.org/drawingml/2006/main">
            <a:off x="868680" y="1905000"/>
            <a:ext cx="22768560" cy="0"/>
          </a:xfrm>
          <a:prstGeom xmlns:a="http://schemas.openxmlformats.org/drawingml/2006/main" prst="line">
            <a:avLst/>
          </a:prstGeom>
          <a:noFill xmlns:a="http://schemas.openxmlformats.org/drawingml/2006/main"/>
          <a:ln xmlns:a="http://schemas.openxmlformats.org/drawingml/2006/main" w="15240">
            <a:solidFill>
              <a:srgbClr val="087E70"/>
            </a:solidFill>
            <a:prstDash val="solid"/>
          </a:ln>
        </p:spPr>
      </p:sp>
      <p:sp>
        <p:nvSpPr>
          <p:cNvPr id="7" name="shape-22">
            <a:extLst xmlns:a="http://schemas.openxmlformats.org/drawingml/2006/main">
              <a:ext uri="{FF2B5EF4-FFF2-40B4-BE49-F238E27FC236}">
                <a16:creationId xmlns:a16="http://schemas.microsoft.com/office/drawing/2014/main" id="{4156AE9F-428C-4333-A3C9-EB9BD84BB314}"/>
              </a:ext>
            </a:extLst>
          </p:cNvPr>
          <p:cNvSpPr>
            <a:spLocks xmlns:a="http://schemas.openxmlformats.org/drawingml/2006/main" noGrp="1"/>
          </p:cNvSpPr>
          <p:nvPr/>
        </p:nvSpPr>
        <p:spPr>
          <a:xfrm xmlns:a="http://schemas.openxmlformats.org/drawingml/2006/main">
            <a:off x="868680" y="13060680"/>
            <a:ext cx="1828800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20" b="0">
                <a:solidFill>
                  <a:srgbClr val="516178"/>
                </a:solidFill>
                <a:latin typeface="Arial"/>
                <a:ea typeface="Arial"/>
                <a:cs typeface="Arial"/>
              </a:defRPr>
            </a:pPr>
            <a:r>
              <a:rPr sz="1920" b="0">
                <a:solidFill>
                  <a:srgbClr val="516178"/>
                </a:solidFill>
                <a:latin typeface="Arial"/>
                <a:ea typeface="Arial"/>
                <a:cs typeface="Arial"/>
              </a:rPr>
              <a:t>SIH26158  /  SOFTWARE  /  DRONE &amp; ROBOTICS</a:t>
            </a:r>
          </a:p>
        </p:txBody>
      </p:sp>
      <p:sp>
        <p:nvSpPr>
          <p:cNvPr id="8" name="shape-23">
            <a:extLst xmlns:a="http://schemas.openxmlformats.org/drawingml/2006/main">
              <a:ext uri="{FF2B5EF4-FFF2-40B4-BE49-F238E27FC236}">
                <a16:creationId xmlns:a16="http://schemas.microsoft.com/office/drawing/2014/main" id="{F9A3E8D0-DE4D-496D-B93B-F411C0D27402}"/>
              </a:ext>
            </a:extLst>
          </p:cNvPr>
          <p:cNvSpPr>
            <a:spLocks xmlns:a="http://schemas.openxmlformats.org/drawingml/2006/main" noGrp="1"/>
          </p:cNvSpPr>
          <p:nvPr/>
        </p:nvSpPr>
        <p:spPr>
          <a:xfrm xmlns:a="http://schemas.openxmlformats.org/drawingml/2006/main">
            <a:off x="22555200" y="13060680"/>
            <a:ext cx="109728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2040" b="0">
                <a:solidFill>
                  <a:srgbClr val="516178"/>
                </a:solidFill>
                <a:latin typeface="Arial"/>
                <a:ea typeface="Arial"/>
                <a:cs typeface="Arial"/>
              </a:defRPr>
            </a:pPr>
            <a:r>
              <a:rPr sz="2040" b="0">
                <a:solidFill>
                  <a:srgbClr val="516178"/>
                </a:solidFill>
                <a:latin typeface="Arial"/>
                <a:ea typeface="Arial"/>
                <a:cs typeface="Arial"/>
              </a:rPr>
              <a:t>02 / 06</a:t>
            </a:r>
          </a:p>
        </p:txBody>
      </p:sp>
      <p:sp>
        <p:nvSpPr>
          <p:cNvPr id="9" name="shape-24">
            <a:extLst xmlns:a="http://schemas.openxmlformats.org/drawingml/2006/main">
              <a:ext uri="{FF2B5EF4-FFF2-40B4-BE49-F238E27FC236}">
                <a16:creationId xmlns:a16="http://schemas.microsoft.com/office/drawing/2014/main" id="{260C6F10-3B99-47F2-93C8-92FE8666DEEE}"/>
              </a:ext>
            </a:extLst>
          </p:cNvPr>
          <p:cNvSpPr>
            <a:spLocks xmlns:a="http://schemas.openxmlformats.org/drawingml/2006/main" noGrp="1"/>
          </p:cNvSpPr>
          <p:nvPr/>
        </p:nvSpPr>
        <p:spPr>
          <a:xfrm xmlns:a="http://schemas.openxmlformats.org/drawingml/2006/main">
            <a:off x="868680" y="2301240"/>
            <a:ext cx="227076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4800" b="1">
                <a:solidFill>
                  <a:srgbClr val="14243B"/>
                </a:solidFill>
                <a:latin typeface="Arial"/>
                <a:ea typeface="Arial"/>
                <a:cs typeface="Arial"/>
              </a:defRPr>
            </a:pPr>
            <a:r>
              <a:rPr sz="4800" b="1">
                <a:solidFill>
                  <a:srgbClr val="14243B"/>
                </a:solidFill>
                <a:latin typeface="Arial"/>
                <a:ea typeface="Arial"/>
                <a:cs typeface="Arial"/>
              </a:rPr>
              <a:t>Single-pass reconstruction of visible surfaces</a:t>
            </a:r>
          </a:p>
        </p:txBody>
      </p:sp>
      <p:sp>
        <p:nvSpPr>
          <p:cNvPr id="10" name="shape-25">
            <a:extLst xmlns:a="http://schemas.openxmlformats.org/drawingml/2006/main">
              <a:ext uri="{FF2B5EF4-FFF2-40B4-BE49-F238E27FC236}">
                <a16:creationId xmlns:a16="http://schemas.microsoft.com/office/drawing/2014/main" id="{898AE61F-3403-4F61-A999-64BDC2727432}"/>
              </a:ext>
            </a:extLst>
          </p:cNvPr>
          <p:cNvSpPr>
            <a:spLocks xmlns:a="http://schemas.openxmlformats.org/drawingml/2006/main" noGrp="1"/>
          </p:cNvSpPr>
          <p:nvPr/>
        </p:nvSpPr>
        <p:spPr>
          <a:xfrm xmlns:a="http://schemas.openxmlformats.org/drawingml/2006/main">
            <a:off x="899160" y="3261360"/>
            <a:ext cx="2263140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A video supplies overlapping views. Camera motion and predicted depth connect them into a 3D scene.</a:t>
            </a:r>
          </a:p>
        </p:txBody>
      </p:sp>
      <p:sp>
        <p:nvSpPr>
          <p:cNvPr id="11" name="shape-26">
            <a:extLst xmlns:a="http://schemas.openxmlformats.org/drawingml/2006/main">
              <a:ext uri="{FF2B5EF4-FFF2-40B4-BE49-F238E27FC236}">
                <a16:creationId xmlns:a16="http://schemas.microsoft.com/office/drawing/2014/main" id="{7A5F56D4-D1F4-4533-8E1E-EE727E10E4FA}"/>
              </a:ext>
            </a:extLst>
          </p:cNvPr>
          <p:cNvSpPr>
            <a:spLocks xmlns:a="http://schemas.openxmlformats.org/drawingml/2006/main" noGrp="1"/>
          </p:cNvSpPr>
          <p:nvPr/>
        </p:nvSpPr>
        <p:spPr>
          <a:xfrm xmlns:a="http://schemas.openxmlformats.org/drawingml/2006/main">
            <a:off x="899160" y="4267200"/>
            <a:ext cx="701040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2464C7"/>
                </a:solidFill>
                <a:latin typeface="Arial"/>
                <a:ea typeface="Arial"/>
                <a:cs typeface="Arial"/>
              </a:defRPr>
            </a:pPr>
            <a:r>
              <a:rPr sz="3720" b="1">
                <a:solidFill>
                  <a:srgbClr val="2464C7"/>
                </a:solidFill>
                <a:latin typeface="Arial"/>
                <a:ea typeface="Arial"/>
                <a:cs typeface="Arial"/>
              </a:rPr>
              <a:t>01  Flight input</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45b533547c348e4"/>
          <a:stretch xmlns:a="http://schemas.openxmlformats.org/drawingml/2006/main"/>
        </p:blipFill>
        <p:spPr>
          <a:xfrm xmlns:a="http://schemas.openxmlformats.org/drawingml/2006/main">
            <a:off x="901700" y="5212080"/>
            <a:ext cx="6990080" cy="3931920"/>
          </a:xfrm>
          <a:prstGeom xmlns:a="http://schemas.openxmlformats.org/drawingml/2006/main" prst="rect">
            <a:avLst/>
          </a:prstGeom>
        </p:spPr>
      </p:pic>
      <p:sp>
        <p:nvSpPr>
          <p:cNvPr id="13" name="shape-27">
            <a:extLst xmlns:a="http://schemas.openxmlformats.org/drawingml/2006/main">
              <a:ext uri="{FF2B5EF4-FFF2-40B4-BE49-F238E27FC236}">
                <a16:creationId xmlns:a16="http://schemas.microsoft.com/office/drawing/2014/main" id="{51DCF33D-6220-4897-828B-A5903C896D6F}"/>
              </a:ext>
            </a:extLst>
          </p:cNvPr>
          <p:cNvSpPr>
            <a:spLocks xmlns:a="http://schemas.openxmlformats.org/drawingml/2006/main" noGrp="1"/>
          </p:cNvSpPr>
          <p:nvPr/>
        </p:nvSpPr>
        <p:spPr>
          <a:xfrm xmlns:a="http://schemas.openxmlformats.org/drawingml/2006/main">
            <a:off x="899160" y="9585960"/>
            <a:ext cx="70104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120" b="1">
                <a:solidFill>
                  <a:srgbClr val="2464C7"/>
                </a:solidFill>
                <a:latin typeface="Arial"/>
                <a:ea typeface="Arial"/>
                <a:cs typeface="Arial"/>
              </a:defRPr>
            </a:pPr>
            <a:r>
              <a:rPr sz="3120" b="1">
                <a:solidFill>
                  <a:srgbClr val="2464C7"/>
                </a:solidFill>
                <a:latin typeface="Arial"/>
                <a:ea typeface="Arial"/>
                <a:cs typeface="Arial"/>
              </a:rPr>
              <a:t>Video + GPS + flight metadata</a:t>
            </a:r>
          </a:p>
        </p:txBody>
      </p:sp>
      <p:sp>
        <p:nvSpPr>
          <p:cNvPr id="14" name="shape-28">
            <a:extLst xmlns:a="http://schemas.openxmlformats.org/drawingml/2006/main">
              <a:ext uri="{FF2B5EF4-FFF2-40B4-BE49-F238E27FC236}">
                <a16:creationId xmlns:a16="http://schemas.microsoft.com/office/drawing/2014/main" id="{B64229AE-E4BC-4D6B-9DF9-2F9F20FC70B5}"/>
              </a:ext>
            </a:extLst>
          </p:cNvPr>
          <p:cNvSpPr>
            <a:spLocks xmlns:a="http://schemas.openxmlformats.org/drawingml/2006/main" noGrp="1"/>
          </p:cNvSpPr>
          <p:nvPr/>
        </p:nvSpPr>
        <p:spPr>
          <a:xfrm xmlns:a="http://schemas.openxmlformats.org/drawingml/2006/main">
            <a:off x="914400" y="10363200"/>
            <a:ext cx="699516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Required: 1080p or 4K video</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Saved experiment: 60 s, 90 views</a:t>
            </a:r>
          </a:p>
        </p:txBody>
      </p:sp>
      <p:sp>
        <p:nvSpPr>
          <p:cNvPr id="15" name="shape-29">
            <a:extLst xmlns:a="http://schemas.openxmlformats.org/drawingml/2006/main">
              <a:ext uri="{FF2B5EF4-FFF2-40B4-BE49-F238E27FC236}">
                <a16:creationId xmlns:a16="http://schemas.microsoft.com/office/drawing/2014/main" id="{6FEBF8B7-5CCE-4C70-B3DB-584AB19598AB}"/>
              </a:ext>
            </a:extLst>
          </p:cNvPr>
          <p:cNvSpPr>
            <a:spLocks xmlns:a="http://schemas.openxmlformats.org/drawingml/2006/main" noGrp="1"/>
          </p:cNvSpPr>
          <p:nvPr/>
        </p:nvSpPr>
        <p:spPr>
          <a:xfrm xmlns:a="http://schemas.openxmlformats.org/drawingml/2006/main">
            <a:off x="914400" y="11841480"/>
            <a:ext cx="7010400" cy="8991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Optional sensors improve constraints.</a:t>
            </a:r>
          </a:p>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No reference poses enter construction.</a:t>
            </a:r>
          </a:p>
        </p:txBody>
      </p:sp>
      <p:sp>
        <p:nvSpPr>
          <p:cNvPr id="16" name="shape-30">
            <a:extLst xmlns:a="http://schemas.openxmlformats.org/drawingml/2006/main">
              <a:ext uri="{FF2B5EF4-FFF2-40B4-BE49-F238E27FC236}">
                <a16:creationId xmlns:a16="http://schemas.microsoft.com/office/drawing/2014/main" id="{8CB9436D-C4C3-4542-9A11-76E26D940951}"/>
              </a:ext>
            </a:extLst>
          </p:cNvPr>
          <p:cNvSpPr>
            <a:spLocks xmlns:a="http://schemas.openxmlformats.org/drawingml/2006/main" noGrp="1"/>
          </p:cNvSpPr>
          <p:nvPr/>
        </p:nvSpPr>
        <p:spPr>
          <a:xfrm xmlns:a="http://schemas.openxmlformats.org/drawingml/2006/main">
            <a:off x="8259318" y="725347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17" name="shape-31">
            <a:extLst xmlns:a="http://schemas.openxmlformats.org/drawingml/2006/main">
              <a:ext uri="{FF2B5EF4-FFF2-40B4-BE49-F238E27FC236}">
                <a16:creationId xmlns:a16="http://schemas.microsoft.com/office/drawing/2014/main" id="{823A3FD2-F168-40D2-A646-4A2466219D38}"/>
              </a:ext>
            </a:extLst>
          </p:cNvPr>
          <p:cNvSpPr>
            <a:spLocks xmlns:a="http://schemas.openxmlformats.org/drawingml/2006/main" noGrp="1"/>
          </p:cNvSpPr>
          <p:nvPr/>
        </p:nvSpPr>
        <p:spPr>
          <a:xfrm xmlns:a="http://schemas.openxmlformats.org/drawingml/2006/main">
            <a:off x="9341358" y="725347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42" name=""/>
          <p:cNvCxnSpPr>
            <a:stCxn xmlns:a="http://schemas.openxmlformats.org/drawingml/2006/main" id="16" idx="3"/>
            <a:endCxn xmlns:a="http://schemas.openxmlformats.org/drawingml/2006/main" id="17" idx="1"/>
          </p:cNvCxnSpPr>
          <p:nvPr/>
        </p:nvCxnSpPr>
        <p:spPr>
          <a:xfrm xmlns:a="http://schemas.openxmlformats.org/drawingml/2006/main">
            <a:off x="8260842" y="7254240"/>
            <a:ext cx="1080516" cy="0"/>
          </a:xfrm>
          <a:prstGeom xmlns:a="http://schemas.openxmlformats.org/drawingml/2006/main" prst="straightConnector1">
            <a:avLst/>
          </a:prstGeom>
          <a:ln xmlns:a="http://schemas.openxmlformats.org/drawingml/2006/main" w="35052">
            <a:solidFill>
              <a:srgbClr val="087E70"/>
            </a:solidFill>
            <a:prstDash val="solid"/>
          </a:ln>
        </p:spPr>
      </p:cxnSp>
      <p:sp>
        <p:nvSpPr>
          <p:cNvPr id="19" name="shape-32">
            <a:extLst xmlns:a="http://schemas.openxmlformats.org/drawingml/2006/main">
              <a:ext uri="{FF2B5EF4-FFF2-40B4-BE49-F238E27FC236}">
                <a16:creationId xmlns:a16="http://schemas.microsoft.com/office/drawing/2014/main" id="{9FE0B5F9-C0FB-4467-9BBF-E8D8E34F478A}"/>
              </a:ext>
            </a:extLst>
          </p:cNvPr>
          <p:cNvSpPr>
            <a:spLocks xmlns:a="http://schemas.openxmlformats.org/drawingml/2006/main" noGrp="1"/>
          </p:cNvSpPr>
          <p:nvPr/>
        </p:nvSpPr>
        <p:spPr>
          <a:xfrm xmlns:a="http://schemas.openxmlformats.org/drawingml/2006/main" rot="5400000">
            <a:off x="9189720" y="7178040"/>
            <a:ext cx="152400" cy="152400"/>
          </a:xfrm>
          <a:prstGeom xmlns:a="http://schemas.openxmlformats.org/drawingml/2006/main" prst="triangle">
            <a:avLst/>
          </a:prstGeom>
          <a:solidFill xmlns:a="http://schemas.openxmlformats.org/drawingml/2006/main">
            <a:srgbClr val="087E70"/>
          </a:solidFill>
          <a:ln xmlns:a="http://schemas.openxmlformats.org/drawingml/2006/main" w="0">
            <a:noFill/>
            <a:prstDash val="solid"/>
          </a:ln>
        </p:spPr>
      </p:sp>
      <p:sp>
        <p:nvSpPr>
          <p:cNvPr id="20" name="shape-33">
            <a:extLst xmlns:a="http://schemas.openxmlformats.org/drawingml/2006/main">
              <a:ext uri="{FF2B5EF4-FFF2-40B4-BE49-F238E27FC236}">
                <a16:creationId xmlns:a16="http://schemas.microsoft.com/office/drawing/2014/main" id="{04BB4B41-0C12-4574-83B7-FAE98271A10B}"/>
              </a:ext>
            </a:extLst>
          </p:cNvPr>
          <p:cNvSpPr>
            <a:spLocks xmlns:a="http://schemas.openxmlformats.org/drawingml/2006/main" noGrp="1"/>
          </p:cNvSpPr>
          <p:nvPr/>
        </p:nvSpPr>
        <p:spPr>
          <a:xfrm xmlns:a="http://schemas.openxmlformats.org/drawingml/2006/main">
            <a:off x="9890760" y="4267200"/>
            <a:ext cx="1368552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02  Actual source-textured surface</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c7f55fba4bad46f7"/>
          <a:srcRect xmlns:a="http://schemas.openxmlformats.org/drawingml/2006/main" l="26000" t="40000" r="2000" b="35000"/>
          <a:stretch xmlns:a="http://schemas.openxmlformats.org/drawingml/2006/main"/>
        </p:blipFill>
        <p:spPr>
          <a:xfrm xmlns:a="http://schemas.openxmlformats.org/drawingml/2006/main">
            <a:off x="9890760" y="5288280"/>
            <a:ext cx="13685520" cy="5059680"/>
          </a:xfrm>
          <a:prstGeom xmlns:a="http://schemas.openxmlformats.org/drawingml/2006/main" prst="rect">
            <a:avLst/>
          </a:prstGeom>
        </p:spPr>
      </p:pic>
      <p:sp>
        <p:nvSpPr>
          <p:cNvPr id="22" name="shape-34">
            <a:extLst xmlns:a="http://schemas.openxmlformats.org/drawingml/2006/main">
              <a:ext uri="{FF2B5EF4-FFF2-40B4-BE49-F238E27FC236}">
                <a16:creationId xmlns:a16="http://schemas.microsoft.com/office/drawing/2014/main" id="{C30D803A-7EE7-42B8-B847-E25DFA005096}"/>
              </a:ext>
            </a:extLst>
          </p:cNvPr>
          <p:cNvSpPr>
            <a:spLocks xmlns:a="http://schemas.openxmlformats.org/drawingml/2006/main" noGrp="1"/>
          </p:cNvSpPr>
          <p:nvPr/>
        </p:nvSpPr>
        <p:spPr>
          <a:xfrm xmlns:a="http://schemas.openxmlformats.org/drawingml/2006/main">
            <a:off x="9906000" y="10683240"/>
            <a:ext cx="643128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087E70"/>
                </a:solidFill>
                <a:latin typeface="Arial"/>
                <a:ea typeface="Arial"/>
                <a:cs typeface="Arial"/>
              </a:defRPr>
            </a:pPr>
            <a:r>
              <a:rPr sz="3480" b="1">
                <a:solidFill>
                  <a:srgbClr val="087E70"/>
                </a:solidFill>
                <a:latin typeface="Arial"/>
                <a:ea typeface="Arial"/>
                <a:cs typeface="Arial"/>
              </a:rPr>
              <a:t>90 calibrated views</a:t>
            </a:r>
          </a:p>
        </p:txBody>
      </p:sp>
      <p:sp>
        <p:nvSpPr>
          <p:cNvPr id="23" name="shape-35">
            <a:extLst xmlns:a="http://schemas.openxmlformats.org/drawingml/2006/main">
              <a:ext uri="{FF2B5EF4-FFF2-40B4-BE49-F238E27FC236}">
                <a16:creationId xmlns:a16="http://schemas.microsoft.com/office/drawing/2014/main" id="{9C7518B6-922E-4609-BF2D-7D0B76E90C30}"/>
              </a:ext>
            </a:extLst>
          </p:cNvPr>
          <p:cNvSpPr>
            <a:spLocks xmlns:a="http://schemas.openxmlformats.org/drawingml/2006/main" noGrp="1"/>
          </p:cNvSpPr>
          <p:nvPr/>
        </p:nvSpPr>
        <p:spPr>
          <a:xfrm xmlns:a="http://schemas.openxmlformats.org/drawingml/2006/main">
            <a:off x="16916400" y="10683240"/>
            <a:ext cx="672084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7544C4"/>
                </a:solidFill>
                <a:latin typeface="Arial"/>
                <a:ea typeface="Arial"/>
                <a:cs typeface="Arial"/>
              </a:defRPr>
            </a:pPr>
            <a:r>
              <a:rPr sz="3480" b="1">
                <a:solidFill>
                  <a:srgbClr val="7544C4"/>
                </a:solidFill>
                <a:latin typeface="Arial"/>
                <a:ea typeface="Arial"/>
                <a:cs typeface="Arial"/>
              </a:rPr>
              <a:t>646,019 mesh triangles</a:t>
            </a:r>
          </a:p>
        </p:txBody>
      </p:sp>
      <p:sp>
        <p:nvSpPr>
          <p:cNvPr id="24" name="shape-36">
            <a:extLst xmlns:a="http://schemas.openxmlformats.org/drawingml/2006/main">
              <a:ext uri="{FF2B5EF4-FFF2-40B4-BE49-F238E27FC236}">
                <a16:creationId xmlns:a16="http://schemas.microsoft.com/office/drawing/2014/main" id="{F46D2E80-2296-4756-B774-ABDE58108584}"/>
              </a:ext>
            </a:extLst>
          </p:cNvPr>
          <p:cNvSpPr>
            <a:spLocks xmlns:a="http://schemas.openxmlformats.org/drawingml/2006/main" noGrp="1"/>
          </p:cNvSpPr>
          <p:nvPr/>
        </p:nvSpPr>
        <p:spPr>
          <a:xfrm xmlns:a="http://schemas.openxmlformats.org/drawingml/2006/main">
            <a:off x="9906000" y="11628120"/>
            <a:ext cx="13700760" cy="1051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Texture comes from observed camera images. Unseen regions remain open.</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Partial coverage and surface errors still require independent validation.</a:t>
            </a:r>
          </a:p>
        </p:txBody>
      </p:sp>
    </p:spTree>
    <p:extLst>
      <p:ext uri="{BB962C8B-B14F-4D97-AF65-F5344CB8AC3E}">
        <p14:creationId xmlns:p14="http://schemas.microsoft.com/office/powerpoint/2010/main" val="213563992"/>
      </p:ext>
    </p:extLst>
  </p:cSld>
</p:sld>
</file>

<file path=ppt/slides/slide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68" name="shape-37">
            <a:extLst xmlns:a="http://schemas.openxmlformats.org/drawingml/2006/main">
              <a:ext uri="{FF2B5EF4-FFF2-40B4-BE49-F238E27FC236}">
                <a16:creationId xmlns:a16="http://schemas.microsoft.com/office/drawing/2014/main" id="{B0149DD3-2DE1-4FF9-95E7-E79F4F7D7CDF}"/>
              </a:ext>
            </a:extLst>
          </p:cNvPr>
          <p:cNvSpPr>
            <a:spLocks xmlns:a="http://schemas.openxmlformats.org/drawingml/2006/main" noGrp="1"/>
          </p:cNvSpPr>
          <p:nvPr/>
        </p:nvSpPr>
        <p:spPr>
          <a:xfrm xmlns:a="http://schemas.openxmlformats.org/drawingml/2006/main">
            <a:off x="91440" y="76200"/>
            <a:ext cx="24201120" cy="13563600"/>
          </a:xfrm>
          <a:prstGeom xmlns:a="http://schemas.openxmlformats.org/drawingml/2006/main" prst="rect">
            <a:avLst/>
          </a:prstGeom>
          <a:noFill xmlns:a="http://schemas.openxmlformats.org/drawingml/2006/main"/>
          <a:ln xmlns:a="http://schemas.openxmlformats.org/drawingml/2006/main" w="15240">
            <a:solidFill>
              <a:srgbClr val="E4E7EB"/>
            </a:solidFill>
            <a:prstDash val="solid"/>
          </a:ln>
        </p:spPr>
      </p:sp>
      <p:sp>
        <p:nvSpPr>
          <p:cNvPr id="2" name="shape-38">
            <a:extLst xmlns:a="http://schemas.openxmlformats.org/drawingml/2006/main">
              <a:ext uri="{FF2B5EF4-FFF2-40B4-BE49-F238E27FC236}">
                <a16:creationId xmlns:a16="http://schemas.microsoft.com/office/drawing/2014/main" id="{37DCAB47-5C47-43BB-AB34-EA45C30AA35D}"/>
              </a:ext>
            </a:extLst>
          </p:cNvPr>
          <p:cNvSpPr>
            <a:spLocks xmlns:a="http://schemas.openxmlformats.org/drawingml/2006/main" noGrp="1"/>
          </p:cNvSpPr>
          <p:nvPr/>
        </p:nvSpPr>
        <p:spPr>
          <a:xfrm xmlns:a="http://schemas.openxmlformats.org/drawingml/2006/main">
            <a:off x="868680" y="640080"/>
            <a:ext cx="320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VoxelFlight</a:t>
            </a:r>
          </a:p>
        </p:txBody>
      </p:sp>
      <p:sp>
        <p:nvSpPr>
          <p:cNvPr id="3" name="shape-39">
            <a:extLst xmlns:a="http://schemas.openxmlformats.org/drawingml/2006/main">
              <a:ext uri="{FF2B5EF4-FFF2-40B4-BE49-F238E27FC236}">
                <a16:creationId xmlns:a16="http://schemas.microsoft.com/office/drawing/2014/main" id="{4EFCF2C0-2623-4765-9245-90CE29AB6415}"/>
              </a:ext>
            </a:extLst>
          </p:cNvPr>
          <p:cNvSpPr>
            <a:spLocks xmlns:a="http://schemas.openxmlformats.org/drawingml/2006/main" noGrp="1"/>
          </p:cNvSpPr>
          <p:nvPr/>
        </p:nvSpPr>
        <p:spPr>
          <a:xfrm xmlns:a="http://schemas.openxmlformats.org/drawingml/2006/main">
            <a:off x="4343400" y="533400"/>
            <a:ext cx="15240000" cy="1082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760" b="1">
                <a:solidFill>
                  <a:srgbClr val="14243B"/>
                </a:solidFill>
                <a:latin typeface="Times New Roman"/>
                <a:ea typeface="Times New Roman"/>
                <a:cs typeface="Times New Roman"/>
              </a:defRPr>
            </a:pPr>
            <a:r>
              <a:rPr sz="5760" b="1">
                <a:solidFill>
                  <a:srgbClr val="14243B"/>
                </a:solidFill>
                <a:latin typeface="Times New Roman"/>
                <a:ea typeface="Times New Roman"/>
                <a:cs typeface="Times New Roman"/>
              </a:rPr>
              <a:t>TECHNICAL APPROACH</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5b8149bbcbf4403b"/>
          <a:stretch xmlns:a="http://schemas.openxmlformats.org/drawingml/2006/main"/>
        </p:blipFill>
        <p:spPr>
          <a:xfrm xmlns:a="http://schemas.openxmlformats.org/drawingml/2006/main">
            <a:off x="19903440" y="220568"/>
            <a:ext cx="1219200" cy="1433384"/>
          </a:xfrm>
          <a:prstGeom xmlns:a="http://schemas.openxmlformats.org/drawingml/2006/main" prst="rect">
            <a:avLst/>
          </a:prstGeom>
        </p:spPr>
      </p:pic>
      <p:sp>
        <p:nvSpPr>
          <p:cNvPr id="5" name="shape-40">
            <a:extLst xmlns:a="http://schemas.openxmlformats.org/drawingml/2006/main">
              <a:ext uri="{FF2B5EF4-FFF2-40B4-BE49-F238E27FC236}">
                <a16:creationId xmlns:a16="http://schemas.microsoft.com/office/drawing/2014/main" id="{6F3C8A4F-CBC0-4883-B763-EC1F1ECBE421}"/>
              </a:ext>
            </a:extLst>
          </p:cNvPr>
          <p:cNvSpPr>
            <a:spLocks xmlns:a="http://schemas.openxmlformats.org/drawingml/2006/main" noGrp="1"/>
          </p:cNvSpPr>
          <p:nvPr/>
        </p:nvSpPr>
        <p:spPr>
          <a:xfrm xmlns:a="http://schemas.openxmlformats.org/drawingml/2006/main">
            <a:off x="21305520" y="563880"/>
            <a:ext cx="240792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SMART INDIA</a:t>
            </a:r>
          </a:p>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HACKATHON 2026</a:t>
            </a:r>
          </a:p>
        </p:txBody>
      </p:sp>
      <p:sp>
        <p:nvSpPr>
          <p:cNvPr id="6" name="shape-41">
            <a:extLst xmlns:a="http://schemas.openxmlformats.org/drawingml/2006/main">
              <a:ext uri="{FF2B5EF4-FFF2-40B4-BE49-F238E27FC236}">
                <a16:creationId xmlns:a16="http://schemas.microsoft.com/office/drawing/2014/main" id="{07EE3C55-A69F-4B2D-A7E0-160FEB076FB6}"/>
              </a:ext>
            </a:extLst>
          </p:cNvPr>
          <p:cNvSpPr>
            <a:spLocks xmlns:a="http://schemas.openxmlformats.org/drawingml/2006/main" noGrp="1"/>
          </p:cNvSpPr>
          <p:nvPr/>
        </p:nvSpPr>
        <p:spPr>
          <a:xfrm xmlns:a="http://schemas.openxmlformats.org/drawingml/2006/main">
            <a:off x="868680" y="1905000"/>
            <a:ext cx="22768560" cy="0"/>
          </a:xfrm>
          <a:prstGeom xmlns:a="http://schemas.openxmlformats.org/drawingml/2006/main" prst="line">
            <a:avLst/>
          </a:prstGeom>
          <a:noFill xmlns:a="http://schemas.openxmlformats.org/drawingml/2006/main"/>
          <a:ln xmlns:a="http://schemas.openxmlformats.org/drawingml/2006/main" w="15240">
            <a:solidFill>
              <a:srgbClr val="7544C4"/>
            </a:solidFill>
            <a:prstDash val="solid"/>
          </a:ln>
        </p:spPr>
      </p:sp>
      <p:sp>
        <p:nvSpPr>
          <p:cNvPr id="7" name="shape-42">
            <a:extLst xmlns:a="http://schemas.openxmlformats.org/drawingml/2006/main">
              <a:ext uri="{FF2B5EF4-FFF2-40B4-BE49-F238E27FC236}">
                <a16:creationId xmlns:a16="http://schemas.microsoft.com/office/drawing/2014/main" id="{45DAE13B-640E-4B05-A2F0-AC979F0FB9CF}"/>
              </a:ext>
            </a:extLst>
          </p:cNvPr>
          <p:cNvSpPr>
            <a:spLocks xmlns:a="http://schemas.openxmlformats.org/drawingml/2006/main" noGrp="1"/>
          </p:cNvSpPr>
          <p:nvPr/>
        </p:nvSpPr>
        <p:spPr>
          <a:xfrm xmlns:a="http://schemas.openxmlformats.org/drawingml/2006/main">
            <a:off x="868680" y="13060680"/>
            <a:ext cx="1828800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20" b="0">
                <a:solidFill>
                  <a:srgbClr val="516178"/>
                </a:solidFill>
                <a:latin typeface="Arial"/>
                <a:ea typeface="Arial"/>
                <a:cs typeface="Arial"/>
              </a:defRPr>
            </a:pPr>
            <a:r>
              <a:rPr sz="1920" b="0">
                <a:solidFill>
                  <a:srgbClr val="516178"/>
                </a:solidFill>
                <a:latin typeface="Arial"/>
                <a:ea typeface="Arial"/>
                <a:cs typeface="Arial"/>
              </a:rPr>
              <a:t>SIH26158  /  SOFTWARE  /  DRONE &amp; ROBOTICS</a:t>
            </a:r>
          </a:p>
        </p:txBody>
      </p:sp>
      <p:sp>
        <p:nvSpPr>
          <p:cNvPr id="8" name="shape-43">
            <a:extLst xmlns:a="http://schemas.openxmlformats.org/drawingml/2006/main">
              <a:ext uri="{FF2B5EF4-FFF2-40B4-BE49-F238E27FC236}">
                <a16:creationId xmlns:a16="http://schemas.microsoft.com/office/drawing/2014/main" id="{6EF96CB3-48FD-45DC-8A08-5958B157AAEF}"/>
              </a:ext>
            </a:extLst>
          </p:cNvPr>
          <p:cNvSpPr>
            <a:spLocks xmlns:a="http://schemas.openxmlformats.org/drawingml/2006/main" noGrp="1"/>
          </p:cNvSpPr>
          <p:nvPr/>
        </p:nvSpPr>
        <p:spPr>
          <a:xfrm xmlns:a="http://schemas.openxmlformats.org/drawingml/2006/main">
            <a:off x="22555200" y="13060680"/>
            <a:ext cx="109728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2040" b="0">
                <a:solidFill>
                  <a:srgbClr val="516178"/>
                </a:solidFill>
                <a:latin typeface="Arial"/>
                <a:ea typeface="Arial"/>
                <a:cs typeface="Arial"/>
              </a:defRPr>
            </a:pPr>
            <a:r>
              <a:rPr sz="2040" b="0">
                <a:solidFill>
                  <a:srgbClr val="516178"/>
                </a:solidFill>
                <a:latin typeface="Arial"/>
                <a:ea typeface="Arial"/>
                <a:cs typeface="Arial"/>
              </a:rPr>
              <a:t>03 / 06</a:t>
            </a:r>
          </a:p>
        </p:txBody>
      </p:sp>
      <p:sp>
        <p:nvSpPr>
          <p:cNvPr id="9" name="shape-44">
            <a:extLst xmlns:a="http://schemas.openxmlformats.org/drawingml/2006/main">
              <a:ext uri="{FF2B5EF4-FFF2-40B4-BE49-F238E27FC236}">
                <a16:creationId xmlns:a16="http://schemas.microsoft.com/office/drawing/2014/main" id="{F2FF4E48-90D1-400C-84A7-C3BC5D686A7C}"/>
              </a:ext>
            </a:extLst>
          </p:cNvPr>
          <p:cNvSpPr>
            <a:spLocks xmlns:a="http://schemas.openxmlformats.org/drawingml/2006/main" noGrp="1"/>
          </p:cNvSpPr>
          <p:nvPr/>
        </p:nvSpPr>
        <p:spPr>
          <a:xfrm xmlns:a="http://schemas.openxmlformats.org/drawingml/2006/main">
            <a:off x="868680" y="2301240"/>
            <a:ext cx="227076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4800" b="1">
                <a:solidFill>
                  <a:srgbClr val="14243B"/>
                </a:solidFill>
                <a:latin typeface="Arial"/>
                <a:ea typeface="Arial"/>
                <a:cs typeface="Arial"/>
              </a:defRPr>
            </a:pPr>
            <a:r>
              <a:rPr sz="4800" b="1">
                <a:solidFill>
                  <a:srgbClr val="14243B"/>
                </a:solidFill>
                <a:latin typeface="Arial"/>
                <a:ea typeface="Arial"/>
                <a:cs typeface="Arial"/>
              </a:rPr>
              <a:t>Calibrated reconstruction and web delivery</a:t>
            </a:r>
          </a:p>
        </p:txBody>
      </p:sp>
      <p:sp>
        <p:nvSpPr>
          <p:cNvPr id="10" name="shape-45">
            <a:extLst xmlns:a="http://schemas.openxmlformats.org/drawingml/2006/main">
              <a:ext uri="{FF2B5EF4-FFF2-40B4-BE49-F238E27FC236}">
                <a16:creationId xmlns:a16="http://schemas.microsoft.com/office/drawing/2014/main" id="{BD2439E8-8AB4-43DD-9A93-D800867BB8F9}"/>
              </a:ext>
            </a:extLst>
          </p:cNvPr>
          <p:cNvSpPr>
            <a:spLocks xmlns:a="http://schemas.openxmlformats.org/drawingml/2006/main" noGrp="1"/>
          </p:cNvSpPr>
          <p:nvPr/>
        </p:nvSpPr>
        <p:spPr>
          <a:xfrm xmlns:a="http://schemas.openxmlformats.org/drawingml/2006/main">
            <a:off x="899160" y="3261360"/>
            <a:ext cx="2263140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The saved reconstruction and default upload preview share models, but use different processing paths.</a:t>
            </a:r>
          </a:p>
        </p:txBody>
      </p:sp>
      <p:sp>
        <p:nvSpPr>
          <p:cNvPr id="11" name="shape-46">
            <a:extLst xmlns:a="http://schemas.openxmlformats.org/drawingml/2006/main">
              <a:ext uri="{FF2B5EF4-FFF2-40B4-BE49-F238E27FC236}">
                <a16:creationId xmlns:a16="http://schemas.microsoft.com/office/drawing/2014/main" id="{2EB8640D-1094-40E3-9754-9D45A05524C3}"/>
              </a:ext>
            </a:extLst>
          </p:cNvPr>
          <p:cNvSpPr>
            <a:spLocks xmlns:a="http://schemas.openxmlformats.org/drawingml/2006/main" noGrp="1"/>
          </p:cNvSpPr>
          <p:nvPr/>
        </p:nvSpPr>
        <p:spPr>
          <a:xfrm xmlns:a="http://schemas.openxmlformats.org/drawingml/2006/main">
            <a:off x="883920" y="4236720"/>
            <a:ext cx="121920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400" b="1">
                <a:solidFill>
                  <a:srgbClr val="2464C7"/>
                </a:solidFill>
                <a:latin typeface="Arial"/>
                <a:ea typeface="Arial"/>
                <a:cs typeface="Arial"/>
              </a:defRPr>
            </a:pPr>
            <a:r>
              <a:rPr sz="2400" b="1">
                <a:solidFill>
                  <a:srgbClr val="2464C7"/>
                </a:solidFill>
                <a:latin typeface="Arial"/>
                <a:ea typeface="Arial"/>
                <a:cs typeface="Arial"/>
              </a:rPr>
              <a:t>SAVED RECONSTRUCTION</a:t>
            </a:r>
          </a:p>
        </p:txBody>
      </p:sp>
      <p:sp>
        <p:nvSpPr>
          <p:cNvPr id="12" name="shape-47">
            <a:extLst xmlns:a="http://schemas.openxmlformats.org/drawingml/2006/main">
              <a:ext uri="{FF2B5EF4-FFF2-40B4-BE49-F238E27FC236}">
                <a16:creationId xmlns:a16="http://schemas.microsoft.com/office/drawing/2014/main" id="{E2EF99B8-FF4E-4675-9729-9BE89E53284F}"/>
              </a:ext>
            </a:extLst>
          </p:cNvPr>
          <p:cNvSpPr>
            <a:spLocks xmlns:a="http://schemas.openxmlformats.org/drawingml/2006/main" noGrp="1"/>
          </p:cNvSpPr>
          <p:nvPr/>
        </p:nvSpPr>
        <p:spPr>
          <a:xfrm xmlns:a="http://schemas.openxmlformats.org/drawingml/2006/main">
            <a:off x="883920" y="4998720"/>
            <a:ext cx="5151120" cy="368808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13" name="shape-48">
            <a:extLst xmlns:a="http://schemas.openxmlformats.org/drawingml/2006/main">
              <a:ext uri="{FF2B5EF4-FFF2-40B4-BE49-F238E27FC236}">
                <a16:creationId xmlns:a16="http://schemas.microsoft.com/office/drawing/2014/main" id="{A0F95502-62CF-409F-809F-7D3EBF14A000}"/>
              </a:ext>
            </a:extLst>
          </p:cNvPr>
          <p:cNvSpPr>
            <a:spLocks xmlns:a="http://schemas.openxmlformats.org/drawingml/2006/main" noGrp="1"/>
          </p:cNvSpPr>
          <p:nvPr/>
        </p:nvSpPr>
        <p:spPr>
          <a:xfrm xmlns:a="http://schemas.openxmlformats.org/drawingml/2006/main">
            <a:off x="1158240" y="5212080"/>
            <a:ext cx="97536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600" b="1">
                <a:solidFill>
                  <a:srgbClr val="2464C7"/>
                </a:solidFill>
                <a:latin typeface="Arial"/>
                <a:ea typeface="Arial"/>
                <a:cs typeface="Arial"/>
              </a:defRPr>
            </a:pPr>
            <a:r>
              <a:rPr sz="3600" b="1">
                <a:solidFill>
                  <a:srgbClr val="2464C7"/>
                </a:solidFill>
                <a:latin typeface="Arial"/>
                <a:ea typeface="Arial"/>
                <a:cs typeface="Arial"/>
              </a:rPr>
              <a:t>01</a:t>
            </a:r>
          </a:p>
        </p:txBody>
      </p:sp>
      <p:sp>
        <p:nvSpPr>
          <p:cNvPr id="14" name="shape-49">
            <a:extLst xmlns:a="http://schemas.openxmlformats.org/drawingml/2006/main">
              <a:ext uri="{FF2B5EF4-FFF2-40B4-BE49-F238E27FC236}">
                <a16:creationId xmlns:a16="http://schemas.microsoft.com/office/drawing/2014/main" id="{7182AAF2-63E2-4428-AE70-CD9AE41FA51F}"/>
              </a:ext>
            </a:extLst>
          </p:cNvPr>
          <p:cNvSpPr>
            <a:spLocks xmlns:a="http://schemas.openxmlformats.org/drawingml/2006/main" noGrp="1"/>
          </p:cNvSpPr>
          <p:nvPr/>
        </p:nvSpPr>
        <p:spPr>
          <a:xfrm xmlns:a="http://schemas.openxmlformats.org/drawingml/2006/main">
            <a:off x="1158240" y="6004560"/>
            <a:ext cx="461772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120" b="1">
                <a:solidFill>
                  <a:srgbClr val="2464C7"/>
                </a:solidFill>
                <a:latin typeface="Arial"/>
                <a:ea typeface="Arial"/>
                <a:cs typeface="Arial"/>
              </a:defRPr>
            </a:pPr>
            <a:r>
              <a:rPr sz="3120" b="1">
                <a:solidFill>
                  <a:srgbClr val="2464C7"/>
                </a:solidFill>
                <a:latin typeface="Arial"/>
                <a:ea typeface="Arial"/>
                <a:cs typeface="Arial"/>
              </a:rPr>
              <a:t>Locate the cameras</a:t>
            </a:r>
          </a:p>
        </p:txBody>
      </p:sp>
      <p:sp>
        <p:nvSpPr>
          <p:cNvPr id="15" name="shape-50">
            <a:extLst xmlns:a="http://schemas.openxmlformats.org/drawingml/2006/main">
              <a:ext uri="{FF2B5EF4-FFF2-40B4-BE49-F238E27FC236}">
                <a16:creationId xmlns:a16="http://schemas.microsoft.com/office/drawing/2014/main" id="{A23ED09B-EF14-46EC-BAD9-185404E04F45}"/>
              </a:ext>
            </a:extLst>
          </p:cNvPr>
          <p:cNvSpPr>
            <a:spLocks xmlns:a="http://schemas.openxmlformats.org/drawingml/2006/main" noGrp="1"/>
          </p:cNvSpPr>
          <p:nvPr/>
        </p:nvSpPr>
        <p:spPr>
          <a:xfrm xmlns:a="http://schemas.openxmlformats.org/drawingml/2006/main">
            <a:off x="1158240" y="6781800"/>
            <a:ext cx="461772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1">
                <a:solidFill>
                  <a:srgbClr val="14243B"/>
                </a:solidFill>
                <a:latin typeface="Arial"/>
                <a:ea typeface="Arial"/>
                <a:cs typeface="Arial"/>
              </a:defRPr>
            </a:pPr>
            <a:r>
              <a:rPr sz="2640" b="1">
                <a:solidFill>
                  <a:srgbClr val="14243B"/>
                </a:solidFill>
                <a:latin typeface="Arial"/>
                <a:ea typeface="Arial"/>
                <a:cs typeface="Arial"/>
              </a:rPr>
              <a:t>COLMAP / PyCOLMAP</a:t>
            </a:r>
          </a:p>
        </p:txBody>
      </p:sp>
      <p:sp>
        <p:nvSpPr>
          <p:cNvPr id="16" name="shape-51">
            <a:extLst xmlns:a="http://schemas.openxmlformats.org/drawingml/2006/main">
              <a:ext uri="{FF2B5EF4-FFF2-40B4-BE49-F238E27FC236}">
                <a16:creationId xmlns:a16="http://schemas.microsoft.com/office/drawing/2014/main" id="{B3CE83D4-1B78-4D56-8A6F-4C9D679B0E60}"/>
              </a:ext>
            </a:extLst>
          </p:cNvPr>
          <p:cNvSpPr>
            <a:spLocks xmlns:a="http://schemas.openxmlformats.org/drawingml/2006/main" noGrp="1"/>
          </p:cNvSpPr>
          <p:nvPr/>
        </p:nvSpPr>
        <p:spPr>
          <a:xfrm xmlns:a="http://schemas.openxmlformats.org/drawingml/2006/main">
            <a:off x="1158240" y="7513320"/>
            <a:ext cx="4632960" cy="960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Calibrated feature matching</a:t>
            </a:r>
          </a:p>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and bundle adjustment</a:t>
            </a:r>
          </a:p>
        </p:txBody>
      </p:sp>
      <p:sp>
        <p:nvSpPr>
          <p:cNvPr id="17" name="shape-52">
            <a:extLst xmlns:a="http://schemas.openxmlformats.org/drawingml/2006/main">
              <a:ext uri="{FF2B5EF4-FFF2-40B4-BE49-F238E27FC236}">
                <a16:creationId xmlns:a16="http://schemas.microsoft.com/office/drawing/2014/main" id="{A23CB649-1171-4606-9660-A0B83169DFA4}"/>
              </a:ext>
            </a:extLst>
          </p:cNvPr>
          <p:cNvSpPr>
            <a:spLocks xmlns:a="http://schemas.openxmlformats.org/drawingml/2006/main" noGrp="1"/>
          </p:cNvSpPr>
          <p:nvPr/>
        </p:nvSpPr>
        <p:spPr>
          <a:xfrm xmlns:a="http://schemas.openxmlformats.org/drawingml/2006/main">
            <a:off x="6751320" y="4998720"/>
            <a:ext cx="5166360" cy="3688080"/>
          </a:xfrm>
          <a:prstGeom xmlns:a="http://schemas.openxmlformats.org/drawingml/2006/main" prst="rect">
            <a:avLst/>
          </a:prstGeom>
          <a:solidFill xmlns:a="http://schemas.openxmlformats.org/drawingml/2006/main">
            <a:srgbClr val="F0E8FC"/>
          </a:solidFill>
          <a:ln xmlns:a="http://schemas.openxmlformats.org/drawingml/2006/main" w="0">
            <a:noFill/>
            <a:prstDash val="solid"/>
          </a:ln>
        </p:spPr>
      </p:sp>
      <p:sp>
        <p:nvSpPr>
          <p:cNvPr id="18" name="shape-53">
            <a:extLst xmlns:a="http://schemas.openxmlformats.org/drawingml/2006/main">
              <a:ext uri="{FF2B5EF4-FFF2-40B4-BE49-F238E27FC236}">
                <a16:creationId xmlns:a16="http://schemas.microsoft.com/office/drawing/2014/main" id="{65759284-F086-4365-8316-DD5B88710C8A}"/>
              </a:ext>
            </a:extLst>
          </p:cNvPr>
          <p:cNvSpPr>
            <a:spLocks xmlns:a="http://schemas.openxmlformats.org/drawingml/2006/main" noGrp="1"/>
          </p:cNvSpPr>
          <p:nvPr/>
        </p:nvSpPr>
        <p:spPr>
          <a:xfrm xmlns:a="http://schemas.openxmlformats.org/drawingml/2006/main">
            <a:off x="7025640" y="5212080"/>
            <a:ext cx="97536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600" b="1">
                <a:solidFill>
                  <a:srgbClr val="7544C4"/>
                </a:solidFill>
                <a:latin typeface="Arial"/>
                <a:ea typeface="Arial"/>
                <a:cs typeface="Arial"/>
              </a:defRPr>
            </a:pPr>
            <a:r>
              <a:rPr sz="3600" b="1">
                <a:solidFill>
                  <a:srgbClr val="7544C4"/>
                </a:solidFill>
                <a:latin typeface="Arial"/>
                <a:ea typeface="Arial"/>
                <a:cs typeface="Arial"/>
              </a:rPr>
              <a:t>02</a:t>
            </a:r>
          </a:p>
        </p:txBody>
      </p:sp>
      <p:sp>
        <p:nvSpPr>
          <p:cNvPr id="19" name="shape-54">
            <a:extLst xmlns:a="http://schemas.openxmlformats.org/drawingml/2006/main">
              <a:ext uri="{FF2B5EF4-FFF2-40B4-BE49-F238E27FC236}">
                <a16:creationId xmlns:a16="http://schemas.microsoft.com/office/drawing/2014/main" id="{C2D484DB-056B-4543-9A78-320BA9F667C3}"/>
              </a:ext>
            </a:extLst>
          </p:cNvPr>
          <p:cNvSpPr>
            <a:spLocks xmlns:a="http://schemas.openxmlformats.org/drawingml/2006/main" noGrp="1"/>
          </p:cNvSpPr>
          <p:nvPr/>
        </p:nvSpPr>
        <p:spPr>
          <a:xfrm xmlns:a="http://schemas.openxmlformats.org/drawingml/2006/main">
            <a:off x="7025640" y="6004560"/>
            <a:ext cx="463296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120" b="1">
                <a:solidFill>
                  <a:srgbClr val="7544C4"/>
                </a:solidFill>
                <a:latin typeface="Arial"/>
                <a:ea typeface="Arial"/>
                <a:cs typeface="Arial"/>
              </a:defRPr>
            </a:pPr>
            <a:r>
              <a:rPr sz="3120" b="1">
                <a:solidFill>
                  <a:srgbClr val="7544C4"/>
                </a:solidFill>
                <a:latin typeface="Arial"/>
                <a:ea typeface="Arial"/>
                <a:cs typeface="Arial"/>
              </a:rPr>
              <a:t>Predict dense depth</a:t>
            </a:r>
          </a:p>
        </p:txBody>
      </p:sp>
      <p:sp>
        <p:nvSpPr>
          <p:cNvPr id="20" name="shape-55">
            <a:extLst xmlns:a="http://schemas.openxmlformats.org/drawingml/2006/main">
              <a:ext uri="{FF2B5EF4-FFF2-40B4-BE49-F238E27FC236}">
                <a16:creationId xmlns:a16="http://schemas.microsoft.com/office/drawing/2014/main" id="{6A30CC52-73B6-4EBA-ADC9-DB5F91C87F40}"/>
              </a:ext>
            </a:extLst>
          </p:cNvPr>
          <p:cNvSpPr>
            <a:spLocks xmlns:a="http://schemas.openxmlformats.org/drawingml/2006/main" noGrp="1"/>
          </p:cNvSpPr>
          <p:nvPr/>
        </p:nvSpPr>
        <p:spPr>
          <a:xfrm xmlns:a="http://schemas.openxmlformats.org/drawingml/2006/main">
            <a:off x="7025640" y="6781800"/>
            <a:ext cx="463296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1">
                <a:solidFill>
                  <a:srgbClr val="14243B"/>
                </a:solidFill>
                <a:latin typeface="Arial"/>
                <a:ea typeface="Arial"/>
                <a:cs typeface="Arial"/>
              </a:defRPr>
            </a:pPr>
            <a:r>
              <a:rPr sz="2640" b="1">
                <a:solidFill>
                  <a:srgbClr val="14243B"/>
                </a:solidFill>
                <a:latin typeface="Arial"/>
                <a:ea typeface="Arial"/>
                <a:cs typeface="Arial"/>
              </a:rPr>
              <a:t>MapAnything / PyTorch</a:t>
            </a:r>
          </a:p>
        </p:txBody>
      </p:sp>
      <p:sp>
        <p:nvSpPr>
          <p:cNvPr id="21" name="shape-56">
            <a:extLst xmlns:a="http://schemas.openxmlformats.org/drawingml/2006/main">
              <a:ext uri="{FF2B5EF4-FFF2-40B4-BE49-F238E27FC236}">
                <a16:creationId xmlns:a16="http://schemas.microsoft.com/office/drawing/2014/main" id="{5926BD1B-486B-4C1C-86E8-5465D44CC475}"/>
              </a:ext>
            </a:extLst>
          </p:cNvPr>
          <p:cNvSpPr>
            <a:spLocks xmlns:a="http://schemas.openxmlformats.org/drawingml/2006/main" noGrp="1"/>
          </p:cNvSpPr>
          <p:nvPr/>
        </p:nvSpPr>
        <p:spPr>
          <a:xfrm xmlns:a="http://schemas.openxmlformats.org/drawingml/2006/main">
            <a:off x="7025640" y="7513320"/>
            <a:ext cx="4648200" cy="960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Visual pose priors</a:t>
            </a:r>
          </a:p>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24-view windows, overlap 2</a:t>
            </a:r>
          </a:p>
        </p:txBody>
      </p:sp>
      <p:sp>
        <p:nvSpPr>
          <p:cNvPr id="22" name="shape-57">
            <a:extLst xmlns:a="http://schemas.openxmlformats.org/drawingml/2006/main">
              <a:ext uri="{FF2B5EF4-FFF2-40B4-BE49-F238E27FC236}">
                <a16:creationId xmlns:a16="http://schemas.microsoft.com/office/drawing/2014/main" id="{611E4D2C-A74B-448C-8C2D-AF10D9E89DE3}"/>
              </a:ext>
            </a:extLst>
          </p:cNvPr>
          <p:cNvSpPr>
            <a:spLocks xmlns:a="http://schemas.openxmlformats.org/drawingml/2006/main" noGrp="1"/>
          </p:cNvSpPr>
          <p:nvPr/>
        </p:nvSpPr>
        <p:spPr>
          <a:xfrm xmlns:a="http://schemas.openxmlformats.org/drawingml/2006/main">
            <a:off x="12633960" y="4998720"/>
            <a:ext cx="5166360" cy="3688080"/>
          </a:xfrm>
          <a:prstGeom xmlns:a="http://schemas.openxmlformats.org/drawingml/2006/main" prst="rect">
            <a:avLst/>
          </a:prstGeom>
          <a:solidFill xmlns:a="http://schemas.openxmlformats.org/drawingml/2006/main">
            <a:srgbClr val="E2F5EE"/>
          </a:solidFill>
          <a:ln xmlns:a="http://schemas.openxmlformats.org/drawingml/2006/main" w="0">
            <a:noFill/>
            <a:prstDash val="solid"/>
          </a:ln>
        </p:spPr>
      </p:sp>
      <p:sp>
        <p:nvSpPr>
          <p:cNvPr id="23" name="shape-58">
            <a:extLst xmlns:a="http://schemas.openxmlformats.org/drawingml/2006/main">
              <a:ext uri="{FF2B5EF4-FFF2-40B4-BE49-F238E27FC236}">
                <a16:creationId xmlns:a16="http://schemas.microsoft.com/office/drawing/2014/main" id="{6210FA8C-0213-4667-82E2-25D6B3C214FC}"/>
              </a:ext>
            </a:extLst>
          </p:cNvPr>
          <p:cNvSpPr>
            <a:spLocks xmlns:a="http://schemas.openxmlformats.org/drawingml/2006/main" noGrp="1"/>
          </p:cNvSpPr>
          <p:nvPr/>
        </p:nvSpPr>
        <p:spPr>
          <a:xfrm xmlns:a="http://schemas.openxmlformats.org/drawingml/2006/main">
            <a:off x="12908280" y="5212080"/>
            <a:ext cx="97536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600" b="1">
                <a:solidFill>
                  <a:srgbClr val="087E70"/>
                </a:solidFill>
                <a:latin typeface="Arial"/>
                <a:ea typeface="Arial"/>
                <a:cs typeface="Arial"/>
              </a:defRPr>
            </a:pPr>
            <a:r>
              <a:rPr sz="3600" b="1">
                <a:solidFill>
                  <a:srgbClr val="087E70"/>
                </a:solidFill>
                <a:latin typeface="Arial"/>
                <a:ea typeface="Arial"/>
                <a:cs typeface="Arial"/>
              </a:rPr>
              <a:t>03</a:t>
            </a:r>
          </a:p>
        </p:txBody>
      </p:sp>
      <p:sp>
        <p:nvSpPr>
          <p:cNvPr id="24" name="shape-59">
            <a:extLst xmlns:a="http://schemas.openxmlformats.org/drawingml/2006/main">
              <a:ext uri="{FF2B5EF4-FFF2-40B4-BE49-F238E27FC236}">
                <a16:creationId xmlns:a16="http://schemas.microsoft.com/office/drawing/2014/main" id="{55015145-B07A-454F-BC8F-11CAE319CCFD}"/>
              </a:ext>
            </a:extLst>
          </p:cNvPr>
          <p:cNvSpPr>
            <a:spLocks xmlns:a="http://schemas.openxmlformats.org/drawingml/2006/main" noGrp="1"/>
          </p:cNvSpPr>
          <p:nvPr/>
        </p:nvSpPr>
        <p:spPr>
          <a:xfrm xmlns:a="http://schemas.openxmlformats.org/drawingml/2006/main">
            <a:off x="12908280" y="6004560"/>
            <a:ext cx="463296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120" b="1">
                <a:solidFill>
                  <a:srgbClr val="087E70"/>
                </a:solidFill>
                <a:latin typeface="Arial"/>
                <a:ea typeface="Arial"/>
                <a:cs typeface="Arial"/>
              </a:defRPr>
            </a:pPr>
            <a:r>
              <a:rPr sz="3120" b="1">
                <a:solidFill>
                  <a:srgbClr val="087E70"/>
                </a:solidFill>
                <a:latin typeface="Arial"/>
                <a:ea typeface="Arial"/>
                <a:cs typeface="Arial"/>
              </a:rPr>
              <a:t>Fuse the surface</a:t>
            </a:r>
          </a:p>
        </p:txBody>
      </p:sp>
      <p:sp>
        <p:nvSpPr>
          <p:cNvPr id="25" name="shape-60">
            <a:extLst xmlns:a="http://schemas.openxmlformats.org/drawingml/2006/main">
              <a:ext uri="{FF2B5EF4-FFF2-40B4-BE49-F238E27FC236}">
                <a16:creationId xmlns:a16="http://schemas.microsoft.com/office/drawing/2014/main" id="{31B56913-5D78-4C89-B2F3-9BDB00760B56}"/>
              </a:ext>
            </a:extLst>
          </p:cNvPr>
          <p:cNvSpPr>
            <a:spLocks xmlns:a="http://schemas.openxmlformats.org/drawingml/2006/main" noGrp="1"/>
          </p:cNvSpPr>
          <p:nvPr/>
        </p:nvSpPr>
        <p:spPr>
          <a:xfrm xmlns:a="http://schemas.openxmlformats.org/drawingml/2006/main">
            <a:off x="12908280" y="6781800"/>
            <a:ext cx="463296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1">
                <a:solidFill>
                  <a:srgbClr val="14243B"/>
                </a:solidFill>
                <a:latin typeface="Arial"/>
                <a:ea typeface="Arial"/>
                <a:cs typeface="Arial"/>
              </a:defRPr>
            </a:pPr>
            <a:r>
              <a:rPr sz="2640" b="1">
                <a:solidFill>
                  <a:srgbClr val="14243B"/>
                </a:solidFill>
                <a:latin typeface="Arial"/>
                <a:ea typeface="Arial"/>
                <a:cs typeface="Arial"/>
              </a:rPr>
              <a:t>Open3D / TSDF</a:t>
            </a:r>
          </a:p>
        </p:txBody>
      </p:sp>
      <p:sp>
        <p:nvSpPr>
          <p:cNvPr id="26" name="shape-61">
            <a:extLst xmlns:a="http://schemas.openxmlformats.org/drawingml/2006/main">
              <a:ext uri="{FF2B5EF4-FFF2-40B4-BE49-F238E27FC236}">
                <a16:creationId xmlns:a16="http://schemas.microsoft.com/office/drawing/2014/main" id="{46FD600B-611E-4F56-A24F-7E306572376F}"/>
              </a:ext>
            </a:extLst>
          </p:cNvPr>
          <p:cNvSpPr>
            <a:spLocks xmlns:a="http://schemas.openxmlformats.org/drawingml/2006/main" noGrp="1"/>
          </p:cNvSpPr>
          <p:nvPr/>
        </p:nvSpPr>
        <p:spPr>
          <a:xfrm xmlns:a="http://schemas.openxmlformats.org/drawingml/2006/main">
            <a:off x="12908280" y="7513320"/>
            <a:ext cx="4648200" cy="960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Cross-view depth checks</a:t>
            </a:r>
          </a:p>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8 cm fusion voxel setting</a:t>
            </a:r>
          </a:p>
        </p:txBody>
      </p:sp>
      <p:sp>
        <p:nvSpPr>
          <p:cNvPr id="27" name="shape-62">
            <a:extLst xmlns:a="http://schemas.openxmlformats.org/drawingml/2006/main">
              <a:ext uri="{FF2B5EF4-FFF2-40B4-BE49-F238E27FC236}">
                <a16:creationId xmlns:a16="http://schemas.microsoft.com/office/drawing/2014/main" id="{56E52C38-0CF8-4B0F-AB9E-D520CE102919}"/>
              </a:ext>
            </a:extLst>
          </p:cNvPr>
          <p:cNvSpPr>
            <a:spLocks xmlns:a="http://schemas.openxmlformats.org/drawingml/2006/main" noGrp="1"/>
          </p:cNvSpPr>
          <p:nvPr/>
        </p:nvSpPr>
        <p:spPr>
          <a:xfrm xmlns:a="http://schemas.openxmlformats.org/drawingml/2006/main">
            <a:off x="18516600" y="4998720"/>
            <a:ext cx="5135880" cy="3688080"/>
          </a:xfrm>
          <a:prstGeom xmlns:a="http://schemas.openxmlformats.org/drawingml/2006/main" prst="rect">
            <a:avLst/>
          </a:prstGeom>
          <a:solidFill xmlns:a="http://schemas.openxmlformats.org/drawingml/2006/main">
            <a:srgbClr val="FFF0E8"/>
          </a:solidFill>
          <a:ln xmlns:a="http://schemas.openxmlformats.org/drawingml/2006/main" w="0">
            <a:noFill/>
            <a:prstDash val="solid"/>
          </a:ln>
        </p:spPr>
      </p:sp>
      <p:sp>
        <p:nvSpPr>
          <p:cNvPr id="28" name="shape-63">
            <a:extLst xmlns:a="http://schemas.openxmlformats.org/drawingml/2006/main">
              <a:ext uri="{FF2B5EF4-FFF2-40B4-BE49-F238E27FC236}">
                <a16:creationId xmlns:a16="http://schemas.microsoft.com/office/drawing/2014/main" id="{D5C8CB2F-7FA2-47A2-A84C-8D90D1D7347A}"/>
              </a:ext>
            </a:extLst>
          </p:cNvPr>
          <p:cNvSpPr>
            <a:spLocks xmlns:a="http://schemas.openxmlformats.org/drawingml/2006/main" noGrp="1"/>
          </p:cNvSpPr>
          <p:nvPr/>
        </p:nvSpPr>
        <p:spPr>
          <a:xfrm xmlns:a="http://schemas.openxmlformats.org/drawingml/2006/main">
            <a:off x="18790920" y="5212080"/>
            <a:ext cx="97536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600" b="1">
                <a:solidFill>
                  <a:srgbClr val="C84D35"/>
                </a:solidFill>
                <a:latin typeface="Arial"/>
                <a:ea typeface="Arial"/>
                <a:cs typeface="Arial"/>
              </a:defRPr>
            </a:pPr>
            <a:r>
              <a:rPr sz="3600" b="1">
                <a:solidFill>
                  <a:srgbClr val="C84D35"/>
                </a:solidFill>
                <a:latin typeface="Arial"/>
                <a:ea typeface="Arial"/>
                <a:cs typeface="Arial"/>
              </a:rPr>
              <a:t>04</a:t>
            </a:r>
          </a:p>
        </p:txBody>
      </p:sp>
      <p:sp>
        <p:nvSpPr>
          <p:cNvPr id="29" name="shape-64">
            <a:extLst xmlns:a="http://schemas.openxmlformats.org/drawingml/2006/main">
              <a:ext uri="{FF2B5EF4-FFF2-40B4-BE49-F238E27FC236}">
                <a16:creationId xmlns:a16="http://schemas.microsoft.com/office/drawing/2014/main" id="{438165ED-8C7D-46B7-837E-2CD9818D9F0C}"/>
              </a:ext>
            </a:extLst>
          </p:cNvPr>
          <p:cNvSpPr>
            <a:spLocks xmlns:a="http://schemas.openxmlformats.org/drawingml/2006/main" noGrp="1"/>
          </p:cNvSpPr>
          <p:nvPr/>
        </p:nvSpPr>
        <p:spPr>
          <a:xfrm xmlns:a="http://schemas.openxmlformats.org/drawingml/2006/main">
            <a:off x="18790920" y="6004560"/>
            <a:ext cx="460248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120" b="1">
                <a:solidFill>
                  <a:srgbClr val="C84D35"/>
                </a:solidFill>
                <a:latin typeface="Arial"/>
                <a:ea typeface="Arial"/>
                <a:cs typeface="Arial"/>
              </a:defRPr>
            </a:pPr>
            <a:r>
              <a:rPr sz="3120" b="1">
                <a:solidFill>
                  <a:srgbClr val="C84D35"/>
                </a:solidFill>
                <a:latin typeface="Arial"/>
                <a:ea typeface="Arial"/>
                <a:cs typeface="Arial"/>
              </a:rPr>
              <a:t>Texture and reference</a:t>
            </a:r>
          </a:p>
        </p:txBody>
      </p:sp>
      <p:sp>
        <p:nvSpPr>
          <p:cNvPr id="30" name="shape-65">
            <a:extLst xmlns:a="http://schemas.openxmlformats.org/drawingml/2006/main">
              <a:ext uri="{FF2B5EF4-FFF2-40B4-BE49-F238E27FC236}">
                <a16:creationId xmlns:a16="http://schemas.microsoft.com/office/drawing/2014/main" id="{4F1470CF-9435-4B99-9642-89BB71D01663}"/>
              </a:ext>
            </a:extLst>
          </p:cNvPr>
          <p:cNvSpPr>
            <a:spLocks xmlns:a="http://schemas.openxmlformats.org/drawingml/2006/main" noGrp="1"/>
          </p:cNvSpPr>
          <p:nvPr/>
        </p:nvSpPr>
        <p:spPr>
          <a:xfrm xmlns:a="http://schemas.openxmlformats.org/drawingml/2006/main">
            <a:off x="18790920" y="6781800"/>
            <a:ext cx="460248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1">
                <a:solidFill>
                  <a:srgbClr val="14243B"/>
                </a:solidFill>
                <a:latin typeface="Arial"/>
                <a:ea typeface="Arial"/>
                <a:cs typeface="Arial"/>
              </a:defRPr>
            </a:pPr>
            <a:r>
              <a:rPr sz="2640" b="1">
                <a:solidFill>
                  <a:srgbClr val="14243B"/>
                </a:solidFill>
                <a:latin typeface="Arial"/>
                <a:ea typeface="Arial"/>
                <a:cs typeface="Arial"/>
              </a:rPr>
              <a:t>Source images + GPS</a:t>
            </a:r>
          </a:p>
        </p:txBody>
      </p:sp>
      <p:sp>
        <p:nvSpPr>
          <p:cNvPr id="31" name="shape-66">
            <a:extLst xmlns:a="http://schemas.openxmlformats.org/drawingml/2006/main">
              <a:ext uri="{FF2B5EF4-FFF2-40B4-BE49-F238E27FC236}">
                <a16:creationId xmlns:a16="http://schemas.microsoft.com/office/drawing/2014/main" id="{D3BBAE4F-DCAF-4B23-BAC0-A7EB980D885C}"/>
              </a:ext>
            </a:extLst>
          </p:cNvPr>
          <p:cNvSpPr>
            <a:spLocks xmlns:a="http://schemas.openxmlformats.org/drawingml/2006/main" noGrp="1"/>
          </p:cNvSpPr>
          <p:nvPr/>
        </p:nvSpPr>
        <p:spPr>
          <a:xfrm xmlns:a="http://schemas.openxmlformats.org/drawingml/2006/main">
            <a:off x="18790920" y="7513320"/>
            <a:ext cx="4617720" cy="960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Camera-image texture atlas</a:t>
            </a:r>
          </a:p>
          <a:p xmlns:a="http://schemas.openxmlformats.org/drawingml/2006/main">
            <a:pPr algn="l">
              <a:lnSpc>
                <a:spcPct val="108000"/>
              </a:lnSpc>
              <a:buNone/>
              <a:defRPr sz="2640" b="0">
                <a:solidFill>
                  <a:srgbClr val="516178"/>
                </a:solidFill>
                <a:latin typeface="Arial"/>
                <a:ea typeface="Arial"/>
                <a:cs typeface="Arial"/>
              </a:defRPr>
            </a:pPr>
            <a:r>
              <a:rPr sz="2640" b="0">
                <a:solidFill>
                  <a:srgbClr val="516178"/>
                </a:solidFill>
                <a:latin typeface="Arial"/>
                <a:ea typeface="Arial"/>
                <a:cs typeface="Arial"/>
              </a:rPr>
              <a:t>Separate GPS / UTM exports</a:t>
            </a:r>
          </a:p>
        </p:txBody>
      </p:sp>
      <p:sp>
        <p:nvSpPr>
          <p:cNvPr id="32" name="shape-67">
            <a:extLst xmlns:a="http://schemas.openxmlformats.org/drawingml/2006/main">
              <a:ext uri="{FF2B5EF4-FFF2-40B4-BE49-F238E27FC236}">
                <a16:creationId xmlns:a16="http://schemas.microsoft.com/office/drawing/2014/main" id="{85DFC45E-ECF2-4798-AE94-5999AF2B5291}"/>
              </a:ext>
            </a:extLst>
          </p:cNvPr>
          <p:cNvSpPr>
            <a:spLocks xmlns:a="http://schemas.openxmlformats.org/drawingml/2006/main" noGrp="1"/>
          </p:cNvSpPr>
          <p:nvPr/>
        </p:nvSpPr>
        <p:spPr>
          <a:xfrm xmlns:a="http://schemas.openxmlformats.org/drawingml/2006/main">
            <a:off x="6034278" y="681151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33" name="shape-68">
            <a:extLst xmlns:a="http://schemas.openxmlformats.org/drawingml/2006/main">
              <a:ext uri="{FF2B5EF4-FFF2-40B4-BE49-F238E27FC236}">
                <a16:creationId xmlns:a16="http://schemas.microsoft.com/office/drawing/2014/main" id="{E9410727-EB42-4C46-8D72-32DF73808A3F}"/>
              </a:ext>
            </a:extLst>
          </p:cNvPr>
          <p:cNvSpPr>
            <a:spLocks xmlns:a="http://schemas.openxmlformats.org/drawingml/2006/main" noGrp="1"/>
          </p:cNvSpPr>
          <p:nvPr/>
        </p:nvSpPr>
        <p:spPr>
          <a:xfrm xmlns:a="http://schemas.openxmlformats.org/drawingml/2006/main">
            <a:off x="6750558" y="681151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1" name=""/>
          <p:cNvCxnSpPr>
            <a:stCxn xmlns:a="http://schemas.openxmlformats.org/drawingml/2006/main" id="32" idx="3"/>
            <a:endCxn xmlns:a="http://schemas.openxmlformats.org/drawingml/2006/main" id="33" idx="1"/>
          </p:cNvCxnSpPr>
          <p:nvPr/>
        </p:nvCxnSpPr>
        <p:spPr>
          <a:xfrm xmlns:a="http://schemas.openxmlformats.org/drawingml/2006/main">
            <a:off x="6035802" y="6812280"/>
            <a:ext cx="714756" cy="0"/>
          </a:xfrm>
          <a:prstGeom xmlns:a="http://schemas.openxmlformats.org/drawingml/2006/main" prst="straightConnector1">
            <a:avLst/>
          </a:prstGeom>
          <a:ln xmlns:a="http://schemas.openxmlformats.org/drawingml/2006/main" w="35052">
            <a:solidFill>
              <a:srgbClr val="7544C4"/>
            </a:solidFill>
            <a:prstDash val="solid"/>
          </a:ln>
        </p:spPr>
      </p:cxnSp>
      <p:sp>
        <p:nvSpPr>
          <p:cNvPr id="35" name="shape-69">
            <a:extLst xmlns:a="http://schemas.openxmlformats.org/drawingml/2006/main">
              <a:ext uri="{FF2B5EF4-FFF2-40B4-BE49-F238E27FC236}">
                <a16:creationId xmlns:a16="http://schemas.microsoft.com/office/drawing/2014/main" id="{94CE452C-EA0F-4AFF-BDED-08F5EA8C3AF3}"/>
              </a:ext>
            </a:extLst>
          </p:cNvPr>
          <p:cNvSpPr>
            <a:spLocks xmlns:a="http://schemas.openxmlformats.org/drawingml/2006/main" noGrp="1"/>
          </p:cNvSpPr>
          <p:nvPr/>
        </p:nvSpPr>
        <p:spPr>
          <a:xfrm xmlns:a="http://schemas.openxmlformats.org/drawingml/2006/main" rot="5400000">
            <a:off x="6598920" y="6736080"/>
            <a:ext cx="152400" cy="152400"/>
          </a:xfrm>
          <a:prstGeom xmlns:a="http://schemas.openxmlformats.org/drawingml/2006/main" prst="triangle">
            <a:avLst/>
          </a:prstGeom>
          <a:solidFill xmlns:a="http://schemas.openxmlformats.org/drawingml/2006/main">
            <a:srgbClr val="7544C4"/>
          </a:solidFill>
          <a:ln xmlns:a="http://schemas.openxmlformats.org/drawingml/2006/main" w="0">
            <a:noFill/>
            <a:prstDash val="solid"/>
          </a:ln>
        </p:spPr>
      </p:sp>
      <p:sp>
        <p:nvSpPr>
          <p:cNvPr id="36" name="shape-70">
            <a:extLst xmlns:a="http://schemas.openxmlformats.org/drawingml/2006/main">
              <a:ext uri="{FF2B5EF4-FFF2-40B4-BE49-F238E27FC236}">
                <a16:creationId xmlns:a16="http://schemas.microsoft.com/office/drawing/2014/main" id="{CA26E5FF-6F41-40FD-B538-4F87118B9A2D}"/>
              </a:ext>
            </a:extLst>
          </p:cNvPr>
          <p:cNvSpPr>
            <a:spLocks xmlns:a="http://schemas.openxmlformats.org/drawingml/2006/main" noGrp="1"/>
          </p:cNvSpPr>
          <p:nvPr/>
        </p:nvSpPr>
        <p:spPr>
          <a:xfrm xmlns:a="http://schemas.openxmlformats.org/drawingml/2006/main">
            <a:off x="11916918" y="681151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37" name="shape-71">
            <a:extLst xmlns:a="http://schemas.openxmlformats.org/drawingml/2006/main">
              <a:ext uri="{FF2B5EF4-FFF2-40B4-BE49-F238E27FC236}">
                <a16:creationId xmlns:a16="http://schemas.microsoft.com/office/drawing/2014/main" id="{EE5D4968-0579-4132-A4BE-BDB4BE876EE7}"/>
              </a:ext>
            </a:extLst>
          </p:cNvPr>
          <p:cNvSpPr>
            <a:spLocks xmlns:a="http://schemas.openxmlformats.org/drawingml/2006/main" noGrp="1"/>
          </p:cNvSpPr>
          <p:nvPr/>
        </p:nvSpPr>
        <p:spPr>
          <a:xfrm xmlns:a="http://schemas.openxmlformats.org/drawingml/2006/main">
            <a:off x="12633198" y="681151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5" name=""/>
          <p:cNvCxnSpPr>
            <a:stCxn xmlns:a="http://schemas.openxmlformats.org/drawingml/2006/main" id="36" idx="3"/>
            <a:endCxn xmlns:a="http://schemas.openxmlformats.org/drawingml/2006/main" id="37" idx="1"/>
          </p:cNvCxnSpPr>
          <p:nvPr/>
        </p:nvCxnSpPr>
        <p:spPr>
          <a:xfrm xmlns:a="http://schemas.openxmlformats.org/drawingml/2006/main">
            <a:off x="11918442" y="6812280"/>
            <a:ext cx="714756" cy="0"/>
          </a:xfrm>
          <a:prstGeom xmlns:a="http://schemas.openxmlformats.org/drawingml/2006/main" prst="straightConnector1">
            <a:avLst/>
          </a:prstGeom>
          <a:ln xmlns:a="http://schemas.openxmlformats.org/drawingml/2006/main" w="35052">
            <a:solidFill>
              <a:srgbClr val="087E70"/>
            </a:solidFill>
            <a:prstDash val="solid"/>
          </a:ln>
        </p:spPr>
      </p:cxnSp>
      <p:sp>
        <p:nvSpPr>
          <p:cNvPr id="39" name="shape-72">
            <a:extLst xmlns:a="http://schemas.openxmlformats.org/drawingml/2006/main">
              <a:ext uri="{FF2B5EF4-FFF2-40B4-BE49-F238E27FC236}">
                <a16:creationId xmlns:a16="http://schemas.microsoft.com/office/drawing/2014/main" id="{1981D7A5-3826-4E35-A130-0E3CBEFFE33C}"/>
              </a:ext>
            </a:extLst>
          </p:cNvPr>
          <p:cNvSpPr>
            <a:spLocks xmlns:a="http://schemas.openxmlformats.org/drawingml/2006/main" noGrp="1"/>
          </p:cNvSpPr>
          <p:nvPr/>
        </p:nvSpPr>
        <p:spPr>
          <a:xfrm xmlns:a="http://schemas.openxmlformats.org/drawingml/2006/main" rot="5400000">
            <a:off x="12481560" y="6736080"/>
            <a:ext cx="152400" cy="152400"/>
          </a:xfrm>
          <a:prstGeom xmlns:a="http://schemas.openxmlformats.org/drawingml/2006/main" prst="triangle">
            <a:avLst/>
          </a:prstGeom>
          <a:solidFill xmlns:a="http://schemas.openxmlformats.org/drawingml/2006/main">
            <a:srgbClr val="087E70"/>
          </a:solidFill>
          <a:ln xmlns:a="http://schemas.openxmlformats.org/drawingml/2006/main" w="0">
            <a:noFill/>
            <a:prstDash val="solid"/>
          </a:ln>
        </p:spPr>
      </p:sp>
      <p:sp>
        <p:nvSpPr>
          <p:cNvPr id="40" name="shape-73">
            <a:extLst xmlns:a="http://schemas.openxmlformats.org/drawingml/2006/main">
              <a:ext uri="{FF2B5EF4-FFF2-40B4-BE49-F238E27FC236}">
                <a16:creationId xmlns:a16="http://schemas.microsoft.com/office/drawing/2014/main" id="{7F868960-51AC-4B37-A45A-7C54123FBC97}"/>
              </a:ext>
            </a:extLst>
          </p:cNvPr>
          <p:cNvSpPr>
            <a:spLocks xmlns:a="http://schemas.openxmlformats.org/drawingml/2006/main" noGrp="1"/>
          </p:cNvSpPr>
          <p:nvPr/>
        </p:nvSpPr>
        <p:spPr>
          <a:xfrm xmlns:a="http://schemas.openxmlformats.org/drawingml/2006/main">
            <a:off x="17799558" y="681151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41" name="shape-74">
            <a:extLst xmlns:a="http://schemas.openxmlformats.org/drawingml/2006/main">
              <a:ext uri="{FF2B5EF4-FFF2-40B4-BE49-F238E27FC236}">
                <a16:creationId xmlns:a16="http://schemas.microsoft.com/office/drawing/2014/main" id="{A0CF4AA3-F8C8-459A-ABFD-E5C3C500AF34}"/>
              </a:ext>
            </a:extLst>
          </p:cNvPr>
          <p:cNvSpPr>
            <a:spLocks xmlns:a="http://schemas.openxmlformats.org/drawingml/2006/main" noGrp="1"/>
          </p:cNvSpPr>
          <p:nvPr/>
        </p:nvSpPr>
        <p:spPr>
          <a:xfrm xmlns:a="http://schemas.openxmlformats.org/drawingml/2006/main">
            <a:off x="18515838" y="681151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9" name=""/>
          <p:cNvCxnSpPr>
            <a:stCxn xmlns:a="http://schemas.openxmlformats.org/drawingml/2006/main" id="40" idx="3"/>
            <a:endCxn xmlns:a="http://schemas.openxmlformats.org/drawingml/2006/main" id="41" idx="1"/>
          </p:cNvCxnSpPr>
          <p:nvPr/>
        </p:nvCxnSpPr>
        <p:spPr>
          <a:xfrm xmlns:a="http://schemas.openxmlformats.org/drawingml/2006/main">
            <a:off x="17801082" y="6812280"/>
            <a:ext cx="714756" cy="0"/>
          </a:xfrm>
          <a:prstGeom xmlns:a="http://schemas.openxmlformats.org/drawingml/2006/main" prst="straightConnector1">
            <a:avLst/>
          </a:prstGeom>
          <a:ln xmlns:a="http://schemas.openxmlformats.org/drawingml/2006/main" w="35052">
            <a:solidFill>
              <a:srgbClr val="C84D35"/>
            </a:solidFill>
            <a:prstDash val="solid"/>
          </a:ln>
        </p:spPr>
      </p:cxnSp>
      <p:sp>
        <p:nvSpPr>
          <p:cNvPr id="43" name="shape-75">
            <a:extLst xmlns:a="http://schemas.openxmlformats.org/drawingml/2006/main">
              <a:ext uri="{FF2B5EF4-FFF2-40B4-BE49-F238E27FC236}">
                <a16:creationId xmlns:a16="http://schemas.microsoft.com/office/drawing/2014/main" id="{4D1B1761-982D-4C99-91F4-DE6083A93C04}"/>
              </a:ext>
            </a:extLst>
          </p:cNvPr>
          <p:cNvSpPr>
            <a:spLocks xmlns:a="http://schemas.openxmlformats.org/drawingml/2006/main" noGrp="1"/>
          </p:cNvSpPr>
          <p:nvPr/>
        </p:nvSpPr>
        <p:spPr>
          <a:xfrm xmlns:a="http://schemas.openxmlformats.org/drawingml/2006/main" rot="5400000">
            <a:off x="18364200" y="6736080"/>
            <a:ext cx="152400" cy="152400"/>
          </a:xfrm>
          <a:prstGeom xmlns:a="http://schemas.openxmlformats.org/drawingml/2006/main" prst="triangle">
            <a:avLst/>
          </a:prstGeom>
          <a:solidFill xmlns:a="http://schemas.openxmlformats.org/drawingml/2006/main">
            <a:srgbClr val="C84D35"/>
          </a:solidFill>
          <a:ln xmlns:a="http://schemas.openxmlformats.org/drawingml/2006/main" w="0">
            <a:noFill/>
            <a:prstDash val="solid"/>
          </a:ln>
        </p:spPr>
      </p:sp>
      <p:sp>
        <p:nvSpPr>
          <p:cNvPr id="44" name="shape-76">
            <a:extLst xmlns:a="http://schemas.openxmlformats.org/drawingml/2006/main">
              <a:ext uri="{FF2B5EF4-FFF2-40B4-BE49-F238E27FC236}">
                <a16:creationId xmlns:a16="http://schemas.microsoft.com/office/drawing/2014/main" id="{7EA51462-21F7-4035-AAFB-1E1D09446DCB}"/>
              </a:ext>
            </a:extLst>
          </p:cNvPr>
          <p:cNvSpPr>
            <a:spLocks xmlns:a="http://schemas.openxmlformats.org/drawingml/2006/main" noGrp="1"/>
          </p:cNvSpPr>
          <p:nvPr/>
        </p:nvSpPr>
        <p:spPr>
          <a:xfrm xmlns:a="http://schemas.openxmlformats.org/drawingml/2006/main">
            <a:off x="899160" y="8961120"/>
            <a:ext cx="2270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Pretrained inference. Reference trajectory enters evaluation only. Voxel size is a resolution setting.</a:t>
            </a:r>
          </a:p>
        </p:txBody>
      </p:sp>
      <p:sp>
        <p:nvSpPr>
          <p:cNvPr id="45" name="shape-77">
            <a:extLst xmlns:a="http://schemas.openxmlformats.org/drawingml/2006/main">
              <a:ext uri="{FF2B5EF4-FFF2-40B4-BE49-F238E27FC236}">
                <a16:creationId xmlns:a16="http://schemas.microsoft.com/office/drawing/2014/main" id="{FD2743BC-4D91-493F-A0AC-A8F5EEA53B86}"/>
              </a:ext>
            </a:extLst>
          </p:cNvPr>
          <p:cNvSpPr>
            <a:spLocks xmlns:a="http://schemas.openxmlformats.org/drawingml/2006/main" noGrp="1"/>
          </p:cNvSpPr>
          <p:nvPr/>
        </p:nvSpPr>
        <p:spPr>
          <a:xfrm xmlns:a="http://schemas.openxmlformats.org/drawingml/2006/main">
            <a:off x="883920" y="9768840"/>
            <a:ext cx="22738080" cy="0"/>
          </a:xfrm>
          <a:prstGeom xmlns:a="http://schemas.openxmlformats.org/drawingml/2006/main" prst="line">
            <a:avLst/>
          </a:prstGeom>
          <a:noFill xmlns:a="http://schemas.openxmlformats.org/drawingml/2006/main"/>
          <a:ln xmlns:a="http://schemas.openxmlformats.org/drawingml/2006/main" w="15240">
            <a:solidFill>
              <a:srgbClr val="D5DDE5"/>
            </a:solidFill>
            <a:prstDash val="solid"/>
          </a:ln>
        </p:spPr>
      </p:sp>
      <p:sp>
        <p:nvSpPr>
          <p:cNvPr id="46" name="shape-78">
            <a:extLst xmlns:a="http://schemas.openxmlformats.org/drawingml/2006/main">
              <a:ext uri="{FF2B5EF4-FFF2-40B4-BE49-F238E27FC236}">
                <a16:creationId xmlns:a16="http://schemas.microsoft.com/office/drawing/2014/main" id="{0947BEF5-5E5F-494F-8F35-CF844B1D2748}"/>
              </a:ext>
            </a:extLst>
          </p:cNvPr>
          <p:cNvSpPr>
            <a:spLocks xmlns:a="http://schemas.openxmlformats.org/drawingml/2006/main" noGrp="1"/>
          </p:cNvSpPr>
          <p:nvPr/>
        </p:nvSpPr>
        <p:spPr>
          <a:xfrm xmlns:a="http://schemas.openxmlformats.org/drawingml/2006/main">
            <a:off x="899160" y="10119360"/>
            <a:ext cx="167640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400" b="1">
                <a:solidFill>
                  <a:srgbClr val="7544C4"/>
                </a:solidFill>
                <a:latin typeface="Arial"/>
                <a:ea typeface="Arial"/>
                <a:cs typeface="Arial"/>
              </a:defRPr>
            </a:pPr>
            <a:r>
              <a:rPr sz="2400" b="1">
                <a:solidFill>
                  <a:srgbClr val="7544C4"/>
                </a:solidFill>
                <a:latin typeface="Arial"/>
                <a:ea typeface="Arial"/>
                <a:cs typeface="Arial"/>
              </a:rPr>
              <a:t>DEPLOYED UPLOAD PREVIEW</a:t>
            </a:r>
          </a:p>
        </p:txBody>
      </p:sp>
      <p:sp>
        <p:nvSpPr>
          <p:cNvPr id="47" name="shape-79">
            <a:extLst xmlns:a="http://schemas.openxmlformats.org/drawingml/2006/main">
              <a:ext uri="{FF2B5EF4-FFF2-40B4-BE49-F238E27FC236}">
                <a16:creationId xmlns:a16="http://schemas.microsoft.com/office/drawing/2014/main" id="{104DA2D8-5C2C-4F03-9ABB-3E2C834C92A1}"/>
              </a:ext>
            </a:extLst>
          </p:cNvPr>
          <p:cNvSpPr>
            <a:spLocks xmlns:a="http://schemas.openxmlformats.org/drawingml/2006/main" noGrp="1"/>
          </p:cNvSpPr>
          <p:nvPr/>
        </p:nvSpPr>
        <p:spPr>
          <a:xfrm xmlns:a="http://schemas.openxmlformats.org/drawingml/2006/main">
            <a:off x="883920" y="10942320"/>
            <a:ext cx="5105400" cy="563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2464C7"/>
                </a:solidFill>
                <a:latin typeface="Arial"/>
                <a:ea typeface="Arial"/>
                <a:cs typeface="Arial"/>
              </a:defRPr>
            </a:pPr>
            <a:r>
              <a:rPr sz="3360" b="1">
                <a:solidFill>
                  <a:srgbClr val="2464C7"/>
                </a:solidFill>
                <a:latin typeface="Arial"/>
                <a:ea typeface="Arial"/>
                <a:cs typeface="Arial"/>
              </a:rPr>
              <a:t>Browser</a:t>
            </a:r>
          </a:p>
        </p:txBody>
      </p:sp>
      <p:sp>
        <p:nvSpPr>
          <p:cNvPr id="48" name="shape-80">
            <a:extLst xmlns:a="http://schemas.openxmlformats.org/drawingml/2006/main">
              <a:ext uri="{FF2B5EF4-FFF2-40B4-BE49-F238E27FC236}">
                <a16:creationId xmlns:a16="http://schemas.microsoft.com/office/drawing/2014/main" id="{7B37B969-5C24-4FC9-BAEF-426D6BAAE445}"/>
              </a:ext>
            </a:extLst>
          </p:cNvPr>
          <p:cNvSpPr>
            <a:spLocks xmlns:a="http://schemas.openxmlformats.org/drawingml/2006/main" noGrp="1"/>
          </p:cNvSpPr>
          <p:nvPr/>
        </p:nvSpPr>
        <p:spPr>
          <a:xfrm xmlns:a="http://schemas.openxmlformats.org/drawingml/2006/main">
            <a:off x="883920" y="11658600"/>
            <a:ext cx="513588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JavaScript + Three.js</a:t>
            </a:r>
          </a:p>
        </p:txBody>
      </p:sp>
      <p:sp>
        <p:nvSpPr>
          <p:cNvPr id="49" name="shape-81">
            <a:extLst xmlns:a="http://schemas.openxmlformats.org/drawingml/2006/main">
              <a:ext uri="{FF2B5EF4-FFF2-40B4-BE49-F238E27FC236}">
                <a16:creationId xmlns:a16="http://schemas.microsoft.com/office/drawing/2014/main" id="{EC442897-882C-47CC-9542-7A43A5E2CBCA}"/>
              </a:ext>
            </a:extLst>
          </p:cNvPr>
          <p:cNvSpPr>
            <a:spLocks xmlns:a="http://schemas.openxmlformats.org/drawingml/2006/main" noGrp="1"/>
          </p:cNvSpPr>
          <p:nvPr/>
        </p:nvSpPr>
        <p:spPr>
          <a:xfrm xmlns:a="http://schemas.openxmlformats.org/drawingml/2006/main">
            <a:off x="6751320" y="10942320"/>
            <a:ext cx="5105400" cy="563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7544C4"/>
                </a:solidFill>
                <a:latin typeface="Arial"/>
                <a:ea typeface="Arial"/>
                <a:cs typeface="Arial"/>
              </a:defRPr>
            </a:pPr>
            <a:r>
              <a:rPr sz="3360" b="1">
                <a:solidFill>
                  <a:srgbClr val="7544C4"/>
                </a:solidFill>
                <a:latin typeface="Arial"/>
                <a:ea typeface="Arial"/>
                <a:cs typeface="Arial"/>
              </a:rPr>
              <a:t>Identity + hosting</a:t>
            </a:r>
          </a:p>
        </p:txBody>
      </p:sp>
      <p:sp>
        <p:nvSpPr>
          <p:cNvPr id="50" name="shape-82">
            <a:extLst xmlns:a="http://schemas.openxmlformats.org/drawingml/2006/main">
              <a:ext uri="{FF2B5EF4-FFF2-40B4-BE49-F238E27FC236}">
                <a16:creationId xmlns:a16="http://schemas.microsoft.com/office/drawing/2014/main" id="{8CB59BD2-6C3B-4A75-8C83-B5FFDC0BAF80}"/>
              </a:ext>
            </a:extLst>
          </p:cNvPr>
          <p:cNvSpPr>
            <a:spLocks xmlns:a="http://schemas.openxmlformats.org/drawingml/2006/main" noGrp="1"/>
          </p:cNvSpPr>
          <p:nvPr/>
        </p:nvSpPr>
        <p:spPr>
          <a:xfrm xmlns:a="http://schemas.openxmlformats.org/drawingml/2006/main">
            <a:off x="6751320" y="11658600"/>
            <a:ext cx="513588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Firebase Auth + Hosting</a:t>
            </a:r>
          </a:p>
        </p:txBody>
      </p:sp>
      <p:sp>
        <p:nvSpPr>
          <p:cNvPr id="51" name="shape-83">
            <a:extLst xmlns:a="http://schemas.openxmlformats.org/drawingml/2006/main">
              <a:ext uri="{FF2B5EF4-FFF2-40B4-BE49-F238E27FC236}">
                <a16:creationId xmlns:a16="http://schemas.microsoft.com/office/drawing/2014/main" id="{54698BB5-ED08-49AB-AF88-D3A4CB24350D}"/>
              </a:ext>
            </a:extLst>
          </p:cNvPr>
          <p:cNvSpPr>
            <a:spLocks xmlns:a="http://schemas.openxmlformats.org/drawingml/2006/main" noGrp="1"/>
          </p:cNvSpPr>
          <p:nvPr/>
        </p:nvSpPr>
        <p:spPr>
          <a:xfrm xmlns:a="http://schemas.openxmlformats.org/drawingml/2006/main">
            <a:off x="12633960" y="10942320"/>
            <a:ext cx="5105400" cy="563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087E70"/>
                </a:solidFill>
                <a:latin typeface="Arial"/>
                <a:ea typeface="Arial"/>
                <a:cs typeface="Arial"/>
              </a:defRPr>
            </a:pPr>
            <a:r>
              <a:rPr sz="3360" b="1">
                <a:solidFill>
                  <a:srgbClr val="087E70"/>
                </a:solidFill>
                <a:latin typeface="Arial"/>
                <a:ea typeface="Arial"/>
                <a:cs typeface="Arial"/>
              </a:rPr>
              <a:t>Job service</a:t>
            </a:r>
          </a:p>
        </p:txBody>
      </p:sp>
      <p:sp>
        <p:nvSpPr>
          <p:cNvPr id="52" name="shape-84">
            <a:extLst xmlns:a="http://schemas.openxmlformats.org/drawingml/2006/main">
              <a:ext uri="{FF2B5EF4-FFF2-40B4-BE49-F238E27FC236}">
                <a16:creationId xmlns:a16="http://schemas.microsoft.com/office/drawing/2014/main" id="{50970EBB-1FC3-44F3-AEF0-3D9948A7083C}"/>
              </a:ext>
            </a:extLst>
          </p:cNvPr>
          <p:cNvSpPr>
            <a:spLocks xmlns:a="http://schemas.openxmlformats.org/drawingml/2006/main" noGrp="1"/>
          </p:cNvSpPr>
          <p:nvPr/>
        </p:nvSpPr>
        <p:spPr>
          <a:xfrm xmlns:a="http://schemas.openxmlformats.org/drawingml/2006/main">
            <a:off x="12633960" y="11658600"/>
            <a:ext cx="513588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FastAPI + bounded queue</a:t>
            </a:r>
          </a:p>
        </p:txBody>
      </p:sp>
      <p:sp>
        <p:nvSpPr>
          <p:cNvPr id="53" name="shape-85">
            <a:extLst xmlns:a="http://schemas.openxmlformats.org/drawingml/2006/main">
              <a:ext uri="{FF2B5EF4-FFF2-40B4-BE49-F238E27FC236}">
                <a16:creationId xmlns:a16="http://schemas.microsoft.com/office/drawing/2014/main" id="{693128DA-2C3B-4214-8F15-9A0793B5884D}"/>
              </a:ext>
            </a:extLst>
          </p:cNvPr>
          <p:cNvSpPr>
            <a:spLocks xmlns:a="http://schemas.openxmlformats.org/drawingml/2006/main" noGrp="1"/>
          </p:cNvSpPr>
          <p:nvPr/>
        </p:nvSpPr>
        <p:spPr>
          <a:xfrm xmlns:a="http://schemas.openxmlformats.org/drawingml/2006/main">
            <a:off x="18516600" y="10942320"/>
            <a:ext cx="5105400" cy="563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C84D35"/>
                </a:solidFill>
                <a:latin typeface="Arial"/>
                <a:ea typeface="Arial"/>
                <a:cs typeface="Arial"/>
              </a:defRPr>
            </a:pPr>
            <a:r>
              <a:rPr sz="3360" b="1">
                <a:solidFill>
                  <a:srgbClr val="C84D35"/>
                </a:solidFill>
                <a:latin typeface="Arial"/>
                <a:ea typeface="Arial"/>
                <a:cs typeface="Arial"/>
              </a:rPr>
              <a:t>Inference worker</a:t>
            </a:r>
          </a:p>
        </p:txBody>
      </p:sp>
      <p:sp>
        <p:nvSpPr>
          <p:cNvPr id="54" name="shape-86">
            <a:extLst xmlns:a="http://schemas.openxmlformats.org/drawingml/2006/main">
              <a:ext uri="{FF2B5EF4-FFF2-40B4-BE49-F238E27FC236}">
                <a16:creationId xmlns:a16="http://schemas.microsoft.com/office/drawing/2014/main" id="{B928C884-4FBA-4B0A-9E39-895E5ECC7906}"/>
              </a:ext>
            </a:extLst>
          </p:cNvPr>
          <p:cNvSpPr>
            <a:spLocks xmlns:a="http://schemas.openxmlformats.org/drawingml/2006/main" noGrp="1"/>
          </p:cNvSpPr>
          <p:nvPr/>
        </p:nvSpPr>
        <p:spPr>
          <a:xfrm xmlns:a="http://schemas.openxmlformats.org/drawingml/2006/main">
            <a:off x="18516600" y="11658600"/>
            <a:ext cx="5135880" cy="487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Cached MapAnything</a:t>
            </a:r>
          </a:p>
        </p:txBody>
      </p:sp>
      <p:sp>
        <p:nvSpPr>
          <p:cNvPr id="55" name="shape-87">
            <a:extLst xmlns:a="http://schemas.openxmlformats.org/drawingml/2006/main">
              <a:ext uri="{FF2B5EF4-FFF2-40B4-BE49-F238E27FC236}">
                <a16:creationId xmlns:a16="http://schemas.microsoft.com/office/drawing/2014/main" id="{81A23B3F-E480-4EF1-B3F9-3E54A2C90BDB}"/>
              </a:ext>
            </a:extLst>
          </p:cNvPr>
          <p:cNvSpPr>
            <a:spLocks xmlns:a="http://schemas.openxmlformats.org/drawingml/2006/main" noGrp="1"/>
          </p:cNvSpPr>
          <p:nvPr/>
        </p:nvSpPr>
        <p:spPr>
          <a:xfrm xmlns:a="http://schemas.openxmlformats.org/drawingml/2006/main">
            <a:off x="6110478" y="1129207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56" name="shape-88">
            <a:extLst xmlns:a="http://schemas.openxmlformats.org/drawingml/2006/main">
              <a:ext uri="{FF2B5EF4-FFF2-40B4-BE49-F238E27FC236}">
                <a16:creationId xmlns:a16="http://schemas.microsoft.com/office/drawing/2014/main" id="{C5599651-E7A8-4028-89FC-DE8AF1725DCE}"/>
              </a:ext>
            </a:extLst>
          </p:cNvPr>
          <p:cNvSpPr>
            <a:spLocks xmlns:a="http://schemas.openxmlformats.org/drawingml/2006/main" noGrp="1"/>
          </p:cNvSpPr>
          <p:nvPr/>
        </p:nvSpPr>
        <p:spPr>
          <a:xfrm xmlns:a="http://schemas.openxmlformats.org/drawingml/2006/main">
            <a:off x="6537198" y="1129207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24" name=""/>
          <p:cNvCxnSpPr>
            <a:stCxn xmlns:a="http://schemas.openxmlformats.org/drawingml/2006/main" id="55" idx="3"/>
            <a:endCxn xmlns:a="http://schemas.openxmlformats.org/drawingml/2006/main" id="56" idx="1"/>
          </p:cNvCxnSpPr>
          <p:nvPr/>
        </p:nvCxnSpPr>
        <p:spPr>
          <a:xfrm xmlns:a="http://schemas.openxmlformats.org/drawingml/2006/main">
            <a:off x="6112002" y="11292840"/>
            <a:ext cx="425196" cy="0"/>
          </a:xfrm>
          <a:prstGeom xmlns:a="http://schemas.openxmlformats.org/drawingml/2006/main" prst="straightConnector1">
            <a:avLst/>
          </a:prstGeom>
          <a:ln xmlns:a="http://schemas.openxmlformats.org/drawingml/2006/main" w="35052">
            <a:solidFill>
              <a:srgbClr val="516178"/>
            </a:solidFill>
            <a:prstDash val="solid"/>
          </a:ln>
        </p:spPr>
      </p:cxnSp>
      <p:sp>
        <p:nvSpPr>
          <p:cNvPr id="58" name="shape-89">
            <a:extLst xmlns:a="http://schemas.openxmlformats.org/drawingml/2006/main">
              <a:ext uri="{FF2B5EF4-FFF2-40B4-BE49-F238E27FC236}">
                <a16:creationId xmlns:a16="http://schemas.microsoft.com/office/drawing/2014/main" id="{064CF047-B5E0-4306-AA85-ED6E5EF305BA}"/>
              </a:ext>
            </a:extLst>
          </p:cNvPr>
          <p:cNvSpPr>
            <a:spLocks xmlns:a="http://schemas.openxmlformats.org/drawingml/2006/main" noGrp="1"/>
          </p:cNvSpPr>
          <p:nvPr/>
        </p:nvSpPr>
        <p:spPr>
          <a:xfrm xmlns:a="http://schemas.openxmlformats.org/drawingml/2006/main" rot="5400000">
            <a:off x="6385560" y="11216640"/>
            <a:ext cx="152400" cy="152400"/>
          </a:xfrm>
          <a:prstGeom xmlns:a="http://schemas.openxmlformats.org/drawingml/2006/main" prst="triangle">
            <a:avLst/>
          </a:prstGeom>
          <a:solidFill xmlns:a="http://schemas.openxmlformats.org/drawingml/2006/main">
            <a:srgbClr val="516178"/>
          </a:solidFill>
          <a:ln xmlns:a="http://schemas.openxmlformats.org/drawingml/2006/main" w="0">
            <a:noFill/>
            <a:prstDash val="solid"/>
          </a:ln>
        </p:spPr>
      </p:sp>
      <p:sp>
        <p:nvSpPr>
          <p:cNvPr id="59" name="shape-90">
            <a:extLst xmlns:a="http://schemas.openxmlformats.org/drawingml/2006/main">
              <a:ext uri="{FF2B5EF4-FFF2-40B4-BE49-F238E27FC236}">
                <a16:creationId xmlns:a16="http://schemas.microsoft.com/office/drawing/2014/main" id="{8A99BEA4-3DE7-4E7D-A4EF-660C36C9CA58}"/>
              </a:ext>
            </a:extLst>
          </p:cNvPr>
          <p:cNvSpPr>
            <a:spLocks xmlns:a="http://schemas.openxmlformats.org/drawingml/2006/main" noGrp="1"/>
          </p:cNvSpPr>
          <p:nvPr/>
        </p:nvSpPr>
        <p:spPr>
          <a:xfrm xmlns:a="http://schemas.openxmlformats.org/drawingml/2006/main">
            <a:off x="11977878" y="1129207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60" name="shape-91">
            <a:extLst xmlns:a="http://schemas.openxmlformats.org/drawingml/2006/main">
              <a:ext uri="{FF2B5EF4-FFF2-40B4-BE49-F238E27FC236}">
                <a16:creationId xmlns:a16="http://schemas.microsoft.com/office/drawing/2014/main" id="{DAAD2564-D333-45FC-B12E-34684B292258}"/>
              </a:ext>
            </a:extLst>
          </p:cNvPr>
          <p:cNvSpPr>
            <a:spLocks xmlns:a="http://schemas.openxmlformats.org/drawingml/2006/main" noGrp="1"/>
          </p:cNvSpPr>
          <p:nvPr/>
        </p:nvSpPr>
        <p:spPr>
          <a:xfrm xmlns:a="http://schemas.openxmlformats.org/drawingml/2006/main">
            <a:off x="12419838" y="1129207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28" name=""/>
          <p:cNvCxnSpPr>
            <a:stCxn xmlns:a="http://schemas.openxmlformats.org/drawingml/2006/main" id="59" idx="3"/>
            <a:endCxn xmlns:a="http://schemas.openxmlformats.org/drawingml/2006/main" id="60" idx="1"/>
          </p:cNvCxnSpPr>
          <p:nvPr/>
        </p:nvCxnSpPr>
        <p:spPr>
          <a:xfrm xmlns:a="http://schemas.openxmlformats.org/drawingml/2006/main">
            <a:off x="11979402" y="11292840"/>
            <a:ext cx="440436" cy="0"/>
          </a:xfrm>
          <a:prstGeom xmlns:a="http://schemas.openxmlformats.org/drawingml/2006/main" prst="straightConnector1">
            <a:avLst/>
          </a:prstGeom>
          <a:ln xmlns:a="http://schemas.openxmlformats.org/drawingml/2006/main" w="35052">
            <a:solidFill>
              <a:srgbClr val="516178"/>
            </a:solidFill>
            <a:prstDash val="solid"/>
          </a:ln>
        </p:spPr>
      </p:cxnSp>
      <p:sp>
        <p:nvSpPr>
          <p:cNvPr id="62" name="shape-92">
            <a:extLst xmlns:a="http://schemas.openxmlformats.org/drawingml/2006/main">
              <a:ext uri="{FF2B5EF4-FFF2-40B4-BE49-F238E27FC236}">
                <a16:creationId xmlns:a16="http://schemas.microsoft.com/office/drawing/2014/main" id="{29DE521D-E066-48B7-B049-6362A3086B88}"/>
              </a:ext>
            </a:extLst>
          </p:cNvPr>
          <p:cNvSpPr>
            <a:spLocks xmlns:a="http://schemas.openxmlformats.org/drawingml/2006/main" noGrp="1"/>
          </p:cNvSpPr>
          <p:nvPr/>
        </p:nvSpPr>
        <p:spPr>
          <a:xfrm xmlns:a="http://schemas.openxmlformats.org/drawingml/2006/main" rot="5400000">
            <a:off x="12268200" y="11216640"/>
            <a:ext cx="152400" cy="152400"/>
          </a:xfrm>
          <a:prstGeom xmlns:a="http://schemas.openxmlformats.org/drawingml/2006/main" prst="triangle">
            <a:avLst/>
          </a:prstGeom>
          <a:solidFill xmlns:a="http://schemas.openxmlformats.org/drawingml/2006/main">
            <a:srgbClr val="516178"/>
          </a:solidFill>
          <a:ln xmlns:a="http://schemas.openxmlformats.org/drawingml/2006/main" w="0">
            <a:noFill/>
            <a:prstDash val="solid"/>
          </a:ln>
        </p:spPr>
      </p:sp>
      <p:sp>
        <p:nvSpPr>
          <p:cNvPr id="63" name="shape-93">
            <a:extLst xmlns:a="http://schemas.openxmlformats.org/drawingml/2006/main">
              <a:ext uri="{FF2B5EF4-FFF2-40B4-BE49-F238E27FC236}">
                <a16:creationId xmlns:a16="http://schemas.microsoft.com/office/drawing/2014/main" id="{8958D0D0-4453-479B-874F-B0D889FA4DF2}"/>
              </a:ext>
            </a:extLst>
          </p:cNvPr>
          <p:cNvSpPr>
            <a:spLocks xmlns:a="http://schemas.openxmlformats.org/drawingml/2006/main" noGrp="1"/>
          </p:cNvSpPr>
          <p:nvPr/>
        </p:nvSpPr>
        <p:spPr>
          <a:xfrm xmlns:a="http://schemas.openxmlformats.org/drawingml/2006/main">
            <a:off x="17860518" y="11292078"/>
            <a:ext cx="1524" cy="1524"/>
          </a:xfrm>
          <a:prstGeom xmlns:a="http://schemas.openxmlformats.org/drawingml/2006/main" prst="rect">
            <a:avLst/>
          </a:prstGeom>
          <a:noFill xmlns:a="http://schemas.openxmlformats.org/drawingml/2006/main"/>
          <a:ln xmlns:a="http://schemas.openxmlformats.org/drawingml/2006/main" w="0">
            <a:noFill/>
            <a:prstDash val="solid"/>
          </a:ln>
        </p:spPr>
      </p:sp>
      <p:sp>
        <p:nvSpPr>
          <p:cNvPr id="64" name="shape-94">
            <a:extLst xmlns:a="http://schemas.openxmlformats.org/drawingml/2006/main">
              <a:ext uri="{FF2B5EF4-FFF2-40B4-BE49-F238E27FC236}">
                <a16:creationId xmlns:a16="http://schemas.microsoft.com/office/drawing/2014/main" id="{7D6ECC50-B654-4DE4-912C-6D376CDADB17}"/>
              </a:ext>
            </a:extLst>
          </p:cNvPr>
          <p:cNvSpPr>
            <a:spLocks xmlns:a="http://schemas.openxmlformats.org/drawingml/2006/main" noGrp="1"/>
          </p:cNvSpPr>
          <p:nvPr/>
        </p:nvSpPr>
        <p:spPr>
          <a:xfrm xmlns:a="http://schemas.openxmlformats.org/drawingml/2006/main">
            <a:off x="18302478" y="11292078"/>
            <a:ext cx="1524" cy="1524"/>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32" name=""/>
          <p:cNvCxnSpPr>
            <a:stCxn xmlns:a="http://schemas.openxmlformats.org/drawingml/2006/main" id="63" idx="3"/>
            <a:endCxn xmlns:a="http://schemas.openxmlformats.org/drawingml/2006/main" id="64" idx="1"/>
          </p:cNvCxnSpPr>
          <p:nvPr/>
        </p:nvCxnSpPr>
        <p:spPr>
          <a:xfrm xmlns:a="http://schemas.openxmlformats.org/drawingml/2006/main">
            <a:off x="17862042" y="11292840"/>
            <a:ext cx="440436" cy="0"/>
          </a:xfrm>
          <a:prstGeom xmlns:a="http://schemas.openxmlformats.org/drawingml/2006/main" prst="straightConnector1">
            <a:avLst/>
          </a:prstGeom>
          <a:ln xmlns:a="http://schemas.openxmlformats.org/drawingml/2006/main" w="35052">
            <a:solidFill>
              <a:srgbClr val="516178"/>
            </a:solidFill>
            <a:prstDash val="solid"/>
          </a:ln>
        </p:spPr>
      </p:cxnSp>
      <p:sp>
        <p:nvSpPr>
          <p:cNvPr id="66" name="shape-95">
            <a:extLst xmlns:a="http://schemas.openxmlformats.org/drawingml/2006/main">
              <a:ext uri="{FF2B5EF4-FFF2-40B4-BE49-F238E27FC236}">
                <a16:creationId xmlns:a16="http://schemas.microsoft.com/office/drawing/2014/main" id="{3E86FD5E-EEF0-4E7E-B122-6CC69429A62D}"/>
              </a:ext>
            </a:extLst>
          </p:cNvPr>
          <p:cNvSpPr>
            <a:spLocks xmlns:a="http://schemas.openxmlformats.org/drawingml/2006/main" noGrp="1"/>
          </p:cNvSpPr>
          <p:nvPr/>
        </p:nvSpPr>
        <p:spPr>
          <a:xfrm xmlns:a="http://schemas.openxmlformats.org/drawingml/2006/main" rot="5400000">
            <a:off x="18150840" y="11216640"/>
            <a:ext cx="152400" cy="152400"/>
          </a:xfrm>
          <a:prstGeom xmlns:a="http://schemas.openxmlformats.org/drawingml/2006/main" prst="triangle">
            <a:avLst/>
          </a:prstGeom>
          <a:solidFill xmlns:a="http://schemas.openxmlformats.org/drawingml/2006/main">
            <a:srgbClr val="516178"/>
          </a:solidFill>
          <a:ln xmlns:a="http://schemas.openxmlformats.org/drawingml/2006/main" w="0">
            <a:noFill/>
            <a:prstDash val="solid"/>
          </a:ln>
        </p:spPr>
      </p:sp>
      <p:sp>
        <p:nvSpPr>
          <p:cNvPr id="67" name="shape-96">
            <a:extLst xmlns:a="http://schemas.openxmlformats.org/drawingml/2006/main">
              <a:ext uri="{FF2B5EF4-FFF2-40B4-BE49-F238E27FC236}">
                <a16:creationId xmlns:a16="http://schemas.microsoft.com/office/drawing/2014/main" id="{5E2260B9-9EFD-42CC-9768-C28F06937B5D}"/>
              </a:ext>
            </a:extLst>
          </p:cNvPr>
          <p:cNvSpPr>
            <a:spLocks xmlns:a="http://schemas.openxmlformats.org/drawingml/2006/main" noGrp="1"/>
          </p:cNvSpPr>
          <p:nvPr/>
        </p:nvSpPr>
        <p:spPr>
          <a:xfrm xmlns:a="http://schemas.openxmlformats.org/drawingml/2006/main">
            <a:off x="899160" y="12405360"/>
            <a:ext cx="2270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Worker: Apple MPS. Per-user jobs require a running service. The complete saved SfM / TSDF path is separate.</a:t>
            </a:r>
          </a:p>
        </p:txBody>
      </p:sp>
    </p:spTree>
    <p:extLst>
      <p:ext uri="{BB962C8B-B14F-4D97-AF65-F5344CB8AC3E}">
        <p14:creationId xmlns:p14="http://schemas.microsoft.com/office/powerpoint/2010/main" val="662097089"/>
      </p:ext>
    </p:extLst>
  </p:cSld>
</p:sld>
</file>

<file path=ppt/slides/slide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22" name="shape-97">
            <a:extLst xmlns:a="http://schemas.openxmlformats.org/drawingml/2006/main">
              <a:ext uri="{FF2B5EF4-FFF2-40B4-BE49-F238E27FC236}">
                <a16:creationId xmlns:a16="http://schemas.microsoft.com/office/drawing/2014/main" id="{0BB44250-060E-4548-8D29-A88223B68EF0}"/>
              </a:ext>
            </a:extLst>
          </p:cNvPr>
          <p:cNvSpPr>
            <a:spLocks xmlns:a="http://schemas.openxmlformats.org/drawingml/2006/main" noGrp="1"/>
          </p:cNvSpPr>
          <p:nvPr/>
        </p:nvSpPr>
        <p:spPr>
          <a:xfrm xmlns:a="http://schemas.openxmlformats.org/drawingml/2006/main">
            <a:off x="91440" y="76200"/>
            <a:ext cx="24201120" cy="13563600"/>
          </a:xfrm>
          <a:prstGeom xmlns:a="http://schemas.openxmlformats.org/drawingml/2006/main" prst="rect">
            <a:avLst/>
          </a:prstGeom>
          <a:noFill xmlns:a="http://schemas.openxmlformats.org/drawingml/2006/main"/>
          <a:ln xmlns:a="http://schemas.openxmlformats.org/drawingml/2006/main" w="15240">
            <a:solidFill>
              <a:srgbClr val="E4E7EB"/>
            </a:solidFill>
            <a:prstDash val="solid"/>
          </a:ln>
        </p:spPr>
      </p:sp>
      <p:sp>
        <p:nvSpPr>
          <p:cNvPr id="2" name="shape-98">
            <a:extLst xmlns:a="http://schemas.openxmlformats.org/drawingml/2006/main">
              <a:ext uri="{FF2B5EF4-FFF2-40B4-BE49-F238E27FC236}">
                <a16:creationId xmlns:a16="http://schemas.microsoft.com/office/drawing/2014/main" id="{38F4DE63-01CE-49C9-86A3-1A7C5F3EEB84}"/>
              </a:ext>
            </a:extLst>
          </p:cNvPr>
          <p:cNvSpPr>
            <a:spLocks xmlns:a="http://schemas.openxmlformats.org/drawingml/2006/main" noGrp="1"/>
          </p:cNvSpPr>
          <p:nvPr/>
        </p:nvSpPr>
        <p:spPr>
          <a:xfrm xmlns:a="http://schemas.openxmlformats.org/drawingml/2006/main">
            <a:off x="868680" y="640080"/>
            <a:ext cx="320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VoxelFlight</a:t>
            </a:r>
          </a:p>
        </p:txBody>
      </p:sp>
      <p:sp>
        <p:nvSpPr>
          <p:cNvPr id="3" name="shape-99">
            <a:extLst xmlns:a="http://schemas.openxmlformats.org/drawingml/2006/main">
              <a:ext uri="{FF2B5EF4-FFF2-40B4-BE49-F238E27FC236}">
                <a16:creationId xmlns:a16="http://schemas.microsoft.com/office/drawing/2014/main" id="{C1D86EF5-AC01-457A-83A7-D40DDA60F753}"/>
              </a:ext>
            </a:extLst>
          </p:cNvPr>
          <p:cNvSpPr>
            <a:spLocks xmlns:a="http://schemas.openxmlformats.org/drawingml/2006/main" noGrp="1"/>
          </p:cNvSpPr>
          <p:nvPr/>
        </p:nvSpPr>
        <p:spPr>
          <a:xfrm xmlns:a="http://schemas.openxmlformats.org/drawingml/2006/main">
            <a:off x="4343400" y="533400"/>
            <a:ext cx="15240000" cy="1082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760" b="1">
                <a:solidFill>
                  <a:srgbClr val="14243B"/>
                </a:solidFill>
                <a:latin typeface="Times New Roman"/>
                <a:ea typeface="Times New Roman"/>
                <a:cs typeface="Times New Roman"/>
              </a:defRPr>
            </a:pPr>
            <a:r>
              <a:rPr sz="5760" b="1">
                <a:solidFill>
                  <a:srgbClr val="14243B"/>
                </a:solidFill>
                <a:latin typeface="Times New Roman"/>
                <a:ea typeface="Times New Roman"/>
                <a:cs typeface="Times New Roman"/>
              </a:rPr>
              <a:t>FEASIBILITY AND VIABILITY</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34b7fc624fb4edc"/>
          <a:stretch xmlns:a="http://schemas.openxmlformats.org/drawingml/2006/main"/>
        </p:blipFill>
        <p:spPr>
          <a:xfrm xmlns:a="http://schemas.openxmlformats.org/drawingml/2006/main">
            <a:off x="19903440" y="220568"/>
            <a:ext cx="1219200" cy="1433384"/>
          </a:xfrm>
          <a:prstGeom xmlns:a="http://schemas.openxmlformats.org/drawingml/2006/main" prst="rect">
            <a:avLst/>
          </a:prstGeom>
        </p:spPr>
      </p:pic>
      <p:sp>
        <p:nvSpPr>
          <p:cNvPr id="5" name="shape-100">
            <a:extLst xmlns:a="http://schemas.openxmlformats.org/drawingml/2006/main">
              <a:ext uri="{FF2B5EF4-FFF2-40B4-BE49-F238E27FC236}">
                <a16:creationId xmlns:a16="http://schemas.microsoft.com/office/drawing/2014/main" id="{F5914256-39B9-405A-932C-B040577E070E}"/>
              </a:ext>
            </a:extLst>
          </p:cNvPr>
          <p:cNvSpPr>
            <a:spLocks xmlns:a="http://schemas.openxmlformats.org/drawingml/2006/main" noGrp="1"/>
          </p:cNvSpPr>
          <p:nvPr/>
        </p:nvSpPr>
        <p:spPr>
          <a:xfrm xmlns:a="http://schemas.openxmlformats.org/drawingml/2006/main">
            <a:off x="21305520" y="563880"/>
            <a:ext cx="240792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SMART INDIA</a:t>
            </a:r>
          </a:p>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HACKATHON 2026</a:t>
            </a:r>
          </a:p>
        </p:txBody>
      </p:sp>
      <p:sp>
        <p:nvSpPr>
          <p:cNvPr id="6" name="shape-101">
            <a:extLst xmlns:a="http://schemas.openxmlformats.org/drawingml/2006/main">
              <a:ext uri="{FF2B5EF4-FFF2-40B4-BE49-F238E27FC236}">
                <a16:creationId xmlns:a16="http://schemas.microsoft.com/office/drawing/2014/main" id="{8A7D1515-3274-4372-84BE-B483F7A6874C}"/>
              </a:ext>
            </a:extLst>
          </p:cNvPr>
          <p:cNvSpPr>
            <a:spLocks xmlns:a="http://schemas.openxmlformats.org/drawingml/2006/main" noGrp="1"/>
          </p:cNvSpPr>
          <p:nvPr/>
        </p:nvSpPr>
        <p:spPr>
          <a:xfrm xmlns:a="http://schemas.openxmlformats.org/drawingml/2006/main">
            <a:off x="868680" y="1905000"/>
            <a:ext cx="22768560" cy="0"/>
          </a:xfrm>
          <a:prstGeom xmlns:a="http://schemas.openxmlformats.org/drawingml/2006/main" prst="line">
            <a:avLst/>
          </a:prstGeom>
          <a:noFill xmlns:a="http://schemas.openxmlformats.org/drawingml/2006/main"/>
          <a:ln xmlns:a="http://schemas.openxmlformats.org/drawingml/2006/main" w="15240">
            <a:solidFill>
              <a:srgbClr val="C84D35"/>
            </a:solidFill>
            <a:prstDash val="solid"/>
          </a:ln>
        </p:spPr>
      </p:sp>
      <p:sp>
        <p:nvSpPr>
          <p:cNvPr id="7" name="shape-102">
            <a:extLst xmlns:a="http://schemas.openxmlformats.org/drawingml/2006/main">
              <a:ext uri="{FF2B5EF4-FFF2-40B4-BE49-F238E27FC236}">
                <a16:creationId xmlns:a16="http://schemas.microsoft.com/office/drawing/2014/main" id="{E8CB87AE-3F5E-49A4-9AF5-069C47DAE6A5}"/>
              </a:ext>
            </a:extLst>
          </p:cNvPr>
          <p:cNvSpPr>
            <a:spLocks xmlns:a="http://schemas.openxmlformats.org/drawingml/2006/main" noGrp="1"/>
          </p:cNvSpPr>
          <p:nvPr/>
        </p:nvSpPr>
        <p:spPr>
          <a:xfrm xmlns:a="http://schemas.openxmlformats.org/drawingml/2006/main">
            <a:off x="868680" y="13060680"/>
            <a:ext cx="1828800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20" b="0">
                <a:solidFill>
                  <a:srgbClr val="516178"/>
                </a:solidFill>
                <a:latin typeface="Arial"/>
                <a:ea typeface="Arial"/>
                <a:cs typeface="Arial"/>
              </a:defRPr>
            </a:pPr>
            <a:r>
              <a:rPr sz="1920" b="0">
                <a:solidFill>
                  <a:srgbClr val="516178"/>
                </a:solidFill>
                <a:latin typeface="Arial"/>
                <a:ea typeface="Arial"/>
                <a:cs typeface="Arial"/>
              </a:rPr>
              <a:t>SIH26158  /  SOFTWARE  /  DRONE &amp; ROBOTICS</a:t>
            </a:r>
          </a:p>
        </p:txBody>
      </p:sp>
      <p:sp>
        <p:nvSpPr>
          <p:cNvPr id="8" name="shape-103">
            <a:extLst xmlns:a="http://schemas.openxmlformats.org/drawingml/2006/main">
              <a:ext uri="{FF2B5EF4-FFF2-40B4-BE49-F238E27FC236}">
                <a16:creationId xmlns:a16="http://schemas.microsoft.com/office/drawing/2014/main" id="{CB38DE7E-4E15-42A7-BCAC-9579CC86D21C}"/>
              </a:ext>
            </a:extLst>
          </p:cNvPr>
          <p:cNvSpPr>
            <a:spLocks xmlns:a="http://schemas.openxmlformats.org/drawingml/2006/main" noGrp="1"/>
          </p:cNvSpPr>
          <p:nvPr/>
        </p:nvSpPr>
        <p:spPr>
          <a:xfrm xmlns:a="http://schemas.openxmlformats.org/drawingml/2006/main">
            <a:off x="22555200" y="13060680"/>
            <a:ext cx="109728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2040" b="0">
                <a:solidFill>
                  <a:srgbClr val="516178"/>
                </a:solidFill>
                <a:latin typeface="Arial"/>
                <a:ea typeface="Arial"/>
                <a:cs typeface="Arial"/>
              </a:defRPr>
            </a:pPr>
            <a:r>
              <a:rPr sz="2040" b="0">
                <a:solidFill>
                  <a:srgbClr val="516178"/>
                </a:solidFill>
                <a:latin typeface="Arial"/>
                <a:ea typeface="Arial"/>
                <a:cs typeface="Arial"/>
              </a:rPr>
              <a:t>04 / 06</a:t>
            </a:r>
          </a:p>
        </p:txBody>
      </p:sp>
      <p:sp>
        <p:nvSpPr>
          <p:cNvPr id="9" name="shape-104">
            <a:extLst xmlns:a="http://schemas.openxmlformats.org/drawingml/2006/main">
              <a:ext uri="{FF2B5EF4-FFF2-40B4-BE49-F238E27FC236}">
                <a16:creationId xmlns:a16="http://schemas.microsoft.com/office/drawing/2014/main" id="{9AC9DD27-8468-42E8-BA2D-74352B211FE4}"/>
              </a:ext>
            </a:extLst>
          </p:cNvPr>
          <p:cNvSpPr>
            <a:spLocks xmlns:a="http://schemas.openxmlformats.org/drawingml/2006/main" noGrp="1"/>
          </p:cNvSpPr>
          <p:nvPr/>
        </p:nvSpPr>
        <p:spPr>
          <a:xfrm xmlns:a="http://schemas.openxmlformats.org/drawingml/2006/main">
            <a:off x="868680" y="2301240"/>
            <a:ext cx="227076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4800" b="1">
                <a:solidFill>
                  <a:srgbClr val="14243B"/>
                </a:solidFill>
                <a:latin typeface="Arial"/>
                <a:ea typeface="Arial"/>
                <a:cs typeface="Arial"/>
              </a:defRPr>
            </a:pPr>
            <a:r>
              <a:rPr sz="4800" b="1">
                <a:solidFill>
                  <a:srgbClr val="14243B"/>
                </a:solidFill>
                <a:latin typeface="Arial"/>
                <a:ea typeface="Arial"/>
                <a:cs typeface="Arial"/>
              </a:rPr>
              <a:t>Recorded results and remaining validation</a:t>
            </a:r>
          </a:p>
        </p:txBody>
      </p:sp>
      <p:sp>
        <p:nvSpPr>
          <p:cNvPr id="10" name="shape-105">
            <a:extLst xmlns:a="http://schemas.openxmlformats.org/drawingml/2006/main">
              <a:ext uri="{FF2B5EF4-FFF2-40B4-BE49-F238E27FC236}">
                <a16:creationId xmlns:a16="http://schemas.microsoft.com/office/drawing/2014/main" id="{569D0E8A-2EE5-4FFE-937F-A1482D0A0C14}"/>
              </a:ext>
            </a:extLst>
          </p:cNvPr>
          <p:cNvSpPr>
            <a:spLocks xmlns:a="http://schemas.openxmlformats.org/drawingml/2006/main" noGrp="1"/>
          </p:cNvSpPr>
          <p:nvPr/>
        </p:nvSpPr>
        <p:spPr>
          <a:xfrm xmlns:a="http://schemas.openxmlformats.org/drawingml/2006/main">
            <a:off x="899160" y="3261360"/>
            <a:ext cx="2263140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Current saved reconstruction: a 60-second Zurich sequence with 90 selected views, using Apple MPS inference.</a:t>
            </a:r>
          </a:p>
        </p:txBody>
      </p:sp>
      <p:graphicFrame>
        <p:nvGraphicFramePr>
          <p:cNvPr id="32" name=""/>
          <p:cNvGraphicFramePr/>
          <p:nvPr/>
        </p:nvGraphicFramePr>
        <p:xfrm>
          <a:off xmlns:a="http://schemas.openxmlformats.org/drawingml/2006/main" x="883920" y="4404360"/>
          <a:ext xmlns:a="http://schemas.openxmlformats.org/drawingml/2006/main" cx="11917680" cy="5867400"/>
        </p:xfrm>
        <a:graphic xmlns:a="http://schemas.openxmlformats.org/drawingml/2006/main">
          <a:graphicData uri="http://schemas.openxmlformats.org/drawingml/2006/table">
            <a:tbl>
              <a:tblPr firstRow="0" bandRow="0"/>
              <a:tblGrid>
                <a:gridCol w="7513320"/>
                <a:gridCol w="4404360"/>
              </a:tblGrid>
              <a:tr h="838200">
                <a:tc>
                  <a:txBody>
                    <a:bodyPr lIns="198120" tIns="121920" rIns="198120" bIns="121920">
                      <a:noAutofit/>
                    </a:bodyPr>
                    <a:lstStyle/>
                    <a:p>
                      <a:pPr algn="l">
                        <a:lnSpc>
                          <a:spcPct val="105000"/>
                        </a:lnSpc>
                        <a:buNone/>
                      </a:pPr>
                      <a:r>
                        <a:rPr sz="2760" b="1">
                          <a:solidFill>
                            <a:srgbClr val="FFFFFF"/>
                          </a:solidFill>
                          <a:latin typeface="Arial"/>
                          <a:ea typeface="Arial"/>
                          <a:cs typeface="Arial"/>
                        </a:rPr>
                        <a:t>Recorded property</a:t>
                      </a:r>
                    </a:p>
                  </a:txBody>
                  <a:tcPr marL="91440" marR="91440" marT="45720" marB="45720" anchor="ctr">
                    <a:solidFill>
                      <a:srgbClr val="14243B"/>
                    </a:solidFill>
                  </a:tcPr>
                </a:tc>
                <a:tc>
                  <a:txBody>
                    <a:bodyPr lIns="198120" tIns="121920" rIns="198120" bIns="121920">
                      <a:noAutofit/>
                    </a:bodyPr>
                    <a:lstStyle/>
                    <a:p>
                      <a:pPr algn="l">
                        <a:lnSpc>
                          <a:spcPct val="105000"/>
                        </a:lnSpc>
                        <a:buNone/>
                      </a:pPr>
                      <a:r>
                        <a:rPr sz="2760" b="1">
                          <a:solidFill>
                            <a:srgbClr val="FFFFFF"/>
                          </a:solidFill>
                          <a:latin typeface="Arial"/>
                          <a:ea typeface="Arial"/>
                          <a:cs typeface="Arial"/>
                        </a:rPr>
                        <a:t>Result</a:t>
                      </a:r>
                    </a:p>
                  </a:txBody>
                  <a:tcPr marL="91440" marR="91440" marT="45720" marB="45720" anchor="ctr">
                    <a:solidFill>
                      <a:srgbClr val="14243B"/>
                    </a:solidFill>
                  </a:tcPr>
                </a:tc>
              </a:tr>
              <a:tr h="838200">
                <a:tc>
                  <a:txBody>
                    <a:bodyPr lIns="198120" tIns="121920" rIns="198120" bIns="121920">
                      <a:noAutofit/>
                    </a:bodyPr>
                    <a:lstStyle/>
                    <a:p>
                      <a:pPr algn="l">
                        <a:lnSpc>
                          <a:spcPct val="105000"/>
                        </a:lnSpc>
                        <a:buNone/>
                      </a:pPr>
                      <a:r>
                        <a:rPr sz="2760" b="0">
                          <a:solidFill>
                            <a:srgbClr val="14243B"/>
                          </a:solidFill>
                          <a:latin typeface="Arial"/>
                          <a:ea typeface="Arial"/>
                          <a:cs typeface="Arial"/>
                        </a:rPr>
                        <a:t>Predicted dense points</a:t>
                      </a:r>
                    </a:p>
                  </a:txBody>
                  <a:tcPr marL="91440" marR="91440" marT="45720" marB="45720" anchor="ctr">
                    <a:solidFill>
                      <a:srgbClr val="FFFFFF"/>
                    </a:solidFill>
                  </a:tcPr>
                </a:tc>
                <a:tc>
                  <a:txBody>
                    <a:bodyPr lIns="198120" tIns="121920" rIns="198120" bIns="121920">
                      <a:noAutofit/>
                    </a:bodyPr>
                    <a:lstStyle/>
                    <a:p>
                      <a:pPr algn="l">
                        <a:lnSpc>
                          <a:spcPct val="105000"/>
                        </a:lnSpc>
                        <a:buNone/>
                      </a:pPr>
                      <a:r>
                        <a:rPr sz="2760" b="0">
                          <a:solidFill>
                            <a:srgbClr val="14243B"/>
                          </a:solidFill>
                          <a:latin typeface="Arial"/>
                          <a:ea typeface="Arial"/>
                          <a:cs typeface="Arial"/>
                        </a:rPr>
                        <a:t>4,208,069</a:t>
                      </a:r>
                    </a:p>
                  </a:txBody>
                  <a:tcPr marL="91440" marR="91440" marT="45720" marB="45720" anchor="ctr">
                    <a:solidFill>
                      <a:srgbClr val="FFFFFF"/>
                    </a:solidFill>
                  </a:tcPr>
                </a:tc>
              </a:tr>
              <a:tr h="838200">
                <a:tc>
                  <a:txBody>
                    <a:bodyPr lIns="198120" tIns="121920" rIns="198120" bIns="121920">
                      <a:noAutofit/>
                    </a:bodyPr>
                    <a:lstStyle/>
                    <a:p>
                      <a:pPr algn="l">
                        <a:lnSpc>
                          <a:spcPct val="105000"/>
                        </a:lnSpc>
                        <a:buNone/>
                      </a:pPr>
                      <a:r>
                        <a:rPr sz="2760" b="0">
                          <a:solidFill>
                            <a:srgbClr val="14243B"/>
                          </a:solidFill>
                          <a:latin typeface="Arial"/>
                          <a:ea typeface="Arial"/>
                          <a:cs typeface="Arial"/>
                        </a:rPr>
                        <a:t>Source-textured mesh</a:t>
                      </a:r>
                    </a:p>
                  </a:txBody>
                  <a:tcPr marL="91440" marR="91440" marT="45720" marB="45720" anchor="ctr">
                    <a:solidFill>
                      <a:srgbClr val="F4F7FA"/>
                    </a:solidFill>
                  </a:tcPr>
                </a:tc>
                <a:tc>
                  <a:txBody>
                    <a:bodyPr lIns="198120" tIns="121920" rIns="198120" bIns="121920">
                      <a:noAutofit/>
                    </a:bodyPr>
                    <a:lstStyle/>
                    <a:p>
                      <a:pPr algn="l">
                        <a:lnSpc>
                          <a:spcPct val="105000"/>
                        </a:lnSpc>
                        <a:buNone/>
                      </a:pPr>
                      <a:r>
                        <a:rPr sz="2760" b="0">
                          <a:solidFill>
                            <a:srgbClr val="14243B"/>
                          </a:solidFill>
                          <a:latin typeface="Arial"/>
                          <a:ea typeface="Arial"/>
                          <a:cs typeface="Arial"/>
                        </a:rPr>
                        <a:t>646,019 triangles</a:t>
                      </a:r>
                    </a:p>
                  </a:txBody>
                  <a:tcPr marL="91440" marR="91440" marT="45720" marB="45720" anchor="ctr">
                    <a:solidFill>
                      <a:srgbClr val="F4F7FA"/>
                    </a:solidFill>
                  </a:tcPr>
                </a:tc>
              </a:tr>
              <a:tr h="838200">
                <a:tc>
                  <a:txBody>
                    <a:bodyPr lIns="198120" tIns="121920" rIns="198120" bIns="121920">
                      <a:noAutofit/>
                    </a:bodyPr>
                    <a:lstStyle/>
                    <a:p>
                      <a:pPr algn="l">
                        <a:lnSpc>
                          <a:spcPct val="105000"/>
                        </a:lnSpc>
                        <a:buNone/>
                      </a:pPr>
                      <a:r>
                        <a:rPr sz="2760" b="0">
                          <a:solidFill>
                            <a:srgbClr val="14243B"/>
                          </a:solidFill>
                          <a:latin typeface="Arial"/>
                          <a:ea typeface="Arial"/>
                          <a:cs typeface="Arial"/>
                        </a:rPr>
                        <a:t>Trajectory RMSE, absolute</a:t>
                      </a:r>
                    </a:p>
                  </a:txBody>
                  <a:tcPr marL="91440" marR="91440" marT="45720" marB="45720" anchor="ctr">
                    <a:solidFill>
                      <a:srgbClr val="FFFFFF"/>
                    </a:solidFill>
                  </a:tcPr>
                </a:tc>
                <a:tc>
                  <a:txBody>
                    <a:bodyPr lIns="198120" tIns="121920" rIns="198120" bIns="121920">
                      <a:noAutofit/>
                    </a:bodyPr>
                    <a:lstStyle/>
                    <a:p>
                      <a:pPr algn="l">
                        <a:lnSpc>
                          <a:spcPct val="105000"/>
                        </a:lnSpc>
                        <a:buNone/>
                      </a:pPr>
                      <a:r>
                        <a:rPr sz="2760" b="0">
                          <a:solidFill>
                            <a:srgbClr val="14243B"/>
                          </a:solidFill>
                          <a:latin typeface="Arial"/>
                          <a:ea typeface="Arial"/>
                          <a:cs typeface="Arial"/>
                        </a:rPr>
                        <a:t>8.649 m</a:t>
                      </a:r>
                    </a:p>
                  </a:txBody>
                  <a:tcPr marL="91440" marR="91440" marT="45720" marB="45720" anchor="ctr">
                    <a:solidFill>
                      <a:srgbClr val="FFFFFF"/>
                    </a:solidFill>
                  </a:tcPr>
                </a:tc>
              </a:tr>
              <a:tr h="838200">
                <a:tc>
                  <a:txBody>
                    <a:bodyPr lIns="198120" tIns="121920" rIns="198120" bIns="121920">
                      <a:noAutofit/>
                    </a:bodyPr>
                    <a:lstStyle/>
                    <a:p>
                      <a:pPr algn="l">
                        <a:lnSpc>
                          <a:spcPct val="105000"/>
                        </a:lnSpc>
                        <a:buNone/>
                      </a:pPr>
                      <a:r>
                        <a:rPr sz="2760" b="0">
                          <a:solidFill>
                            <a:srgbClr val="14243B"/>
                          </a:solidFill>
                          <a:latin typeface="Arial"/>
                          <a:ea typeface="Arial"/>
                          <a:cs typeface="Arial"/>
                        </a:rPr>
                        <a:t>Trajectory RMSE, SE(3)</a:t>
                      </a:r>
                    </a:p>
                  </a:txBody>
                  <a:tcPr marL="91440" marR="91440" marT="45720" marB="45720" anchor="ctr">
                    <a:solidFill>
                      <a:srgbClr val="F4F7FA"/>
                    </a:solidFill>
                  </a:tcPr>
                </a:tc>
                <a:tc>
                  <a:txBody>
                    <a:bodyPr lIns="198120" tIns="121920" rIns="198120" bIns="121920">
                      <a:noAutofit/>
                    </a:bodyPr>
                    <a:lstStyle/>
                    <a:p>
                      <a:pPr algn="l">
                        <a:lnSpc>
                          <a:spcPct val="105000"/>
                        </a:lnSpc>
                        <a:buNone/>
                      </a:pPr>
                      <a:r>
                        <a:rPr sz="2760" b="0">
                          <a:solidFill>
                            <a:srgbClr val="14243B"/>
                          </a:solidFill>
                          <a:latin typeface="Arial"/>
                          <a:ea typeface="Arial"/>
                          <a:cs typeface="Arial"/>
                        </a:rPr>
                        <a:t>0.451 m</a:t>
                      </a:r>
                    </a:p>
                  </a:txBody>
                  <a:tcPr marL="91440" marR="91440" marT="45720" marB="45720" anchor="ctr">
                    <a:solidFill>
                      <a:srgbClr val="F4F7FA"/>
                    </a:solidFill>
                  </a:tcPr>
                </a:tc>
              </a:tr>
              <a:tr h="838200">
                <a:tc>
                  <a:txBody>
                    <a:bodyPr lIns="198120" tIns="121920" rIns="198120" bIns="121920">
                      <a:noAutofit/>
                    </a:bodyPr>
                    <a:lstStyle/>
                    <a:p>
                      <a:pPr algn="l">
                        <a:lnSpc>
                          <a:spcPct val="105000"/>
                        </a:lnSpc>
                        <a:buNone/>
                      </a:pPr>
                      <a:r>
                        <a:rPr sz="2760" b="0">
                          <a:solidFill>
                            <a:srgbClr val="14243B"/>
                          </a:solidFill>
                          <a:latin typeface="Arial"/>
                          <a:ea typeface="Arial"/>
                          <a:cs typeface="Arial"/>
                        </a:rPr>
                        <a:t>Trajectory RMSE, Sim(3)</a:t>
                      </a:r>
                    </a:p>
                  </a:txBody>
                  <a:tcPr marL="91440" marR="91440" marT="45720" marB="45720" anchor="ctr">
                    <a:solidFill>
                      <a:srgbClr val="FFFFFF"/>
                    </a:solidFill>
                  </a:tcPr>
                </a:tc>
                <a:tc>
                  <a:txBody>
                    <a:bodyPr lIns="198120" tIns="121920" rIns="198120" bIns="121920">
                      <a:noAutofit/>
                    </a:bodyPr>
                    <a:lstStyle/>
                    <a:p>
                      <a:pPr algn="l">
                        <a:lnSpc>
                          <a:spcPct val="105000"/>
                        </a:lnSpc>
                        <a:buNone/>
                      </a:pPr>
                      <a:r>
                        <a:rPr sz="2760" b="0">
                          <a:solidFill>
                            <a:srgbClr val="14243B"/>
                          </a:solidFill>
                          <a:latin typeface="Arial"/>
                          <a:ea typeface="Arial"/>
                          <a:cs typeface="Arial"/>
                        </a:rPr>
                        <a:t>0.397 m</a:t>
                      </a:r>
                    </a:p>
                  </a:txBody>
                  <a:tcPr marL="91440" marR="91440" marT="45720" marB="45720" anchor="ctr">
                    <a:solidFill>
                      <a:srgbClr val="FFFFFF"/>
                    </a:solidFill>
                  </a:tcPr>
                </a:tc>
              </a:tr>
              <a:tr h="838200">
                <a:tc>
                  <a:txBody>
                    <a:bodyPr lIns="198120" tIns="121920" rIns="198120" bIns="121920">
                      <a:noAutofit/>
                    </a:bodyPr>
                    <a:lstStyle/>
                    <a:p>
                      <a:pPr algn="l">
                        <a:lnSpc>
                          <a:spcPct val="105000"/>
                        </a:lnSpc>
                        <a:buNone/>
                      </a:pPr>
                      <a:r>
                        <a:rPr sz="2760" b="0">
                          <a:solidFill>
                            <a:srgbClr val="14243B"/>
                          </a:solidFill>
                          <a:latin typeface="Arial"/>
                          <a:ea typeface="Arial"/>
                          <a:cs typeface="Arial"/>
                        </a:rPr>
                        <a:t>Separate stage times, summed</a:t>
                      </a:r>
                    </a:p>
                  </a:txBody>
                  <a:tcPr marL="91440" marR="91440" marT="45720" marB="45720" anchor="ctr">
                    <a:solidFill>
                      <a:srgbClr val="F4F7FA"/>
                    </a:solidFill>
                  </a:tcPr>
                </a:tc>
                <a:tc>
                  <a:txBody>
                    <a:bodyPr lIns="198120" tIns="121920" rIns="198120" bIns="121920">
                      <a:noAutofit/>
                    </a:bodyPr>
                    <a:lstStyle/>
                    <a:p>
                      <a:pPr algn="l">
                        <a:lnSpc>
                          <a:spcPct val="105000"/>
                        </a:lnSpc>
                        <a:buNone/>
                      </a:pPr>
                      <a:r>
                        <a:rPr sz="2760" b="0">
                          <a:solidFill>
                            <a:srgbClr val="14243B"/>
                          </a:solidFill>
                          <a:latin typeface="Arial"/>
                          <a:ea typeface="Arial"/>
                          <a:cs typeface="Arial"/>
                        </a:rPr>
                        <a:t>6 min 10 s</a:t>
                      </a:r>
                    </a:p>
                  </a:txBody>
                  <a:tcPr marL="91440" marR="91440" marT="45720" marB="45720" anchor="ctr">
                    <a:solidFill>
                      <a:srgbClr val="F4F7FA"/>
                    </a:solidFill>
                  </a:tcPr>
                </a:tc>
              </a:tr>
            </a:tbl>
          </a:graphicData>
        </a:graphic>
      </p:graphicFrame>
      <p:sp>
        <p:nvSpPr>
          <p:cNvPr id="12" name="shape-106">
            <a:extLst xmlns:a="http://schemas.openxmlformats.org/drawingml/2006/main">
              <a:ext uri="{FF2B5EF4-FFF2-40B4-BE49-F238E27FC236}">
                <a16:creationId xmlns:a16="http://schemas.microsoft.com/office/drawing/2014/main" id="{8D02C03F-B19F-4F4D-86DA-C3F23C1405AC}"/>
              </a:ext>
            </a:extLst>
          </p:cNvPr>
          <p:cNvSpPr>
            <a:spLocks xmlns:a="http://schemas.openxmlformats.org/drawingml/2006/main" noGrp="1"/>
          </p:cNvSpPr>
          <p:nvPr/>
        </p:nvSpPr>
        <p:spPr>
          <a:xfrm xmlns:a="http://schemas.openxmlformats.org/drawingml/2006/main">
            <a:off x="914400" y="10622280"/>
            <a:ext cx="11887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240" b="1">
                <a:solidFill>
                  <a:srgbClr val="7544C4"/>
                </a:solidFill>
                <a:latin typeface="Arial"/>
                <a:ea typeface="Arial"/>
                <a:cs typeface="Arial"/>
              </a:defRPr>
            </a:pPr>
            <a:r>
              <a:rPr sz="3240" b="1">
                <a:solidFill>
                  <a:srgbClr val="7544C4"/>
                </a:solidFill>
                <a:latin typeface="Arial"/>
                <a:ea typeface="Arial"/>
                <a:cs typeface="Arial"/>
              </a:rPr>
              <a:t>Trajectory alignment changes the question</a:t>
            </a:r>
          </a:p>
        </p:txBody>
      </p:sp>
      <p:sp>
        <p:nvSpPr>
          <p:cNvPr id="13" name="shape-107">
            <a:extLst xmlns:a="http://schemas.openxmlformats.org/drawingml/2006/main">
              <a:ext uri="{FF2B5EF4-FFF2-40B4-BE49-F238E27FC236}">
                <a16:creationId xmlns:a16="http://schemas.microsoft.com/office/drawing/2014/main" id="{876A6ACC-25C5-45AE-A5A5-9AAF30267D35}"/>
              </a:ext>
            </a:extLst>
          </p:cNvPr>
          <p:cNvSpPr>
            <a:spLocks xmlns:a="http://schemas.openxmlformats.org/drawingml/2006/main" noGrp="1"/>
          </p:cNvSpPr>
          <p:nvPr/>
        </p:nvSpPr>
        <p:spPr>
          <a:xfrm xmlns:a="http://schemas.openxmlformats.org/drawingml/2006/main">
            <a:off x="929640" y="11369040"/>
            <a:ext cx="11887200" cy="1356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SE(3) fits rotation and translation. Sim(3) also fits scale.</a:t>
            </a:r>
          </a:p>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Neither measures surface error. The summed timing</a:t>
            </a:r>
          </a:p>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excludes upload, queue delay and packaging.</a:t>
            </a:r>
          </a:p>
        </p:txBody>
      </p:sp>
      <p:sp>
        <p:nvSpPr>
          <p:cNvPr id="14" name="shape-108">
            <a:extLst xmlns:a="http://schemas.openxmlformats.org/drawingml/2006/main">
              <a:ext uri="{FF2B5EF4-FFF2-40B4-BE49-F238E27FC236}">
                <a16:creationId xmlns:a16="http://schemas.microsoft.com/office/drawing/2014/main" id="{CF15B167-B3B8-440C-9F86-C0D864191A8A}"/>
              </a:ext>
            </a:extLst>
          </p:cNvPr>
          <p:cNvSpPr>
            <a:spLocks xmlns:a="http://schemas.openxmlformats.org/drawingml/2006/main" noGrp="1"/>
          </p:cNvSpPr>
          <p:nvPr/>
        </p:nvSpPr>
        <p:spPr>
          <a:xfrm xmlns:a="http://schemas.openxmlformats.org/drawingml/2006/main">
            <a:off x="13624560" y="4450080"/>
            <a:ext cx="1002792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C84D35"/>
                </a:solidFill>
                <a:latin typeface="Arial"/>
                <a:ea typeface="Arial"/>
                <a:cs typeface="Arial"/>
              </a:defRPr>
            </a:pPr>
            <a:r>
              <a:rPr sz="3360" b="1">
                <a:solidFill>
                  <a:srgbClr val="C84D35"/>
                </a:solidFill>
                <a:latin typeface="Arial"/>
                <a:ea typeface="Arial"/>
                <a:cs typeface="Arial"/>
              </a:rPr>
              <a:t>Spatial accuracy ≤1 m</a:t>
            </a:r>
          </a:p>
        </p:txBody>
      </p:sp>
      <p:sp>
        <p:nvSpPr>
          <p:cNvPr id="15" name="shape-109">
            <a:extLst xmlns:a="http://schemas.openxmlformats.org/drawingml/2006/main">
              <a:ext uri="{FF2B5EF4-FFF2-40B4-BE49-F238E27FC236}">
                <a16:creationId xmlns:a16="http://schemas.microsoft.com/office/drawing/2014/main" id="{76F4D176-3080-4B53-829E-F44B1CE9C9C3}"/>
              </a:ext>
            </a:extLst>
          </p:cNvPr>
          <p:cNvSpPr>
            <a:spLocks xmlns:a="http://schemas.openxmlformats.org/drawingml/2006/main" noGrp="1"/>
          </p:cNvSpPr>
          <p:nvPr/>
        </p:nvSpPr>
        <p:spPr>
          <a:xfrm xmlns:a="http://schemas.openxmlformats.org/drawingml/2006/main">
            <a:off x="13655040" y="5181600"/>
            <a:ext cx="9921240" cy="1036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Surface accuracy remains unmeasured.</a:t>
            </a:r>
          </a:p>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Absolute trajectory error is 8.649 m.</a:t>
            </a:r>
          </a:p>
        </p:txBody>
      </p:sp>
      <p:sp>
        <p:nvSpPr>
          <p:cNvPr id="16" name="shape-110">
            <a:extLst xmlns:a="http://schemas.openxmlformats.org/drawingml/2006/main">
              <a:ext uri="{FF2B5EF4-FFF2-40B4-BE49-F238E27FC236}">
                <a16:creationId xmlns:a16="http://schemas.microsoft.com/office/drawing/2014/main" id="{EED6B04C-BE96-43DB-AC30-FD88CD9C9DF2}"/>
              </a:ext>
            </a:extLst>
          </p:cNvPr>
          <p:cNvSpPr>
            <a:spLocks xmlns:a="http://schemas.openxmlformats.org/drawingml/2006/main" noGrp="1"/>
          </p:cNvSpPr>
          <p:nvPr/>
        </p:nvSpPr>
        <p:spPr>
          <a:xfrm xmlns:a="http://schemas.openxmlformats.org/drawingml/2006/main">
            <a:off x="13624560" y="6522720"/>
            <a:ext cx="1002792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2464C7"/>
                </a:solidFill>
                <a:latin typeface="Arial"/>
                <a:ea typeface="Arial"/>
                <a:cs typeface="Arial"/>
              </a:defRPr>
            </a:pPr>
            <a:r>
              <a:rPr sz="3360" b="1">
                <a:solidFill>
                  <a:srgbClr val="2464C7"/>
                </a:solidFill>
                <a:latin typeface="Arial"/>
                <a:ea typeface="Arial"/>
                <a:cs typeface="Arial"/>
              </a:rPr>
              <a:t>Entire visible scene</a:t>
            </a:r>
          </a:p>
        </p:txBody>
      </p:sp>
      <p:sp>
        <p:nvSpPr>
          <p:cNvPr id="17" name="shape-111">
            <a:extLst xmlns:a="http://schemas.openxmlformats.org/drawingml/2006/main">
              <a:ext uri="{FF2B5EF4-FFF2-40B4-BE49-F238E27FC236}">
                <a16:creationId xmlns:a16="http://schemas.microsoft.com/office/drawing/2014/main" id="{DE36C523-3B49-4C25-AF7A-6610F772CF71}"/>
              </a:ext>
            </a:extLst>
          </p:cNvPr>
          <p:cNvSpPr>
            <a:spLocks xmlns:a="http://schemas.openxmlformats.org/drawingml/2006/main" noGrp="1"/>
          </p:cNvSpPr>
          <p:nvPr/>
        </p:nvSpPr>
        <p:spPr>
          <a:xfrm xmlns:a="http://schemas.openxmlformats.org/drawingml/2006/main">
            <a:off x="13655040" y="7254240"/>
            <a:ext cx="9921240" cy="1036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Coverage remains partial, with holes</a:t>
            </a:r>
          </a:p>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and fusion artifacts.</a:t>
            </a:r>
          </a:p>
        </p:txBody>
      </p:sp>
      <p:sp>
        <p:nvSpPr>
          <p:cNvPr id="18" name="shape-112">
            <a:extLst xmlns:a="http://schemas.openxmlformats.org/drawingml/2006/main">
              <a:ext uri="{FF2B5EF4-FFF2-40B4-BE49-F238E27FC236}">
                <a16:creationId xmlns:a16="http://schemas.microsoft.com/office/drawing/2014/main" id="{F3845BE3-F30E-462B-8432-83C43870F8A5}"/>
              </a:ext>
            </a:extLst>
          </p:cNvPr>
          <p:cNvSpPr>
            <a:spLocks xmlns:a="http://schemas.openxmlformats.org/drawingml/2006/main" noGrp="1"/>
          </p:cNvSpPr>
          <p:nvPr/>
        </p:nvSpPr>
        <p:spPr>
          <a:xfrm xmlns:a="http://schemas.openxmlformats.org/drawingml/2006/main">
            <a:off x="13624560" y="8595360"/>
            <a:ext cx="1002792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C84D35"/>
                </a:solidFill>
                <a:latin typeface="Arial"/>
                <a:ea typeface="Arial"/>
                <a:cs typeface="Arial"/>
              </a:defRPr>
            </a:pPr>
            <a:r>
              <a:rPr sz="3360" b="1">
                <a:solidFill>
                  <a:srgbClr val="C84D35"/>
                </a:solidFill>
                <a:latin typeface="Arial"/>
                <a:ea typeface="Arial"/>
                <a:cs typeface="Arial"/>
              </a:rPr>
              <a:t>&lt;15 min for 10 min of video</a:t>
            </a:r>
          </a:p>
        </p:txBody>
      </p:sp>
      <p:sp>
        <p:nvSpPr>
          <p:cNvPr id="19" name="shape-113">
            <a:extLst xmlns:a="http://schemas.openxmlformats.org/drawingml/2006/main">
              <a:ext uri="{FF2B5EF4-FFF2-40B4-BE49-F238E27FC236}">
                <a16:creationId xmlns:a16="http://schemas.microsoft.com/office/drawing/2014/main" id="{50E29900-03EB-42EC-8746-A8BF46B7CCC5}"/>
              </a:ext>
            </a:extLst>
          </p:cNvPr>
          <p:cNvSpPr>
            <a:spLocks xmlns:a="http://schemas.openxmlformats.org/drawingml/2006/main" noGrp="1"/>
          </p:cNvSpPr>
          <p:nvPr/>
        </p:nvSpPr>
        <p:spPr>
          <a:xfrm xmlns:a="http://schemas.openxmlformats.org/drawingml/2006/main">
            <a:off x="13655040" y="9326880"/>
            <a:ext cx="9921240" cy="1036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The required long-video benchmark</a:t>
            </a:r>
          </a:p>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has not been run.</a:t>
            </a:r>
          </a:p>
        </p:txBody>
      </p:sp>
      <p:sp>
        <p:nvSpPr>
          <p:cNvPr id="20" name="shape-114">
            <a:extLst xmlns:a="http://schemas.openxmlformats.org/drawingml/2006/main">
              <a:ext uri="{FF2B5EF4-FFF2-40B4-BE49-F238E27FC236}">
                <a16:creationId xmlns:a16="http://schemas.microsoft.com/office/drawing/2014/main" id="{B5C863CE-96A0-4D00-9FAA-A27002E93778}"/>
              </a:ext>
            </a:extLst>
          </p:cNvPr>
          <p:cNvSpPr>
            <a:spLocks xmlns:a="http://schemas.openxmlformats.org/drawingml/2006/main" noGrp="1"/>
          </p:cNvSpPr>
          <p:nvPr/>
        </p:nvSpPr>
        <p:spPr>
          <a:xfrm xmlns:a="http://schemas.openxmlformats.org/drawingml/2006/main">
            <a:off x="13624560" y="10668000"/>
            <a:ext cx="1002792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360" b="1">
                <a:solidFill>
                  <a:srgbClr val="087E70"/>
                </a:solidFill>
                <a:latin typeface="Arial"/>
                <a:ea typeface="Arial"/>
                <a:cs typeface="Arial"/>
              </a:defRPr>
            </a:pPr>
            <a:r>
              <a:rPr sz="3360" b="1">
                <a:solidFill>
                  <a:srgbClr val="087E70"/>
                </a:solidFill>
                <a:latin typeface="Arial"/>
                <a:ea typeface="Arial"/>
                <a:cs typeface="Arial"/>
              </a:rPr>
              <a:t>Viewer and geospatial exports</a:t>
            </a:r>
          </a:p>
        </p:txBody>
      </p:sp>
      <p:sp>
        <p:nvSpPr>
          <p:cNvPr id="21" name="shape-115">
            <a:extLst xmlns:a="http://schemas.openxmlformats.org/drawingml/2006/main">
              <a:ext uri="{FF2B5EF4-FFF2-40B4-BE49-F238E27FC236}">
                <a16:creationId xmlns:a16="http://schemas.microsoft.com/office/drawing/2014/main" id="{2A6D2E28-92D8-4EFF-998B-982CB31EC2BD}"/>
              </a:ext>
            </a:extLst>
          </p:cNvPr>
          <p:cNvSpPr>
            <a:spLocks xmlns:a="http://schemas.openxmlformats.org/drawingml/2006/main" noGrp="1"/>
          </p:cNvSpPr>
          <p:nvPr/>
        </p:nvSpPr>
        <p:spPr>
          <a:xfrm xmlns:a="http://schemas.openxmlformats.org/drawingml/2006/main">
            <a:off x="13655040" y="11399520"/>
            <a:ext cx="9921240" cy="1036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Public viewer and several formats available.</a:t>
            </a:r>
          </a:p>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FBX remains undemonstrated.</a:t>
            </a:r>
          </a:p>
        </p:txBody>
      </p:sp>
    </p:spTree>
    <p:extLst>
      <p:ext uri="{BB962C8B-B14F-4D97-AF65-F5344CB8AC3E}">
        <p14:creationId xmlns:p14="http://schemas.microsoft.com/office/powerpoint/2010/main" val="976945187"/>
      </p:ext>
    </p:extLst>
  </p:cSld>
</p:sld>
</file>

<file path=ppt/slides/slide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23" name="shape-116">
            <a:extLst xmlns:a="http://schemas.openxmlformats.org/drawingml/2006/main">
              <a:ext uri="{FF2B5EF4-FFF2-40B4-BE49-F238E27FC236}">
                <a16:creationId xmlns:a16="http://schemas.microsoft.com/office/drawing/2014/main" id="{616FA128-30FA-487E-B3AD-078987BA41AC}"/>
              </a:ext>
            </a:extLst>
          </p:cNvPr>
          <p:cNvSpPr>
            <a:spLocks xmlns:a="http://schemas.openxmlformats.org/drawingml/2006/main" noGrp="1"/>
          </p:cNvSpPr>
          <p:nvPr/>
        </p:nvSpPr>
        <p:spPr>
          <a:xfrm xmlns:a="http://schemas.openxmlformats.org/drawingml/2006/main">
            <a:off x="91440" y="76200"/>
            <a:ext cx="24201120" cy="13563600"/>
          </a:xfrm>
          <a:prstGeom xmlns:a="http://schemas.openxmlformats.org/drawingml/2006/main" prst="rect">
            <a:avLst/>
          </a:prstGeom>
          <a:noFill xmlns:a="http://schemas.openxmlformats.org/drawingml/2006/main"/>
          <a:ln xmlns:a="http://schemas.openxmlformats.org/drawingml/2006/main" w="15240">
            <a:solidFill>
              <a:srgbClr val="E4E7EB"/>
            </a:solidFill>
            <a:prstDash val="solid"/>
          </a:ln>
        </p:spPr>
      </p:sp>
      <p:sp>
        <p:nvSpPr>
          <p:cNvPr id="2" name="shape-117">
            <a:extLst xmlns:a="http://schemas.openxmlformats.org/drawingml/2006/main">
              <a:ext uri="{FF2B5EF4-FFF2-40B4-BE49-F238E27FC236}">
                <a16:creationId xmlns:a16="http://schemas.microsoft.com/office/drawing/2014/main" id="{C98B7DC5-44FB-45F0-B92F-AF82801F24C3}"/>
              </a:ext>
            </a:extLst>
          </p:cNvPr>
          <p:cNvSpPr>
            <a:spLocks xmlns:a="http://schemas.openxmlformats.org/drawingml/2006/main" noGrp="1"/>
          </p:cNvSpPr>
          <p:nvPr/>
        </p:nvSpPr>
        <p:spPr>
          <a:xfrm xmlns:a="http://schemas.openxmlformats.org/drawingml/2006/main">
            <a:off x="868680" y="640080"/>
            <a:ext cx="320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VoxelFlight</a:t>
            </a:r>
          </a:p>
        </p:txBody>
      </p:sp>
      <p:sp>
        <p:nvSpPr>
          <p:cNvPr id="3" name="shape-118">
            <a:extLst xmlns:a="http://schemas.openxmlformats.org/drawingml/2006/main">
              <a:ext uri="{FF2B5EF4-FFF2-40B4-BE49-F238E27FC236}">
                <a16:creationId xmlns:a16="http://schemas.microsoft.com/office/drawing/2014/main" id="{24967A39-801F-4EDC-9ADE-359DE04C698B}"/>
              </a:ext>
            </a:extLst>
          </p:cNvPr>
          <p:cNvSpPr>
            <a:spLocks xmlns:a="http://schemas.openxmlformats.org/drawingml/2006/main" noGrp="1"/>
          </p:cNvSpPr>
          <p:nvPr/>
        </p:nvSpPr>
        <p:spPr>
          <a:xfrm xmlns:a="http://schemas.openxmlformats.org/drawingml/2006/main">
            <a:off x="4343400" y="533400"/>
            <a:ext cx="15240000" cy="1082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760" b="1">
                <a:solidFill>
                  <a:srgbClr val="14243B"/>
                </a:solidFill>
                <a:latin typeface="Times New Roman"/>
                <a:ea typeface="Times New Roman"/>
                <a:cs typeface="Times New Roman"/>
              </a:defRPr>
            </a:pPr>
            <a:r>
              <a:rPr sz="5760" b="1">
                <a:solidFill>
                  <a:srgbClr val="14243B"/>
                </a:solidFill>
                <a:latin typeface="Times New Roman"/>
                <a:ea typeface="Times New Roman"/>
                <a:cs typeface="Times New Roman"/>
              </a:rPr>
              <a:t>IMPACT AND BENEFITS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9f9fd7193494367"/>
          <a:stretch xmlns:a="http://schemas.openxmlformats.org/drawingml/2006/main"/>
        </p:blipFill>
        <p:spPr>
          <a:xfrm xmlns:a="http://schemas.openxmlformats.org/drawingml/2006/main">
            <a:off x="19903440" y="220568"/>
            <a:ext cx="1219200" cy="1433384"/>
          </a:xfrm>
          <a:prstGeom xmlns:a="http://schemas.openxmlformats.org/drawingml/2006/main" prst="rect">
            <a:avLst/>
          </a:prstGeom>
        </p:spPr>
      </p:pic>
      <p:sp>
        <p:nvSpPr>
          <p:cNvPr id="5" name="shape-119">
            <a:extLst xmlns:a="http://schemas.openxmlformats.org/drawingml/2006/main">
              <a:ext uri="{FF2B5EF4-FFF2-40B4-BE49-F238E27FC236}">
                <a16:creationId xmlns:a16="http://schemas.microsoft.com/office/drawing/2014/main" id="{2A7F00FB-A070-44D5-973C-E930BFD71CF7}"/>
              </a:ext>
            </a:extLst>
          </p:cNvPr>
          <p:cNvSpPr>
            <a:spLocks xmlns:a="http://schemas.openxmlformats.org/drawingml/2006/main" noGrp="1"/>
          </p:cNvSpPr>
          <p:nvPr/>
        </p:nvSpPr>
        <p:spPr>
          <a:xfrm xmlns:a="http://schemas.openxmlformats.org/drawingml/2006/main">
            <a:off x="21305520" y="563880"/>
            <a:ext cx="240792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SMART INDIA</a:t>
            </a:r>
          </a:p>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HACKATHON 2026</a:t>
            </a:r>
          </a:p>
        </p:txBody>
      </p:sp>
      <p:sp>
        <p:nvSpPr>
          <p:cNvPr id="6" name="shape-120">
            <a:extLst xmlns:a="http://schemas.openxmlformats.org/drawingml/2006/main">
              <a:ext uri="{FF2B5EF4-FFF2-40B4-BE49-F238E27FC236}">
                <a16:creationId xmlns:a16="http://schemas.microsoft.com/office/drawing/2014/main" id="{F4F577C1-E1B0-4CBA-931D-04F6AD6C0715}"/>
              </a:ext>
            </a:extLst>
          </p:cNvPr>
          <p:cNvSpPr>
            <a:spLocks xmlns:a="http://schemas.openxmlformats.org/drawingml/2006/main" noGrp="1"/>
          </p:cNvSpPr>
          <p:nvPr/>
        </p:nvSpPr>
        <p:spPr>
          <a:xfrm xmlns:a="http://schemas.openxmlformats.org/drawingml/2006/main">
            <a:off x="868680" y="1905000"/>
            <a:ext cx="22768560" cy="0"/>
          </a:xfrm>
          <a:prstGeom xmlns:a="http://schemas.openxmlformats.org/drawingml/2006/main" prst="line">
            <a:avLst/>
          </a:prstGeom>
          <a:noFill xmlns:a="http://schemas.openxmlformats.org/drawingml/2006/main"/>
          <a:ln xmlns:a="http://schemas.openxmlformats.org/drawingml/2006/main" w="15240">
            <a:solidFill>
              <a:srgbClr val="087E70"/>
            </a:solidFill>
            <a:prstDash val="solid"/>
          </a:ln>
        </p:spPr>
      </p:sp>
      <p:sp>
        <p:nvSpPr>
          <p:cNvPr id="7" name="shape-121">
            <a:extLst xmlns:a="http://schemas.openxmlformats.org/drawingml/2006/main">
              <a:ext uri="{FF2B5EF4-FFF2-40B4-BE49-F238E27FC236}">
                <a16:creationId xmlns:a16="http://schemas.microsoft.com/office/drawing/2014/main" id="{3F3876F7-B652-4CF2-ADEC-E0B7BBD48793}"/>
              </a:ext>
            </a:extLst>
          </p:cNvPr>
          <p:cNvSpPr>
            <a:spLocks xmlns:a="http://schemas.openxmlformats.org/drawingml/2006/main" noGrp="1"/>
          </p:cNvSpPr>
          <p:nvPr/>
        </p:nvSpPr>
        <p:spPr>
          <a:xfrm xmlns:a="http://schemas.openxmlformats.org/drawingml/2006/main">
            <a:off x="868680" y="13060680"/>
            <a:ext cx="1828800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20" b="0">
                <a:solidFill>
                  <a:srgbClr val="516178"/>
                </a:solidFill>
                <a:latin typeface="Arial"/>
                <a:ea typeface="Arial"/>
                <a:cs typeface="Arial"/>
              </a:defRPr>
            </a:pPr>
            <a:r>
              <a:rPr sz="1920" b="0">
                <a:solidFill>
                  <a:srgbClr val="516178"/>
                </a:solidFill>
                <a:latin typeface="Arial"/>
                <a:ea typeface="Arial"/>
                <a:cs typeface="Arial"/>
              </a:rPr>
              <a:t>SIH26158  /  SOFTWARE  /  DRONE &amp; ROBOTICS</a:t>
            </a:r>
          </a:p>
        </p:txBody>
      </p:sp>
      <p:sp>
        <p:nvSpPr>
          <p:cNvPr id="8" name="shape-122">
            <a:extLst xmlns:a="http://schemas.openxmlformats.org/drawingml/2006/main">
              <a:ext uri="{FF2B5EF4-FFF2-40B4-BE49-F238E27FC236}">
                <a16:creationId xmlns:a16="http://schemas.microsoft.com/office/drawing/2014/main" id="{63CB7A43-797F-4A26-A975-9E8A1D558EA7}"/>
              </a:ext>
            </a:extLst>
          </p:cNvPr>
          <p:cNvSpPr>
            <a:spLocks xmlns:a="http://schemas.openxmlformats.org/drawingml/2006/main" noGrp="1"/>
          </p:cNvSpPr>
          <p:nvPr/>
        </p:nvSpPr>
        <p:spPr>
          <a:xfrm xmlns:a="http://schemas.openxmlformats.org/drawingml/2006/main">
            <a:off x="22555200" y="13060680"/>
            <a:ext cx="109728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2040" b="0">
                <a:solidFill>
                  <a:srgbClr val="516178"/>
                </a:solidFill>
                <a:latin typeface="Arial"/>
                <a:ea typeface="Arial"/>
                <a:cs typeface="Arial"/>
              </a:defRPr>
            </a:pPr>
            <a:r>
              <a:rPr sz="2040" b="0">
                <a:solidFill>
                  <a:srgbClr val="516178"/>
                </a:solidFill>
                <a:latin typeface="Arial"/>
                <a:ea typeface="Arial"/>
                <a:cs typeface="Arial"/>
              </a:rPr>
              <a:t>05 / 06</a:t>
            </a:r>
          </a:p>
        </p:txBody>
      </p:sp>
      <p:sp>
        <p:nvSpPr>
          <p:cNvPr id="9" name="shape-123">
            <a:extLst xmlns:a="http://schemas.openxmlformats.org/drawingml/2006/main">
              <a:ext uri="{FF2B5EF4-FFF2-40B4-BE49-F238E27FC236}">
                <a16:creationId xmlns:a16="http://schemas.microsoft.com/office/drawing/2014/main" id="{7D884C0F-A16D-443F-9E99-FE0B0F1DEA7C}"/>
              </a:ext>
            </a:extLst>
          </p:cNvPr>
          <p:cNvSpPr>
            <a:spLocks xmlns:a="http://schemas.openxmlformats.org/drawingml/2006/main" noGrp="1"/>
          </p:cNvSpPr>
          <p:nvPr/>
        </p:nvSpPr>
        <p:spPr>
          <a:xfrm xmlns:a="http://schemas.openxmlformats.org/drawingml/2006/main">
            <a:off x="868680" y="2301240"/>
            <a:ext cx="227076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4800" b="1">
                <a:solidFill>
                  <a:srgbClr val="14243B"/>
                </a:solidFill>
                <a:latin typeface="Arial"/>
                <a:ea typeface="Arial"/>
                <a:cs typeface="Arial"/>
              </a:defRPr>
            </a:pPr>
            <a:r>
              <a:rPr sz="4800" b="1">
                <a:solidFill>
                  <a:srgbClr val="14243B"/>
                </a:solidFill>
                <a:latin typeface="Arial"/>
                <a:ea typeface="Arial"/>
                <a:cs typeface="Arial"/>
              </a:rPr>
              <a:t>A video-first workspace for inspection</a:t>
            </a:r>
          </a:p>
        </p:txBody>
      </p:sp>
      <p:sp>
        <p:nvSpPr>
          <p:cNvPr id="10" name="shape-124">
            <a:extLst xmlns:a="http://schemas.openxmlformats.org/drawingml/2006/main">
              <a:ext uri="{FF2B5EF4-FFF2-40B4-BE49-F238E27FC236}">
                <a16:creationId xmlns:a16="http://schemas.microsoft.com/office/drawing/2014/main" id="{E13E4A19-D257-44C4-9AEF-C37AD88085CE}"/>
              </a:ext>
            </a:extLst>
          </p:cNvPr>
          <p:cNvSpPr>
            <a:spLocks xmlns:a="http://schemas.openxmlformats.org/drawingml/2006/main" noGrp="1"/>
          </p:cNvSpPr>
          <p:nvPr/>
        </p:nvSpPr>
        <p:spPr>
          <a:xfrm xmlns:a="http://schemas.openxmlformats.org/drawingml/2006/main">
            <a:off x="899160" y="3261360"/>
            <a:ext cx="2263140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Reviewers can watch the source flight, inspect the actual geometry and download the available scene files.</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8cd550976a45429e"/>
          <a:stretch xmlns:a="http://schemas.openxmlformats.org/drawingml/2006/main"/>
        </p:blipFill>
        <p:spPr>
          <a:xfrm xmlns:a="http://schemas.openxmlformats.org/drawingml/2006/main">
            <a:off x="883920" y="4788857"/>
            <a:ext cx="6096000" cy="6485247"/>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eb58f23faab842f2"/>
          <a:stretch xmlns:a="http://schemas.openxmlformats.org/drawingml/2006/main"/>
        </p:blipFill>
        <p:spPr>
          <a:xfrm xmlns:a="http://schemas.openxmlformats.org/drawingml/2006/main">
            <a:off x="7559040" y="4788857"/>
            <a:ext cx="6096000" cy="6485247"/>
          </a:xfrm>
          <a:prstGeom xmlns:a="http://schemas.openxmlformats.org/drawingml/2006/main" prst="rect">
            <a:avLst/>
          </a:prstGeom>
        </p:spPr>
      </p:pic>
      <p:sp>
        <p:nvSpPr>
          <p:cNvPr id="13" name="shape-125">
            <a:extLst xmlns:a="http://schemas.openxmlformats.org/drawingml/2006/main">
              <a:ext uri="{FF2B5EF4-FFF2-40B4-BE49-F238E27FC236}">
                <a16:creationId xmlns:a16="http://schemas.microsoft.com/office/drawing/2014/main" id="{6FCDA27F-53F0-4C7A-B3A2-92A4B626AC00}"/>
              </a:ext>
            </a:extLst>
          </p:cNvPr>
          <p:cNvSpPr>
            <a:spLocks xmlns:a="http://schemas.openxmlformats.org/drawingml/2006/main" noGrp="1"/>
          </p:cNvSpPr>
          <p:nvPr/>
        </p:nvSpPr>
        <p:spPr>
          <a:xfrm xmlns:a="http://schemas.openxmlformats.org/drawingml/2006/main">
            <a:off x="914400" y="12085320"/>
            <a:ext cx="61722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000" b="1">
                <a:solidFill>
                  <a:srgbClr val="7544C4"/>
                </a:solidFill>
                <a:latin typeface="Arial"/>
                <a:ea typeface="Arial"/>
                <a:cs typeface="Arial"/>
              </a:defRPr>
            </a:pPr>
            <a:r>
              <a:rPr sz="3000" b="1">
                <a:solidFill>
                  <a:srgbClr val="7544C4"/>
                </a:solidFill>
                <a:latin typeface="Arial"/>
                <a:ea typeface="Arial"/>
                <a:cs typeface="Arial"/>
              </a:rPr>
              <a:t>Sign-in and guest access</a:t>
            </a:r>
          </a:p>
        </p:txBody>
      </p:sp>
      <p:sp>
        <p:nvSpPr>
          <p:cNvPr id="14" name="shape-126">
            <a:extLst xmlns:a="http://schemas.openxmlformats.org/drawingml/2006/main">
              <a:ext uri="{FF2B5EF4-FFF2-40B4-BE49-F238E27FC236}">
                <a16:creationId xmlns:a16="http://schemas.microsoft.com/office/drawing/2014/main" id="{4C8E0325-4364-4588-B79D-8B6C676A48D6}"/>
              </a:ext>
            </a:extLst>
          </p:cNvPr>
          <p:cNvSpPr>
            <a:spLocks xmlns:a="http://schemas.openxmlformats.org/drawingml/2006/main" noGrp="1"/>
          </p:cNvSpPr>
          <p:nvPr/>
        </p:nvSpPr>
        <p:spPr>
          <a:xfrm xmlns:a="http://schemas.openxmlformats.org/drawingml/2006/main">
            <a:off x="7543800" y="12085320"/>
            <a:ext cx="667512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000" b="1">
                <a:solidFill>
                  <a:srgbClr val="087E70"/>
                </a:solidFill>
                <a:latin typeface="Arial"/>
                <a:ea typeface="Arial"/>
                <a:cs typeface="Arial"/>
              </a:defRPr>
            </a:pPr>
            <a:r>
              <a:rPr sz="3000" b="1">
                <a:solidFill>
                  <a:srgbClr val="087E70"/>
                </a:solidFill>
                <a:latin typeface="Arial"/>
                <a:ea typeface="Arial"/>
                <a:cs typeface="Arial"/>
              </a:rPr>
              <a:t>Source flight and 3D workspace</a:t>
            </a:r>
          </a:p>
        </p:txBody>
      </p:sp>
      <p:sp>
        <p:nvSpPr>
          <p:cNvPr id="15" name="shape-127">
            <a:extLst xmlns:a="http://schemas.openxmlformats.org/drawingml/2006/main">
              <a:ext uri="{FF2B5EF4-FFF2-40B4-BE49-F238E27FC236}">
                <a16:creationId xmlns:a16="http://schemas.microsoft.com/office/drawing/2014/main" id="{B2E6CB67-ACFE-479A-A5A6-9BF136C85D15}"/>
              </a:ext>
            </a:extLst>
          </p:cNvPr>
          <p:cNvSpPr>
            <a:spLocks xmlns:a="http://schemas.openxmlformats.org/drawingml/2006/main" noGrp="1"/>
          </p:cNvSpPr>
          <p:nvPr/>
        </p:nvSpPr>
        <p:spPr>
          <a:xfrm xmlns:a="http://schemas.openxmlformats.org/drawingml/2006/main">
            <a:off x="14493240" y="4511040"/>
            <a:ext cx="918972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2464C7"/>
                </a:solidFill>
                <a:latin typeface="Arial"/>
                <a:ea typeface="Arial"/>
                <a:cs typeface="Arial"/>
              </a:defRPr>
            </a:pPr>
            <a:r>
              <a:rPr sz="3480" b="1">
                <a:solidFill>
                  <a:srgbClr val="2464C7"/>
                </a:solidFill>
                <a:latin typeface="Arial"/>
                <a:ea typeface="Arial"/>
                <a:cs typeface="Arial"/>
              </a:rPr>
              <a:t>Infrastructure inspection</a:t>
            </a:r>
          </a:p>
        </p:txBody>
      </p:sp>
      <p:sp>
        <p:nvSpPr>
          <p:cNvPr id="16" name="shape-128">
            <a:extLst xmlns:a="http://schemas.openxmlformats.org/drawingml/2006/main">
              <a:ext uri="{FF2B5EF4-FFF2-40B4-BE49-F238E27FC236}">
                <a16:creationId xmlns:a16="http://schemas.microsoft.com/office/drawing/2014/main" id="{161C4995-E116-49DF-BD35-091A46870A92}"/>
              </a:ext>
            </a:extLst>
          </p:cNvPr>
          <p:cNvSpPr>
            <a:spLocks xmlns:a="http://schemas.openxmlformats.org/drawingml/2006/main" noGrp="1"/>
          </p:cNvSpPr>
          <p:nvPr/>
        </p:nvSpPr>
        <p:spPr>
          <a:xfrm xmlns:a="http://schemas.openxmlformats.org/drawingml/2006/main">
            <a:off x="14508480" y="5273040"/>
            <a:ext cx="9144000" cy="1021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Review facade and road context</a:t>
            </a:r>
          </a:p>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before a targeted follow-up survey.</a:t>
            </a:r>
          </a:p>
        </p:txBody>
      </p:sp>
      <p:sp>
        <p:nvSpPr>
          <p:cNvPr id="17" name="shape-129">
            <a:extLst xmlns:a="http://schemas.openxmlformats.org/drawingml/2006/main">
              <a:ext uri="{FF2B5EF4-FFF2-40B4-BE49-F238E27FC236}">
                <a16:creationId xmlns:a16="http://schemas.microsoft.com/office/drawing/2014/main" id="{C4A0C3CD-56B7-437B-8BD6-9BDFBE3FA440}"/>
              </a:ext>
            </a:extLst>
          </p:cNvPr>
          <p:cNvSpPr>
            <a:spLocks xmlns:a="http://schemas.openxmlformats.org/drawingml/2006/main" noGrp="1"/>
          </p:cNvSpPr>
          <p:nvPr/>
        </p:nvSpPr>
        <p:spPr>
          <a:xfrm xmlns:a="http://schemas.openxmlformats.org/drawingml/2006/main">
            <a:off x="14493240" y="6659880"/>
            <a:ext cx="918972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C84D35"/>
                </a:solidFill>
                <a:latin typeface="Arial"/>
                <a:ea typeface="Arial"/>
                <a:cs typeface="Arial"/>
              </a:defRPr>
            </a:pPr>
            <a:r>
              <a:rPr sz="3480" b="1">
                <a:solidFill>
                  <a:srgbClr val="C84D35"/>
                </a:solidFill>
                <a:latin typeface="Arial"/>
                <a:ea typeface="Arial"/>
                <a:cs typeface="Arial"/>
              </a:rPr>
              <a:t>Disaster damage review</a:t>
            </a:r>
          </a:p>
        </p:txBody>
      </p:sp>
      <p:sp>
        <p:nvSpPr>
          <p:cNvPr id="18" name="shape-130">
            <a:extLst xmlns:a="http://schemas.openxmlformats.org/drawingml/2006/main">
              <a:ext uri="{FF2B5EF4-FFF2-40B4-BE49-F238E27FC236}">
                <a16:creationId xmlns:a16="http://schemas.microsoft.com/office/drawing/2014/main" id="{5A9BA276-F025-4E0D-AF70-2F2917CD5AA4}"/>
              </a:ext>
            </a:extLst>
          </p:cNvPr>
          <p:cNvSpPr>
            <a:spLocks xmlns:a="http://schemas.openxmlformats.org/drawingml/2006/main" noGrp="1"/>
          </p:cNvSpPr>
          <p:nvPr/>
        </p:nvSpPr>
        <p:spPr>
          <a:xfrm xmlns:a="http://schemas.openxmlformats.org/drawingml/2006/main">
            <a:off x="14508480" y="7421880"/>
            <a:ext cx="9144000" cy="1021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Inspect visible areas remotely.</a:t>
            </a:r>
          </a:p>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Keep unseen regions explicit.</a:t>
            </a:r>
          </a:p>
        </p:txBody>
      </p:sp>
      <p:sp>
        <p:nvSpPr>
          <p:cNvPr id="19" name="shape-131">
            <a:extLst xmlns:a="http://schemas.openxmlformats.org/drawingml/2006/main">
              <a:ext uri="{FF2B5EF4-FFF2-40B4-BE49-F238E27FC236}">
                <a16:creationId xmlns:a16="http://schemas.microsoft.com/office/drawing/2014/main" id="{9219197D-1D8C-4B83-9724-054B8C90FE1C}"/>
              </a:ext>
            </a:extLst>
          </p:cNvPr>
          <p:cNvSpPr>
            <a:spLocks xmlns:a="http://schemas.openxmlformats.org/drawingml/2006/main" noGrp="1"/>
          </p:cNvSpPr>
          <p:nvPr/>
        </p:nvSpPr>
        <p:spPr>
          <a:xfrm xmlns:a="http://schemas.openxmlformats.org/drawingml/2006/main">
            <a:off x="14493240" y="8808720"/>
            <a:ext cx="918972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087E70"/>
                </a:solidFill>
                <a:latin typeface="Arial"/>
                <a:ea typeface="Arial"/>
                <a:cs typeface="Arial"/>
              </a:defRPr>
            </a:pPr>
            <a:r>
              <a:rPr sz="3480" b="1">
                <a:solidFill>
                  <a:srgbClr val="087E70"/>
                </a:solidFill>
                <a:latin typeface="Arial"/>
                <a:ea typeface="Arial"/>
                <a:cs typeface="Arial"/>
              </a:rPr>
              <a:t>Planning and documentation</a:t>
            </a:r>
          </a:p>
        </p:txBody>
      </p:sp>
      <p:sp>
        <p:nvSpPr>
          <p:cNvPr id="20" name="shape-132">
            <a:extLst xmlns:a="http://schemas.openxmlformats.org/drawingml/2006/main">
              <a:ext uri="{FF2B5EF4-FFF2-40B4-BE49-F238E27FC236}">
                <a16:creationId xmlns:a16="http://schemas.microsoft.com/office/drawing/2014/main" id="{7208C698-14FD-4C80-A106-F273AAD1F271}"/>
              </a:ext>
            </a:extLst>
          </p:cNvPr>
          <p:cNvSpPr>
            <a:spLocks xmlns:a="http://schemas.openxmlformats.org/drawingml/2006/main" noGrp="1"/>
          </p:cNvSpPr>
          <p:nvPr/>
        </p:nvSpPr>
        <p:spPr>
          <a:xfrm xmlns:a="http://schemas.openxmlformats.org/drawingml/2006/main">
            <a:off x="14508480" y="9570720"/>
            <a:ext cx="9144000" cy="1021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Reuse scene files with their</a:t>
            </a:r>
          </a:p>
          <a:p xmlns:a="http://schemas.openxmlformats.org/drawingml/2006/main">
            <a:pPr algn="l">
              <a:lnSpc>
                <a:spcPct val="108000"/>
              </a:lnSpc>
              <a:buNone/>
              <a:defRPr sz="3000" b="0">
                <a:solidFill>
                  <a:srgbClr val="516178"/>
                </a:solidFill>
                <a:latin typeface="Arial"/>
                <a:ea typeface="Arial"/>
                <a:cs typeface="Arial"/>
              </a:defRPr>
            </a:pPr>
            <a:r>
              <a:rPr sz="3000" b="0">
                <a:solidFill>
                  <a:srgbClr val="516178"/>
                </a:solidFill>
                <a:latin typeface="Arial"/>
                <a:ea typeface="Arial"/>
                <a:cs typeface="Arial"/>
              </a:rPr>
              <a:t>coordinate reference information.</a:t>
            </a:r>
          </a:p>
        </p:txBody>
      </p:sp>
      <p:sp>
        <p:nvSpPr>
          <p:cNvPr id="21" name="shape-133">
            <a:extLst xmlns:a="http://schemas.openxmlformats.org/drawingml/2006/main">
              <a:ext uri="{FF2B5EF4-FFF2-40B4-BE49-F238E27FC236}">
                <a16:creationId xmlns:a16="http://schemas.microsoft.com/office/drawing/2014/main" id="{E94E1D3A-BEC5-41EA-84FE-07349096919F}"/>
              </a:ext>
            </a:extLst>
          </p:cNvPr>
          <p:cNvSpPr>
            <a:spLocks xmlns:a="http://schemas.openxmlformats.org/drawingml/2006/main" noGrp="1"/>
          </p:cNvSpPr>
          <p:nvPr/>
        </p:nvSpPr>
        <p:spPr>
          <a:xfrm xmlns:a="http://schemas.openxmlformats.org/drawingml/2006/main">
            <a:off x="14493240" y="11170920"/>
            <a:ext cx="918972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600" b="1">
                <a:solidFill>
                  <a:srgbClr val="087E70"/>
                </a:solidFill>
                <a:latin typeface="Arial"/>
                <a:ea typeface="Arial"/>
                <a:cs typeface="Arial"/>
              </a:defRPr>
            </a:pPr>
            <a:r>
              <a:rPr sz="3600" b="1">
                <a:solidFill>
                  <a:srgbClr val="087E70"/>
                </a:solidFill>
                <a:latin typeface="Arial"/>
                <a:ea typeface="Arial"/>
                <a:cs typeface="Arial"/>
                <a:hlinkClick xmlns:r="http://schemas.openxmlformats.org/officeDocument/2006/relationships" r:id="R3d2999bfd90f4e1a"/>
              </a:rPr>
              <a:t>voxelflight-3d.web.app</a:t>
            </a:r>
          </a:p>
        </p:txBody>
      </p:sp>
      <p:sp>
        <p:nvSpPr>
          <p:cNvPr id="22" name="shape-134">
            <a:extLst xmlns:a="http://schemas.openxmlformats.org/drawingml/2006/main">
              <a:ext uri="{FF2B5EF4-FFF2-40B4-BE49-F238E27FC236}">
                <a16:creationId xmlns:a16="http://schemas.microsoft.com/office/drawing/2014/main" id="{92AB9553-4CC4-4945-A65E-0A18BE36C8C7}"/>
              </a:ext>
            </a:extLst>
          </p:cNvPr>
          <p:cNvSpPr>
            <a:spLocks xmlns:a="http://schemas.openxmlformats.org/drawingml/2006/main" noGrp="1"/>
          </p:cNvSpPr>
          <p:nvPr/>
        </p:nvSpPr>
        <p:spPr>
          <a:xfrm xmlns:a="http://schemas.openxmlformats.org/drawingml/2006/main">
            <a:off x="14508480" y="11993880"/>
            <a:ext cx="918972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Saved demo is public. New processing requires</a:t>
            </a:r>
          </a:p>
          <a:p xmlns:a="http://schemas.openxmlformats.org/drawingml/2006/main">
            <a:pPr algn="l">
              <a:lnSpc>
                <a:spcPct val="108000"/>
              </a:lnSpc>
              <a:buNone/>
              <a:defRPr sz="2520" b="0">
                <a:solidFill>
                  <a:srgbClr val="516178"/>
                </a:solidFill>
                <a:latin typeface="Arial"/>
                <a:ea typeface="Arial"/>
                <a:cs typeface="Arial"/>
              </a:defRPr>
            </a:pPr>
            <a:r>
              <a:rPr sz="2520" b="0">
                <a:solidFill>
                  <a:srgbClr val="516178"/>
                </a:solidFill>
                <a:latin typeface="Arial"/>
                <a:ea typeface="Arial"/>
                <a:cs typeface="Arial"/>
              </a:rPr>
              <a:t>an available worker. Field benefits need pilot validation.</a:t>
            </a:r>
          </a:p>
        </p:txBody>
      </p:sp>
    </p:spTree>
    <p:extLst>
      <p:ext uri="{BB962C8B-B14F-4D97-AF65-F5344CB8AC3E}">
        <p14:creationId xmlns:p14="http://schemas.microsoft.com/office/powerpoint/2010/main" val="1891735770"/>
      </p:ext>
    </p:extLst>
  </p:cSld>
</p:sld>
</file>

<file path=ppt/slides/slide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27" name="shape-135">
            <a:extLst xmlns:a="http://schemas.openxmlformats.org/drawingml/2006/main">
              <a:ext uri="{FF2B5EF4-FFF2-40B4-BE49-F238E27FC236}">
                <a16:creationId xmlns:a16="http://schemas.microsoft.com/office/drawing/2014/main" id="{E9E305C6-E981-4778-B798-6D2243BADFE4}"/>
              </a:ext>
            </a:extLst>
          </p:cNvPr>
          <p:cNvSpPr>
            <a:spLocks xmlns:a="http://schemas.openxmlformats.org/drawingml/2006/main" noGrp="1"/>
          </p:cNvSpPr>
          <p:nvPr/>
        </p:nvSpPr>
        <p:spPr>
          <a:xfrm xmlns:a="http://schemas.openxmlformats.org/drawingml/2006/main">
            <a:off x="91440" y="76200"/>
            <a:ext cx="24201120" cy="13563600"/>
          </a:xfrm>
          <a:prstGeom xmlns:a="http://schemas.openxmlformats.org/drawingml/2006/main" prst="rect">
            <a:avLst/>
          </a:prstGeom>
          <a:noFill xmlns:a="http://schemas.openxmlformats.org/drawingml/2006/main"/>
          <a:ln xmlns:a="http://schemas.openxmlformats.org/drawingml/2006/main" w="15240">
            <a:solidFill>
              <a:srgbClr val="E4E7EB"/>
            </a:solidFill>
            <a:prstDash val="solid"/>
          </a:ln>
        </p:spPr>
      </p:sp>
      <p:sp>
        <p:nvSpPr>
          <p:cNvPr id="2" name="shape-136">
            <a:extLst xmlns:a="http://schemas.openxmlformats.org/drawingml/2006/main">
              <a:ext uri="{FF2B5EF4-FFF2-40B4-BE49-F238E27FC236}">
                <a16:creationId xmlns:a16="http://schemas.microsoft.com/office/drawing/2014/main" id="{809ADAE9-EF43-4EF5-BB4C-51DF2425B484}"/>
              </a:ext>
            </a:extLst>
          </p:cNvPr>
          <p:cNvSpPr>
            <a:spLocks xmlns:a="http://schemas.openxmlformats.org/drawingml/2006/main" noGrp="1"/>
          </p:cNvSpPr>
          <p:nvPr/>
        </p:nvSpPr>
        <p:spPr>
          <a:xfrm xmlns:a="http://schemas.openxmlformats.org/drawingml/2006/main">
            <a:off x="868680" y="640080"/>
            <a:ext cx="320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720" b="1">
                <a:solidFill>
                  <a:srgbClr val="087E70"/>
                </a:solidFill>
                <a:latin typeface="Arial"/>
                <a:ea typeface="Arial"/>
                <a:cs typeface="Arial"/>
              </a:defRPr>
            </a:pPr>
            <a:r>
              <a:rPr sz="3720" b="1">
                <a:solidFill>
                  <a:srgbClr val="087E70"/>
                </a:solidFill>
                <a:latin typeface="Arial"/>
                <a:ea typeface="Arial"/>
                <a:cs typeface="Arial"/>
              </a:rPr>
              <a:t>VoxelFlight</a:t>
            </a:r>
          </a:p>
        </p:txBody>
      </p:sp>
      <p:sp>
        <p:nvSpPr>
          <p:cNvPr id="3" name="shape-137">
            <a:extLst xmlns:a="http://schemas.openxmlformats.org/drawingml/2006/main">
              <a:ext uri="{FF2B5EF4-FFF2-40B4-BE49-F238E27FC236}">
                <a16:creationId xmlns:a16="http://schemas.microsoft.com/office/drawing/2014/main" id="{E3523310-49D2-4B35-8FC7-277A81A1299F}"/>
              </a:ext>
            </a:extLst>
          </p:cNvPr>
          <p:cNvSpPr>
            <a:spLocks xmlns:a="http://schemas.openxmlformats.org/drawingml/2006/main" noGrp="1"/>
          </p:cNvSpPr>
          <p:nvPr/>
        </p:nvSpPr>
        <p:spPr>
          <a:xfrm xmlns:a="http://schemas.openxmlformats.org/drawingml/2006/main">
            <a:off x="4343400" y="533400"/>
            <a:ext cx="15240000" cy="1082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760" b="1">
                <a:solidFill>
                  <a:srgbClr val="14243B"/>
                </a:solidFill>
                <a:latin typeface="Times New Roman"/>
                <a:ea typeface="Times New Roman"/>
                <a:cs typeface="Times New Roman"/>
              </a:defRPr>
            </a:pPr>
            <a:r>
              <a:rPr sz="5760" b="1">
                <a:solidFill>
                  <a:srgbClr val="14243B"/>
                </a:solidFill>
                <a:latin typeface="Times New Roman"/>
                <a:ea typeface="Times New Roman"/>
                <a:cs typeface="Times New Roman"/>
              </a:rPr>
              <a:t>RESEARCH AND REFERENCES</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0d48b583be24bf7"/>
          <a:stretch xmlns:a="http://schemas.openxmlformats.org/drawingml/2006/main"/>
        </p:blipFill>
        <p:spPr>
          <a:xfrm xmlns:a="http://schemas.openxmlformats.org/drawingml/2006/main">
            <a:off x="19903440" y="220568"/>
            <a:ext cx="1219200" cy="1433384"/>
          </a:xfrm>
          <a:prstGeom xmlns:a="http://schemas.openxmlformats.org/drawingml/2006/main" prst="rect">
            <a:avLst/>
          </a:prstGeom>
        </p:spPr>
      </p:pic>
      <p:sp>
        <p:nvSpPr>
          <p:cNvPr id="5" name="shape-138">
            <a:extLst xmlns:a="http://schemas.openxmlformats.org/drawingml/2006/main">
              <a:ext uri="{FF2B5EF4-FFF2-40B4-BE49-F238E27FC236}">
                <a16:creationId xmlns:a16="http://schemas.microsoft.com/office/drawing/2014/main" id="{902E4E19-4947-43F2-A2C1-31367DD2110A}"/>
              </a:ext>
            </a:extLst>
          </p:cNvPr>
          <p:cNvSpPr>
            <a:spLocks xmlns:a="http://schemas.openxmlformats.org/drawingml/2006/main" noGrp="1"/>
          </p:cNvSpPr>
          <p:nvPr/>
        </p:nvSpPr>
        <p:spPr>
          <a:xfrm xmlns:a="http://schemas.openxmlformats.org/drawingml/2006/main">
            <a:off x="21305520" y="563880"/>
            <a:ext cx="240792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SMART INDIA</a:t>
            </a:r>
          </a:p>
          <a:p xmlns:a="http://schemas.openxmlformats.org/drawingml/2006/main">
            <a:pPr algn="l">
              <a:lnSpc>
                <a:spcPct val="108000"/>
              </a:lnSpc>
              <a:buNone/>
              <a:defRPr sz="2160" b="1">
                <a:solidFill>
                  <a:srgbClr val="516178"/>
                </a:solidFill>
                <a:latin typeface="Arial"/>
                <a:ea typeface="Arial"/>
                <a:cs typeface="Arial"/>
              </a:defRPr>
            </a:pPr>
            <a:r>
              <a:rPr sz="2160" b="1">
                <a:solidFill>
                  <a:srgbClr val="516178"/>
                </a:solidFill>
                <a:latin typeface="Arial"/>
                <a:ea typeface="Arial"/>
                <a:cs typeface="Arial"/>
              </a:rPr>
              <a:t>HACKATHON 2026</a:t>
            </a:r>
          </a:p>
        </p:txBody>
      </p:sp>
      <p:sp>
        <p:nvSpPr>
          <p:cNvPr id="6" name="shape-139">
            <a:extLst xmlns:a="http://schemas.openxmlformats.org/drawingml/2006/main">
              <a:ext uri="{FF2B5EF4-FFF2-40B4-BE49-F238E27FC236}">
                <a16:creationId xmlns:a16="http://schemas.microsoft.com/office/drawing/2014/main" id="{3CE7B2AA-4AFF-43E4-AE88-4F6DAD93429E}"/>
              </a:ext>
            </a:extLst>
          </p:cNvPr>
          <p:cNvSpPr>
            <a:spLocks xmlns:a="http://schemas.openxmlformats.org/drawingml/2006/main" noGrp="1"/>
          </p:cNvSpPr>
          <p:nvPr/>
        </p:nvSpPr>
        <p:spPr>
          <a:xfrm xmlns:a="http://schemas.openxmlformats.org/drawingml/2006/main">
            <a:off x="868680" y="1905000"/>
            <a:ext cx="22768560" cy="0"/>
          </a:xfrm>
          <a:prstGeom xmlns:a="http://schemas.openxmlformats.org/drawingml/2006/main" prst="line">
            <a:avLst/>
          </a:prstGeom>
          <a:noFill xmlns:a="http://schemas.openxmlformats.org/drawingml/2006/main"/>
          <a:ln xmlns:a="http://schemas.openxmlformats.org/drawingml/2006/main" w="15240">
            <a:solidFill>
              <a:srgbClr val="2464C7"/>
            </a:solidFill>
            <a:prstDash val="solid"/>
          </a:ln>
        </p:spPr>
      </p:sp>
      <p:sp>
        <p:nvSpPr>
          <p:cNvPr id="7" name="shape-140">
            <a:extLst xmlns:a="http://schemas.openxmlformats.org/drawingml/2006/main">
              <a:ext uri="{FF2B5EF4-FFF2-40B4-BE49-F238E27FC236}">
                <a16:creationId xmlns:a16="http://schemas.microsoft.com/office/drawing/2014/main" id="{EFB99525-874F-47FB-B321-6653234843FB}"/>
              </a:ext>
            </a:extLst>
          </p:cNvPr>
          <p:cNvSpPr>
            <a:spLocks xmlns:a="http://schemas.openxmlformats.org/drawingml/2006/main" noGrp="1"/>
          </p:cNvSpPr>
          <p:nvPr/>
        </p:nvSpPr>
        <p:spPr>
          <a:xfrm xmlns:a="http://schemas.openxmlformats.org/drawingml/2006/main">
            <a:off x="868680" y="13060680"/>
            <a:ext cx="1828800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20" b="0">
                <a:solidFill>
                  <a:srgbClr val="516178"/>
                </a:solidFill>
                <a:latin typeface="Arial"/>
                <a:ea typeface="Arial"/>
                <a:cs typeface="Arial"/>
              </a:defRPr>
            </a:pPr>
            <a:r>
              <a:rPr sz="1920" b="0">
                <a:solidFill>
                  <a:srgbClr val="516178"/>
                </a:solidFill>
                <a:latin typeface="Arial"/>
                <a:ea typeface="Arial"/>
                <a:cs typeface="Arial"/>
              </a:rPr>
              <a:t>SIH26158  /  SOFTWARE  /  DRONE &amp; ROBOTICS</a:t>
            </a:r>
          </a:p>
        </p:txBody>
      </p:sp>
      <p:sp>
        <p:nvSpPr>
          <p:cNvPr id="8" name="shape-141">
            <a:extLst xmlns:a="http://schemas.openxmlformats.org/drawingml/2006/main">
              <a:ext uri="{FF2B5EF4-FFF2-40B4-BE49-F238E27FC236}">
                <a16:creationId xmlns:a16="http://schemas.microsoft.com/office/drawing/2014/main" id="{711132ED-2A02-4FC5-901B-D7C5FDE8E0D5}"/>
              </a:ext>
            </a:extLst>
          </p:cNvPr>
          <p:cNvSpPr>
            <a:spLocks xmlns:a="http://schemas.openxmlformats.org/drawingml/2006/main" noGrp="1"/>
          </p:cNvSpPr>
          <p:nvPr/>
        </p:nvSpPr>
        <p:spPr>
          <a:xfrm xmlns:a="http://schemas.openxmlformats.org/drawingml/2006/main">
            <a:off x="22555200" y="13060680"/>
            <a:ext cx="109728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2040" b="0">
                <a:solidFill>
                  <a:srgbClr val="516178"/>
                </a:solidFill>
                <a:latin typeface="Arial"/>
                <a:ea typeface="Arial"/>
                <a:cs typeface="Arial"/>
              </a:defRPr>
            </a:pPr>
            <a:r>
              <a:rPr sz="2040" b="0">
                <a:solidFill>
                  <a:srgbClr val="516178"/>
                </a:solidFill>
                <a:latin typeface="Arial"/>
                <a:ea typeface="Arial"/>
                <a:cs typeface="Arial"/>
              </a:rPr>
              <a:t>06 / 06</a:t>
            </a:r>
          </a:p>
        </p:txBody>
      </p:sp>
      <p:sp>
        <p:nvSpPr>
          <p:cNvPr id="9" name="shape-142">
            <a:extLst xmlns:a="http://schemas.openxmlformats.org/drawingml/2006/main">
              <a:ext uri="{FF2B5EF4-FFF2-40B4-BE49-F238E27FC236}">
                <a16:creationId xmlns:a16="http://schemas.microsoft.com/office/drawing/2014/main" id="{3E172109-8383-4802-895F-D2D94DF3F39D}"/>
              </a:ext>
            </a:extLst>
          </p:cNvPr>
          <p:cNvSpPr>
            <a:spLocks xmlns:a="http://schemas.openxmlformats.org/drawingml/2006/main" noGrp="1"/>
          </p:cNvSpPr>
          <p:nvPr/>
        </p:nvSpPr>
        <p:spPr>
          <a:xfrm xmlns:a="http://schemas.openxmlformats.org/drawingml/2006/main">
            <a:off x="868680" y="2301240"/>
            <a:ext cx="227076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4800" b="1">
                <a:solidFill>
                  <a:srgbClr val="14243B"/>
                </a:solidFill>
                <a:latin typeface="Arial"/>
                <a:ea typeface="Arial"/>
                <a:cs typeface="Arial"/>
              </a:defRPr>
            </a:pPr>
            <a:r>
              <a:rPr sz="4800" b="1">
                <a:solidFill>
                  <a:srgbClr val="14243B"/>
                </a:solidFill>
                <a:latin typeface="Arial"/>
                <a:ea typeface="Arial"/>
                <a:cs typeface="Arial"/>
              </a:rPr>
              <a:t>Research foundations and reproducible delivery</a:t>
            </a:r>
          </a:p>
        </p:txBody>
      </p:sp>
      <p:sp>
        <p:nvSpPr>
          <p:cNvPr id="10" name="shape-143">
            <a:extLst xmlns:a="http://schemas.openxmlformats.org/drawingml/2006/main">
              <a:ext uri="{FF2B5EF4-FFF2-40B4-BE49-F238E27FC236}">
                <a16:creationId xmlns:a16="http://schemas.microsoft.com/office/drawing/2014/main" id="{D93A543B-944A-40A0-875F-95364DE1EB8E}"/>
              </a:ext>
            </a:extLst>
          </p:cNvPr>
          <p:cNvSpPr>
            <a:spLocks xmlns:a="http://schemas.openxmlformats.org/drawingml/2006/main" noGrp="1"/>
          </p:cNvSpPr>
          <p:nvPr/>
        </p:nvSpPr>
        <p:spPr>
          <a:xfrm xmlns:a="http://schemas.openxmlformats.org/drawingml/2006/main">
            <a:off x="899160" y="3261360"/>
            <a:ext cx="22631400" cy="670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The project integrates published geometry methods with input handling, source texture and an inspection interface.</a:t>
            </a:r>
          </a:p>
        </p:txBody>
      </p:sp>
      <p:sp>
        <p:nvSpPr>
          <p:cNvPr id="11" name="shape-144">
            <a:extLst xmlns:a="http://schemas.openxmlformats.org/drawingml/2006/main">
              <a:ext uri="{FF2B5EF4-FFF2-40B4-BE49-F238E27FC236}">
                <a16:creationId xmlns:a16="http://schemas.microsoft.com/office/drawing/2014/main" id="{CE1D7110-17AE-4557-ABDE-B7F553702652}"/>
              </a:ext>
            </a:extLst>
          </p:cNvPr>
          <p:cNvSpPr>
            <a:spLocks xmlns:a="http://schemas.openxmlformats.org/drawingml/2006/main" noGrp="1"/>
          </p:cNvSpPr>
          <p:nvPr/>
        </p:nvSpPr>
        <p:spPr>
          <a:xfrm xmlns:a="http://schemas.openxmlformats.org/drawingml/2006/main">
            <a:off x="883920" y="4373880"/>
            <a:ext cx="1147572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2464C7"/>
                </a:solidFill>
                <a:latin typeface="Arial"/>
                <a:ea typeface="Arial"/>
                <a:cs typeface="Arial"/>
              </a:defRPr>
            </a:pPr>
            <a:r>
              <a:rPr sz="3480" b="1">
                <a:solidFill>
                  <a:srgbClr val="2464C7"/>
                </a:solidFill>
                <a:latin typeface="Arial"/>
                <a:ea typeface="Arial"/>
                <a:cs typeface="Arial"/>
                <a:hlinkClick xmlns:r="http://schemas.openxmlformats.org/officeDocument/2006/relationships" r:id="R1f3434eb28414449"/>
              </a:rPr>
              <a:t>[1] COLMAP</a:t>
            </a:r>
          </a:p>
        </p:txBody>
      </p:sp>
      <p:sp>
        <p:nvSpPr>
          <p:cNvPr id="12" name="shape-145">
            <a:extLst xmlns:a="http://schemas.openxmlformats.org/drawingml/2006/main">
              <a:ext uri="{FF2B5EF4-FFF2-40B4-BE49-F238E27FC236}">
                <a16:creationId xmlns:a16="http://schemas.microsoft.com/office/drawing/2014/main" id="{8B35E4A6-4D81-4B7B-B795-7369C1D90BCB}"/>
              </a:ext>
            </a:extLst>
          </p:cNvPr>
          <p:cNvSpPr>
            <a:spLocks xmlns:a="http://schemas.openxmlformats.org/drawingml/2006/main" noGrp="1"/>
          </p:cNvSpPr>
          <p:nvPr/>
        </p:nvSpPr>
        <p:spPr>
          <a:xfrm xmlns:a="http://schemas.openxmlformats.org/drawingml/2006/main">
            <a:off x="899160" y="5151120"/>
            <a:ext cx="1146048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Camera calibration, SfM and bundle adjustment</a:t>
            </a:r>
          </a:p>
        </p:txBody>
      </p:sp>
      <p:sp>
        <p:nvSpPr>
          <p:cNvPr id="13" name="shape-146">
            <a:extLst xmlns:a="http://schemas.openxmlformats.org/drawingml/2006/main">
              <a:ext uri="{FF2B5EF4-FFF2-40B4-BE49-F238E27FC236}">
                <a16:creationId xmlns:a16="http://schemas.microsoft.com/office/drawing/2014/main" id="{5F2A6679-DA4F-43B5-B1BB-FBC6028BDB7B}"/>
              </a:ext>
            </a:extLst>
          </p:cNvPr>
          <p:cNvSpPr>
            <a:spLocks xmlns:a="http://schemas.openxmlformats.org/drawingml/2006/main" noGrp="1"/>
          </p:cNvSpPr>
          <p:nvPr/>
        </p:nvSpPr>
        <p:spPr>
          <a:xfrm xmlns:a="http://schemas.openxmlformats.org/drawingml/2006/main">
            <a:off x="883920" y="6217920"/>
            <a:ext cx="1147572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7544C4"/>
                </a:solidFill>
                <a:latin typeface="Arial"/>
                <a:ea typeface="Arial"/>
                <a:cs typeface="Arial"/>
              </a:defRPr>
            </a:pPr>
            <a:r>
              <a:rPr sz="3480" b="1">
                <a:solidFill>
                  <a:srgbClr val="7544C4"/>
                </a:solidFill>
                <a:latin typeface="Arial"/>
                <a:ea typeface="Arial"/>
                <a:cs typeface="Arial"/>
                <a:hlinkClick xmlns:r="http://schemas.openxmlformats.org/officeDocument/2006/relationships" r:id="Rfb3041848c2c4fe3"/>
              </a:rPr>
              <a:t>[2] MapAnything</a:t>
            </a:r>
          </a:p>
        </p:txBody>
      </p:sp>
      <p:sp>
        <p:nvSpPr>
          <p:cNvPr id="14" name="shape-147">
            <a:extLst xmlns:a="http://schemas.openxmlformats.org/drawingml/2006/main">
              <a:ext uri="{FF2B5EF4-FFF2-40B4-BE49-F238E27FC236}">
                <a16:creationId xmlns:a16="http://schemas.microsoft.com/office/drawing/2014/main" id="{5D18F61D-9798-49CF-985D-605984B93EEF}"/>
              </a:ext>
            </a:extLst>
          </p:cNvPr>
          <p:cNvSpPr>
            <a:spLocks xmlns:a="http://schemas.openxmlformats.org/drawingml/2006/main" noGrp="1"/>
          </p:cNvSpPr>
          <p:nvPr/>
        </p:nvSpPr>
        <p:spPr>
          <a:xfrm xmlns:a="http://schemas.openxmlformats.org/drawingml/2006/main">
            <a:off x="899160" y="6995160"/>
            <a:ext cx="1146048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Pretrained metric depth and camera geometry</a:t>
            </a:r>
          </a:p>
        </p:txBody>
      </p:sp>
      <p:sp>
        <p:nvSpPr>
          <p:cNvPr id="15" name="shape-148">
            <a:extLst xmlns:a="http://schemas.openxmlformats.org/drawingml/2006/main">
              <a:ext uri="{FF2B5EF4-FFF2-40B4-BE49-F238E27FC236}">
                <a16:creationId xmlns:a16="http://schemas.microsoft.com/office/drawing/2014/main" id="{B9E5FC69-EB40-4CFE-AF25-FF4402A8B241}"/>
              </a:ext>
            </a:extLst>
          </p:cNvPr>
          <p:cNvSpPr>
            <a:spLocks xmlns:a="http://schemas.openxmlformats.org/drawingml/2006/main" noGrp="1"/>
          </p:cNvSpPr>
          <p:nvPr/>
        </p:nvSpPr>
        <p:spPr>
          <a:xfrm xmlns:a="http://schemas.openxmlformats.org/drawingml/2006/main">
            <a:off x="883920" y="8061960"/>
            <a:ext cx="1147572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087E70"/>
                </a:solidFill>
                <a:latin typeface="Arial"/>
                <a:ea typeface="Arial"/>
                <a:cs typeface="Arial"/>
              </a:defRPr>
            </a:pPr>
            <a:r>
              <a:rPr sz="3480" b="1">
                <a:solidFill>
                  <a:srgbClr val="087E70"/>
                </a:solidFill>
                <a:latin typeface="Arial"/>
                <a:ea typeface="Arial"/>
                <a:cs typeface="Arial"/>
                <a:hlinkClick xmlns:r="http://schemas.openxmlformats.org/officeDocument/2006/relationships" r:id="R1dc1d2fa0dee424b"/>
              </a:rPr>
              <a:t>[3] Open3D TSDF integration</a:t>
            </a:r>
          </a:p>
        </p:txBody>
      </p:sp>
      <p:sp>
        <p:nvSpPr>
          <p:cNvPr id="16" name="shape-149">
            <a:extLst xmlns:a="http://schemas.openxmlformats.org/drawingml/2006/main">
              <a:ext uri="{FF2B5EF4-FFF2-40B4-BE49-F238E27FC236}">
                <a16:creationId xmlns:a16="http://schemas.microsoft.com/office/drawing/2014/main" id="{8DF58B76-89C9-403B-B155-247753E2A121}"/>
              </a:ext>
            </a:extLst>
          </p:cNvPr>
          <p:cNvSpPr>
            <a:spLocks xmlns:a="http://schemas.openxmlformats.org/drawingml/2006/main" noGrp="1"/>
          </p:cNvSpPr>
          <p:nvPr/>
        </p:nvSpPr>
        <p:spPr>
          <a:xfrm xmlns:a="http://schemas.openxmlformats.org/drawingml/2006/main">
            <a:off x="899160" y="8839200"/>
            <a:ext cx="1146048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Fusion of supported RGB-D observations</a:t>
            </a:r>
          </a:p>
        </p:txBody>
      </p:sp>
      <p:sp>
        <p:nvSpPr>
          <p:cNvPr id="17" name="shape-150">
            <a:extLst xmlns:a="http://schemas.openxmlformats.org/drawingml/2006/main">
              <a:ext uri="{FF2B5EF4-FFF2-40B4-BE49-F238E27FC236}">
                <a16:creationId xmlns:a16="http://schemas.microsoft.com/office/drawing/2014/main" id="{F0363258-2F84-4972-AFEF-B4D359FEB99D}"/>
              </a:ext>
            </a:extLst>
          </p:cNvPr>
          <p:cNvSpPr>
            <a:spLocks xmlns:a="http://schemas.openxmlformats.org/drawingml/2006/main" noGrp="1"/>
          </p:cNvSpPr>
          <p:nvPr/>
        </p:nvSpPr>
        <p:spPr>
          <a:xfrm xmlns:a="http://schemas.openxmlformats.org/drawingml/2006/main">
            <a:off x="883920" y="9906000"/>
            <a:ext cx="11475720" cy="579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2464C7"/>
                </a:solidFill>
                <a:latin typeface="Arial"/>
                <a:ea typeface="Arial"/>
                <a:cs typeface="Arial"/>
              </a:defRPr>
            </a:pPr>
            <a:r>
              <a:rPr sz="3480" b="1">
                <a:solidFill>
                  <a:srgbClr val="2464C7"/>
                </a:solidFill>
                <a:latin typeface="Arial"/>
                <a:ea typeface="Arial"/>
                <a:cs typeface="Arial"/>
                <a:hlinkClick xmlns:r="http://schemas.openxmlformats.org/officeDocument/2006/relationships" r:id="R00d8679775774843"/>
              </a:rPr>
              <a:t>[4] Zurich Urban MAV</a:t>
            </a:r>
          </a:p>
        </p:txBody>
      </p:sp>
      <p:sp>
        <p:nvSpPr>
          <p:cNvPr id="18" name="shape-151">
            <a:extLst xmlns:a="http://schemas.openxmlformats.org/drawingml/2006/main">
              <a:ext uri="{FF2B5EF4-FFF2-40B4-BE49-F238E27FC236}">
                <a16:creationId xmlns:a16="http://schemas.microsoft.com/office/drawing/2014/main" id="{CB8E927F-1F18-4164-817F-6EFD5C0B7C20}"/>
              </a:ext>
            </a:extLst>
          </p:cNvPr>
          <p:cNvSpPr>
            <a:spLocks xmlns:a="http://schemas.openxmlformats.org/drawingml/2006/main" noGrp="1"/>
          </p:cNvSpPr>
          <p:nvPr/>
        </p:nvSpPr>
        <p:spPr>
          <a:xfrm xmlns:a="http://schemas.openxmlformats.org/drawingml/2006/main">
            <a:off x="899160" y="10683240"/>
            <a:ext cx="1146048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60" b="0">
                <a:solidFill>
                  <a:srgbClr val="516178"/>
                </a:solidFill>
                <a:latin typeface="Arial"/>
                <a:ea typeface="Arial"/>
                <a:cs typeface="Arial"/>
              </a:defRPr>
            </a:pPr>
            <a:r>
              <a:rPr sz="2760" b="0">
                <a:solidFill>
                  <a:srgbClr val="516178"/>
                </a:solidFill>
                <a:latin typeface="Arial"/>
                <a:ea typeface="Arial"/>
                <a:cs typeface="Arial"/>
              </a:rPr>
              <a:t>Public imagery, telemetry and reference trajectory</a:t>
            </a:r>
          </a:p>
        </p:txBody>
      </p:sp>
      <p:sp>
        <p:nvSpPr>
          <p:cNvPr id="19" name="shape-152">
            <a:extLst xmlns:a="http://schemas.openxmlformats.org/drawingml/2006/main">
              <a:ext uri="{FF2B5EF4-FFF2-40B4-BE49-F238E27FC236}">
                <a16:creationId xmlns:a16="http://schemas.microsoft.com/office/drawing/2014/main" id="{94EE7065-8697-4FF4-BB01-894D9E35814F}"/>
              </a:ext>
            </a:extLst>
          </p:cNvPr>
          <p:cNvSpPr>
            <a:spLocks xmlns:a="http://schemas.openxmlformats.org/drawingml/2006/main" noGrp="1"/>
          </p:cNvSpPr>
          <p:nvPr/>
        </p:nvSpPr>
        <p:spPr>
          <a:xfrm xmlns:a="http://schemas.openxmlformats.org/drawingml/2006/main">
            <a:off x="13456920" y="4373880"/>
            <a:ext cx="1019556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2464C7"/>
                </a:solidFill>
                <a:latin typeface="Arial"/>
                <a:ea typeface="Arial"/>
                <a:cs typeface="Arial"/>
              </a:defRPr>
            </a:pPr>
            <a:r>
              <a:rPr sz="3480" b="1">
                <a:solidFill>
                  <a:srgbClr val="2464C7"/>
                </a:solidFill>
                <a:latin typeface="Arial"/>
                <a:ea typeface="Arial"/>
                <a:cs typeface="Arial"/>
              </a:rPr>
              <a:t>Geometry with observed support</a:t>
            </a:r>
          </a:p>
        </p:txBody>
      </p:sp>
      <p:sp>
        <p:nvSpPr>
          <p:cNvPr id="20" name="shape-153">
            <a:extLst xmlns:a="http://schemas.openxmlformats.org/drawingml/2006/main">
              <a:ext uri="{FF2B5EF4-FFF2-40B4-BE49-F238E27FC236}">
                <a16:creationId xmlns:a16="http://schemas.microsoft.com/office/drawing/2014/main" id="{30E709F0-F145-445C-BCDE-16B55175B367}"/>
              </a:ext>
            </a:extLst>
          </p:cNvPr>
          <p:cNvSpPr>
            <a:spLocks xmlns:a="http://schemas.openxmlformats.org/drawingml/2006/main" noGrp="1"/>
          </p:cNvSpPr>
          <p:nvPr/>
        </p:nvSpPr>
        <p:spPr>
          <a:xfrm xmlns:a="http://schemas.openxmlformats.org/drawingml/2006/main">
            <a:off x="13487400" y="5181600"/>
            <a:ext cx="10195560" cy="1325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Combines calibrated visual anchors with learned</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depth. Cross-view checks restrict fusion, and</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real camera images provide surface texture.</a:t>
            </a:r>
          </a:p>
        </p:txBody>
      </p:sp>
      <p:sp>
        <p:nvSpPr>
          <p:cNvPr id="21" name="shape-154">
            <a:extLst xmlns:a="http://schemas.openxmlformats.org/drawingml/2006/main">
              <a:ext uri="{FF2B5EF4-FFF2-40B4-BE49-F238E27FC236}">
                <a16:creationId xmlns:a16="http://schemas.microsoft.com/office/drawing/2014/main" id="{016F3955-2B40-4751-9232-4BDFAABD9607}"/>
              </a:ext>
            </a:extLst>
          </p:cNvPr>
          <p:cNvSpPr>
            <a:spLocks xmlns:a="http://schemas.openxmlformats.org/drawingml/2006/main" noGrp="1"/>
          </p:cNvSpPr>
          <p:nvPr/>
        </p:nvSpPr>
        <p:spPr>
          <a:xfrm xmlns:a="http://schemas.openxmlformats.org/drawingml/2006/main">
            <a:off x="13456920" y="6736080"/>
            <a:ext cx="1019556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7544C4"/>
                </a:solidFill>
                <a:latin typeface="Arial"/>
                <a:ea typeface="Arial"/>
                <a:cs typeface="Arial"/>
              </a:defRPr>
            </a:pPr>
            <a:r>
              <a:rPr sz="3480" b="1">
                <a:solidFill>
                  <a:srgbClr val="7544C4"/>
                </a:solidFill>
                <a:latin typeface="Arial"/>
                <a:ea typeface="Arial"/>
                <a:cs typeface="Arial"/>
              </a:rPr>
              <a:t>Separate evidence for each claim</a:t>
            </a:r>
          </a:p>
        </p:txBody>
      </p:sp>
      <p:sp>
        <p:nvSpPr>
          <p:cNvPr id="22" name="shape-155">
            <a:extLst xmlns:a="http://schemas.openxmlformats.org/drawingml/2006/main">
              <a:ext uri="{FF2B5EF4-FFF2-40B4-BE49-F238E27FC236}">
                <a16:creationId xmlns:a16="http://schemas.microsoft.com/office/drawing/2014/main" id="{14DD2642-C870-4857-B291-81CE9E68A150}"/>
              </a:ext>
            </a:extLst>
          </p:cNvPr>
          <p:cNvSpPr>
            <a:spLocks xmlns:a="http://schemas.openxmlformats.org/drawingml/2006/main" noGrp="1"/>
          </p:cNvSpPr>
          <p:nvPr/>
        </p:nvSpPr>
        <p:spPr>
          <a:xfrm xmlns:a="http://schemas.openxmlformats.org/drawingml/2006/main">
            <a:off x="13487400" y="7543800"/>
            <a:ext cx="10195560" cy="1325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Distinguishes source video, actual geometry and</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archived appearance renders. Reports aligned</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and absolute trajectory error separately.</a:t>
            </a:r>
          </a:p>
        </p:txBody>
      </p:sp>
      <p:sp>
        <p:nvSpPr>
          <p:cNvPr id="23" name="shape-156">
            <a:extLst xmlns:a="http://schemas.openxmlformats.org/drawingml/2006/main">
              <a:ext uri="{FF2B5EF4-FFF2-40B4-BE49-F238E27FC236}">
                <a16:creationId xmlns:a16="http://schemas.microsoft.com/office/drawing/2014/main" id="{9FEF6E51-78AA-4046-A027-313EA94FE0C9}"/>
              </a:ext>
            </a:extLst>
          </p:cNvPr>
          <p:cNvSpPr>
            <a:spLocks xmlns:a="http://schemas.openxmlformats.org/drawingml/2006/main" noGrp="1"/>
          </p:cNvSpPr>
          <p:nvPr/>
        </p:nvSpPr>
        <p:spPr>
          <a:xfrm xmlns:a="http://schemas.openxmlformats.org/drawingml/2006/main">
            <a:off x="13456920" y="9098280"/>
            <a:ext cx="1019556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480" b="1">
                <a:solidFill>
                  <a:srgbClr val="087E70"/>
                </a:solidFill>
                <a:latin typeface="Arial"/>
                <a:ea typeface="Arial"/>
                <a:cs typeface="Arial"/>
              </a:defRPr>
            </a:pPr>
            <a:r>
              <a:rPr sz="3480" b="1">
                <a:solidFill>
                  <a:srgbClr val="087E70"/>
                </a:solidFill>
                <a:latin typeface="Arial"/>
                <a:ea typeface="Arial"/>
                <a:cs typeface="Arial"/>
              </a:rPr>
              <a:t>Inspectable public implementation</a:t>
            </a:r>
          </a:p>
        </p:txBody>
      </p:sp>
      <p:sp>
        <p:nvSpPr>
          <p:cNvPr id="24" name="shape-157">
            <a:extLst xmlns:a="http://schemas.openxmlformats.org/drawingml/2006/main">
              <a:ext uri="{FF2B5EF4-FFF2-40B4-BE49-F238E27FC236}">
                <a16:creationId xmlns:a16="http://schemas.microsoft.com/office/drawing/2014/main" id="{602602DD-732F-49A6-B22E-CE512091FABE}"/>
              </a:ext>
            </a:extLst>
          </p:cNvPr>
          <p:cNvSpPr>
            <a:spLocks xmlns:a="http://schemas.openxmlformats.org/drawingml/2006/main" noGrp="1"/>
          </p:cNvSpPr>
          <p:nvPr/>
        </p:nvSpPr>
        <p:spPr>
          <a:xfrm xmlns:a="http://schemas.openxmlformats.org/drawingml/2006/main">
            <a:off x="13487400" y="9906000"/>
            <a:ext cx="10195560" cy="13258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Publishes source, setup instructions, evaluation,</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screenshots and an editable presentation.</a:t>
            </a:r>
          </a:p>
          <a:p xmlns:a="http://schemas.openxmlformats.org/drawingml/2006/main">
            <a:pPr algn="l">
              <a:lnSpc>
                <a:spcPct val="108000"/>
              </a:lnSpc>
              <a:buNone/>
              <a:defRPr sz="2880" b="0">
                <a:solidFill>
                  <a:srgbClr val="516178"/>
                </a:solidFill>
                <a:latin typeface="Arial"/>
                <a:ea typeface="Arial"/>
                <a:cs typeface="Arial"/>
              </a:defRPr>
            </a:pPr>
            <a:r>
              <a:rPr sz="2880" b="0">
                <a:solidFill>
                  <a:srgbClr val="516178"/>
                </a:solidFill>
                <a:latin typeface="Arial"/>
                <a:ea typeface="Arial"/>
                <a:cs typeface="Arial"/>
              </a:rPr>
              <a:t>A fixed-input benchmark remains the next test.</a:t>
            </a:r>
          </a:p>
        </p:txBody>
      </p:sp>
      <p:sp>
        <p:nvSpPr>
          <p:cNvPr id="25" name="shape-158">
            <a:extLst xmlns:a="http://schemas.openxmlformats.org/drawingml/2006/main">
              <a:ext uri="{FF2B5EF4-FFF2-40B4-BE49-F238E27FC236}">
                <a16:creationId xmlns:a16="http://schemas.microsoft.com/office/drawing/2014/main" id="{222DA1E9-5751-4A33-9535-B414ED5280DF}"/>
              </a:ext>
            </a:extLst>
          </p:cNvPr>
          <p:cNvSpPr>
            <a:spLocks xmlns:a="http://schemas.openxmlformats.org/drawingml/2006/main" noGrp="1"/>
          </p:cNvSpPr>
          <p:nvPr/>
        </p:nvSpPr>
        <p:spPr>
          <a:xfrm xmlns:a="http://schemas.openxmlformats.org/drawingml/2006/main">
            <a:off x="883920" y="12054840"/>
            <a:ext cx="22753320" cy="0"/>
          </a:xfrm>
          <a:prstGeom xmlns:a="http://schemas.openxmlformats.org/drawingml/2006/main" prst="line">
            <a:avLst/>
          </a:prstGeom>
          <a:noFill xmlns:a="http://schemas.openxmlformats.org/drawingml/2006/main"/>
          <a:ln xmlns:a="http://schemas.openxmlformats.org/drawingml/2006/main" w="15240">
            <a:solidFill>
              <a:srgbClr val="D5DDE5"/>
            </a:solidFill>
            <a:prstDash val="solid"/>
          </a:ln>
        </p:spPr>
      </p:sp>
      <p:sp>
        <p:nvSpPr>
          <p:cNvPr id="26" name="shape-159">
            <a:extLst xmlns:a="http://schemas.openxmlformats.org/drawingml/2006/main">
              <a:ext uri="{FF2B5EF4-FFF2-40B4-BE49-F238E27FC236}">
                <a16:creationId xmlns:a16="http://schemas.microsoft.com/office/drawing/2014/main" id="{A6DDF473-CB09-4637-8137-9D48739E1C6F}"/>
              </a:ext>
            </a:extLst>
          </p:cNvPr>
          <p:cNvSpPr>
            <a:spLocks xmlns:a="http://schemas.openxmlformats.org/drawingml/2006/main" noGrp="1"/>
          </p:cNvSpPr>
          <p:nvPr/>
        </p:nvSpPr>
        <p:spPr>
          <a:xfrm xmlns:a="http://schemas.openxmlformats.org/drawingml/2006/main">
            <a:off x="899160" y="12359640"/>
            <a:ext cx="2240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3120" b="1">
                <a:solidFill>
                  <a:srgbClr val="087E70"/>
                </a:solidFill>
                <a:latin typeface="Arial"/>
                <a:ea typeface="Arial"/>
                <a:cs typeface="Arial"/>
              </a:defRPr>
            </a:pPr>
            <a:r>
              <a:rPr sz="3120" b="1">
                <a:solidFill>
                  <a:srgbClr val="087E70"/>
                </a:solidFill>
                <a:latin typeface="Arial"/>
                <a:ea typeface="Arial"/>
                <a:cs typeface="Arial"/>
                <a:hlinkClick xmlns:r="http://schemas.openxmlformats.org/officeDocument/2006/relationships" r:id="R81bbb86b272e4810"/>
              </a:rPr>
              <a:t>github.com/Suman1108-beep/voxelflight</a:t>
            </a:r>
          </a:p>
        </p:txBody>
      </p:sp>
    </p:spTree>
    <p:extLst>
      <p:ext uri="{BB962C8B-B14F-4D97-AF65-F5344CB8AC3E}">
        <p14:creationId xmlns:p14="http://schemas.microsoft.com/office/powerpoint/2010/main" val="15206279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2026-09-10T15:45:38.8600000Z</dcterms:created>
  <dcterms:modified xsi:type="dcterms:W3CDTF">2026-09-10T15:45:38.8600000Z</dcterms:modified>
</coreProperties>
</file>